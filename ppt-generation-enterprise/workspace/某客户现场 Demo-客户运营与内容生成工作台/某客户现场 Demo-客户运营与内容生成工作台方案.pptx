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客户运营与内容生成工作台</a:t>
            </a:r>
          </a:p>
          <a:p>
            <a:r>
              <a:t>- 该场景采用快速模式生成，重点是让现场在 5 分钟内拿到一版可讲解的 PPT、PRD 与方案设计文档。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当前差距与优先痛点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业务机会与 Why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客户现场卡片流程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目标 AI Flow</a:t>
            </a:r>
          </a:p>
          <a:p>
            <a:r>
              <a:t>- 该场景采用快速模式生成，重点是让现场在 5 分钟内拿到一版可讲解的 PPT、PRD 与方案设计文档。</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解决方案架构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能力映射与交付物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业务价值与验证假设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原型与 MVP 设计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POC 与下一步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468880" cy="68580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502920"/>
            <a:ext cx="1920240" cy="493776"/>
          </a:xfrm>
          <a:prstGeom prst="round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2103120" cy="274320"/>
          </a:xfrm>
          <a:prstGeom prst="rect">
            <a:avLst/>
          </a:prstGeom>
          <a:noFill/>
        </p:spPr>
        <p:txBody>
          <a:bodyPr wrap="square" anchor="t">
            <a:spAutoFit/>
          </a:bodyPr>
          <a:lstStyle/>
          <a:p>
            <a:pPr algn="l">
              <a:spcAft>
                <a:spcPts val="0"/>
              </a:spcAft>
            </a:pPr>
            <a:r>
              <a:rPr sz="1100" b="1">
                <a:solidFill>
                  <a:srgbClr val="FFFFFF"/>
                </a:solidFill>
                <a:latin typeface="Arial"/>
              </a:rPr>
              <a:t>AI DISCOVERY WORKSHOP</a:t>
            </a:r>
          </a:p>
        </p:txBody>
      </p:sp>
      <p:sp>
        <p:nvSpPr>
          <p:cNvPr id="5" name="TextBox 4"/>
          <p:cNvSpPr txBox="1"/>
          <p:nvPr/>
        </p:nvSpPr>
        <p:spPr>
          <a:xfrm>
            <a:off x="457200" y="6080760"/>
            <a:ext cx="2011680" cy="320040"/>
          </a:xfrm>
          <a:prstGeom prst="rect">
            <a:avLst/>
          </a:prstGeom>
          <a:noFill/>
        </p:spPr>
        <p:txBody>
          <a:bodyPr wrap="square" anchor="t">
            <a:spAutoFit/>
          </a:bodyPr>
          <a:lstStyle/>
          <a:p>
            <a:pPr algn="l">
              <a:spcAft>
                <a:spcPts val="0"/>
              </a:spcAft>
            </a:pPr>
            <a:r>
              <a:rPr sz="1000" b="0">
                <a:solidFill>
                  <a:srgbClr val="FFFFFF"/>
                </a:solidFill>
                <a:latin typeface="Microsoft YaHei"/>
              </a:rPr>
              <a:t>某客户现场 Demo</a:t>
            </a:r>
          </a:p>
        </p:txBody>
      </p:sp>
      <p:sp>
        <p:nvSpPr>
          <p:cNvPr id="6" name="Rounded Rectangle 5"/>
          <p:cNvSpPr/>
          <p:nvPr/>
        </p:nvSpPr>
        <p:spPr>
          <a:xfrm>
            <a:off x="2743200" y="804672"/>
            <a:ext cx="7863840" cy="47548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94192" y="896112"/>
            <a:ext cx="1847088" cy="384048"/>
          </a:xfrm>
          <a:prstGeom prst="roundRect">
            <a:avLst>
              <a:gd name="adj" fmla="val 6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40496" y="987552"/>
            <a:ext cx="1554480" cy="146304"/>
          </a:xfrm>
          <a:prstGeom prst="rect">
            <a:avLst/>
          </a:prstGeom>
          <a:noFill/>
        </p:spPr>
        <p:txBody>
          <a:bodyPr wrap="square" anchor="ctr">
            <a:spAutoFit/>
          </a:bodyPr>
          <a:lstStyle/>
          <a:p>
            <a:pPr algn="ctr">
              <a:spcAft>
                <a:spcPts val="0"/>
              </a:spcAft>
            </a:pPr>
            <a:r>
              <a:rPr sz="860" b="1">
                <a:solidFill>
                  <a:srgbClr val="C62828"/>
                </a:solidFill>
                <a:latin typeface="Arial"/>
              </a:rPr>
              <a:t>AI Discovery Workshop</a:t>
            </a:r>
          </a:p>
        </p:txBody>
      </p:sp>
      <p:sp>
        <p:nvSpPr>
          <p:cNvPr id="9" name="TextBox 8"/>
          <p:cNvSpPr txBox="1"/>
          <p:nvPr/>
        </p:nvSpPr>
        <p:spPr>
          <a:xfrm>
            <a:off x="3090672" y="1024128"/>
            <a:ext cx="6858000" cy="256032"/>
          </a:xfrm>
          <a:prstGeom prst="rect">
            <a:avLst/>
          </a:prstGeom>
          <a:noFill/>
        </p:spPr>
        <p:txBody>
          <a:bodyPr wrap="square" anchor="ctr">
            <a:spAutoFit/>
          </a:bodyPr>
          <a:lstStyle/>
          <a:p>
            <a:pPr algn="l">
              <a:spcAft>
                <a:spcPts val="0"/>
              </a:spcAft>
            </a:pPr>
            <a:r>
              <a:rPr sz="1050" b="0">
                <a:solidFill>
                  <a:srgbClr val="999999"/>
                </a:solidFill>
                <a:latin typeface="Microsoft YaHei"/>
              </a:rPr>
              <a:t>客户：某客户现场 Demo | 行业：消费电子 IoT · 第 1 组 · 日期 2026-05-11</a:t>
            </a:r>
          </a:p>
        </p:txBody>
      </p:sp>
      <p:sp>
        <p:nvSpPr>
          <p:cNvPr id="10" name="TextBox 9"/>
          <p:cNvSpPr txBox="1"/>
          <p:nvPr/>
        </p:nvSpPr>
        <p:spPr>
          <a:xfrm>
            <a:off x="3090672" y="1389888"/>
            <a:ext cx="6812280" cy="1207008"/>
          </a:xfrm>
          <a:prstGeom prst="rect">
            <a:avLst/>
          </a:prstGeom>
          <a:noFill/>
        </p:spPr>
        <p:txBody>
          <a:bodyPr wrap="square" anchor="t">
            <a:spAutoFit/>
          </a:bodyPr>
          <a:lstStyle/>
          <a:p>
            <a:pPr algn="l">
              <a:spcAft>
                <a:spcPts val="0"/>
              </a:spcAft>
            </a:pPr>
            <a:r>
              <a:rPr sz="3000" b="1">
                <a:solidFill>
                  <a:srgbClr val="C62828"/>
                </a:solidFill>
                <a:latin typeface="Microsoft YaHei"/>
              </a:rPr>
              <a:t>客户运营与内容生成工作台</a:t>
            </a:r>
          </a:p>
        </p:txBody>
      </p:sp>
      <p:sp>
        <p:nvSpPr>
          <p:cNvPr id="11" name="TextBox 10"/>
          <p:cNvSpPr txBox="1"/>
          <p:nvPr/>
        </p:nvSpPr>
        <p:spPr>
          <a:xfrm>
            <a:off x="3108960" y="2523744"/>
            <a:ext cx="5852160" cy="310896"/>
          </a:xfrm>
          <a:prstGeom prst="rect">
            <a:avLst/>
          </a:prstGeom>
          <a:noFill/>
        </p:spPr>
        <p:txBody>
          <a:bodyPr wrap="square" anchor="ctr">
            <a:spAutoFit/>
          </a:bodyPr>
          <a:lstStyle/>
          <a:p>
            <a:pPr algn="l">
              <a:spcAft>
                <a:spcPts val="600"/>
              </a:spcAft>
            </a:pPr>
            <a:r>
              <a:rPr sz="1150" b="0">
                <a:solidFill>
                  <a:srgbClr val="999999"/>
                </a:solidFill>
                <a:latin typeface="Microsoft YaHei"/>
              </a:rPr>
              <a:t>AI Discovery Workshop 商机与原型方案</a:t>
            </a:r>
          </a:p>
        </p:txBody>
      </p:sp>
      <p:sp>
        <p:nvSpPr>
          <p:cNvPr id="12" name="Rounded Rectangle 11"/>
          <p:cNvSpPr/>
          <p:nvPr/>
        </p:nvSpPr>
        <p:spPr>
          <a:xfrm>
            <a:off x="3090672" y="2926080"/>
            <a:ext cx="6894576" cy="896112"/>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0128" y="3163824"/>
            <a:ext cx="6446520" cy="329184"/>
          </a:xfrm>
          <a:prstGeom prst="rect">
            <a:avLst/>
          </a:prstGeom>
          <a:noFill/>
        </p:spPr>
        <p:txBody>
          <a:bodyPr wrap="square" anchor="ctr">
            <a:spAutoFit/>
          </a:bodyPr>
          <a:lstStyle/>
          <a:p>
            <a:pPr algn="l">
              <a:spcAft>
                <a:spcPts val="0"/>
              </a:spcAft>
            </a:pPr>
            <a:r>
              <a:rPr sz="1400" b="0">
                <a:solidFill>
                  <a:srgbClr val="555555"/>
                </a:solidFill>
                <a:latin typeface="Microsoft YaHei"/>
              </a:rPr>
              <a:t>让业务与数字化负责人先在客户运营与内容生成工作台里看到 AI 对问题识别、建议生成和协同闭环的价值。</a:t>
            </a:r>
          </a:p>
        </p:txBody>
      </p:sp>
      <p:sp>
        <p:nvSpPr>
          <p:cNvPr id="14" name="Rounded Rectangle 13"/>
          <p:cNvSpPr/>
          <p:nvPr/>
        </p:nvSpPr>
        <p:spPr>
          <a:xfrm>
            <a:off x="3090672" y="4133087"/>
            <a:ext cx="3840480" cy="658368"/>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55264" y="4215383"/>
            <a:ext cx="3511296" cy="128016"/>
          </a:xfrm>
          <a:prstGeom prst="rect">
            <a:avLst/>
          </a:prstGeom>
          <a:noFill/>
        </p:spPr>
        <p:txBody>
          <a:bodyPr wrap="square" anchor="ctr">
            <a:spAutoFit/>
          </a:bodyPr>
          <a:lstStyle/>
          <a:p>
            <a:pPr algn="l">
              <a:spcAft>
                <a:spcPts val="0"/>
              </a:spcAft>
            </a:pPr>
            <a:r>
              <a:rPr sz="850" b="0">
                <a:solidFill>
                  <a:srgbClr val="999999"/>
                </a:solidFill>
                <a:latin typeface="Arial"/>
              </a:rPr>
              <a:t>客户与行业</a:t>
            </a:r>
          </a:p>
        </p:txBody>
      </p:sp>
      <p:sp>
        <p:nvSpPr>
          <p:cNvPr id="16" name="TextBox 15"/>
          <p:cNvSpPr txBox="1"/>
          <p:nvPr/>
        </p:nvSpPr>
        <p:spPr>
          <a:xfrm>
            <a:off x="3255264" y="4379975"/>
            <a:ext cx="3511296" cy="237744"/>
          </a:xfrm>
          <a:prstGeom prst="rect">
            <a:avLst/>
          </a:prstGeom>
          <a:noFill/>
        </p:spPr>
        <p:txBody>
          <a:bodyPr wrap="square" anchor="ctr">
            <a:spAutoFit/>
          </a:bodyPr>
          <a:lstStyle/>
          <a:p>
            <a:pPr algn="l">
              <a:spcAft>
                <a:spcPts val="0"/>
              </a:spcAft>
            </a:pPr>
            <a:r>
              <a:rPr sz="1000" b="0">
                <a:solidFill>
                  <a:srgbClr val="555555"/>
                </a:solidFill>
                <a:latin typeface="Microsoft YaHei"/>
              </a:rPr>
              <a:t>客户：某客户现场 Demo | 行业：消费电子 IoT</a:t>
            </a:r>
          </a:p>
        </p:txBody>
      </p:sp>
      <p:sp>
        <p:nvSpPr>
          <p:cNvPr id="17" name="Rounded Rectangle 16"/>
          <p:cNvSpPr/>
          <p:nvPr/>
        </p:nvSpPr>
        <p:spPr>
          <a:xfrm>
            <a:off x="7114032" y="4133087"/>
            <a:ext cx="2633472" cy="658368"/>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78624" y="4215383"/>
            <a:ext cx="2304288" cy="128016"/>
          </a:xfrm>
          <a:prstGeom prst="rect">
            <a:avLst/>
          </a:prstGeom>
          <a:noFill/>
        </p:spPr>
        <p:txBody>
          <a:bodyPr wrap="square" anchor="ctr">
            <a:spAutoFit/>
          </a:bodyPr>
          <a:lstStyle/>
          <a:p>
            <a:pPr algn="l">
              <a:spcAft>
                <a:spcPts val="0"/>
              </a:spcAft>
            </a:pPr>
            <a:r>
              <a:rPr sz="850" b="0">
                <a:solidFill>
                  <a:srgbClr val="999999"/>
                </a:solidFill>
                <a:latin typeface="Arial"/>
              </a:rPr>
              <a:t>小组与日期</a:t>
            </a:r>
          </a:p>
        </p:txBody>
      </p:sp>
      <p:sp>
        <p:nvSpPr>
          <p:cNvPr id="19" name="TextBox 18"/>
          <p:cNvSpPr txBox="1"/>
          <p:nvPr/>
        </p:nvSpPr>
        <p:spPr>
          <a:xfrm>
            <a:off x="7278624" y="4379975"/>
            <a:ext cx="2304288" cy="237744"/>
          </a:xfrm>
          <a:prstGeom prst="rect">
            <a:avLst/>
          </a:prstGeom>
          <a:noFill/>
        </p:spPr>
        <p:txBody>
          <a:bodyPr wrap="square" anchor="ctr">
            <a:spAutoFit/>
          </a:bodyPr>
          <a:lstStyle/>
          <a:p>
            <a:pPr algn="l">
              <a:spcAft>
                <a:spcPts val="0"/>
              </a:spcAft>
            </a:pPr>
            <a:r>
              <a:rPr sz="1000" b="0">
                <a:solidFill>
                  <a:srgbClr val="555555"/>
                </a:solidFill>
                <a:latin typeface="Microsoft YaHei"/>
              </a:rPr>
              <a:t>小组：第 1 组 · 日期：2026-05-11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当前差距与优先痛点</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5074920" cy="438912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65960"/>
            <a:ext cx="4434840" cy="274320"/>
          </a:xfrm>
          <a:prstGeom prst="rect">
            <a:avLst/>
          </a:prstGeom>
          <a:noFill/>
        </p:spPr>
        <p:txBody>
          <a:bodyPr wrap="square" anchor="t">
            <a:spAutoFit/>
          </a:bodyPr>
          <a:lstStyle/>
          <a:p>
            <a:pPr algn="l">
              <a:spcAft>
                <a:spcPts val="0"/>
              </a:spcAft>
            </a:pPr>
            <a:r>
              <a:rPr sz="1650" b="1">
                <a:solidFill>
                  <a:srgbClr val="C62828"/>
                </a:solidFill>
                <a:latin typeface="Microsoft YaHei"/>
              </a:rPr>
              <a:t>现状流程</a:t>
            </a:r>
          </a:p>
        </p:txBody>
      </p:sp>
      <p:sp>
        <p:nvSpPr>
          <p:cNvPr id="7" name="TextBox 6"/>
          <p:cNvSpPr txBox="1"/>
          <p:nvPr/>
        </p:nvSpPr>
        <p:spPr>
          <a:xfrm>
            <a:off x="1097280" y="2468880"/>
            <a:ext cx="4526280" cy="3154680"/>
          </a:xfrm>
          <a:prstGeom prst="rect">
            <a:avLst/>
          </a:prstGeom>
          <a:noFill/>
        </p:spPr>
        <p:txBody>
          <a:bodyPr wrap="square" anchor="t">
            <a:spAutoFit/>
          </a:bodyPr>
          <a:lstStyle/>
          <a:p>
            <a:pPr algn="l">
              <a:spcAft>
                <a:spcPts val="800"/>
              </a:spcAft>
            </a:pPr>
            <a:r>
              <a:rPr sz="1450" b="0">
                <a:solidFill>
                  <a:srgbClr val="555555"/>
                </a:solidFill>
                <a:latin typeface="Microsoft YaHei"/>
              </a:rPr>
              <a:t>1. 了解客户</a:t>
            </a:r>
          </a:p>
          <a:p>
            <a:pPr algn="l">
              <a:spcAft>
                <a:spcPts val="800"/>
              </a:spcAft>
            </a:pPr>
            <a:r>
              <a:rPr sz="1450" b="0">
                <a:solidFill>
                  <a:srgbClr val="555555"/>
                </a:solidFill>
                <a:latin typeface="Microsoft YaHei"/>
              </a:rPr>
              <a:t>2. 个性化营销</a:t>
            </a:r>
          </a:p>
          <a:p>
            <a:pPr algn="l">
              <a:spcAft>
                <a:spcPts val="800"/>
              </a:spcAft>
            </a:pPr>
            <a:r>
              <a:rPr sz="1450" b="0">
                <a:solidFill>
                  <a:srgbClr val="555555"/>
                </a:solidFill>
                <a:latin typeface="Microsoft YaHei"/>
              </a:rPr>
              <a:t>3. 生成或增强文本</a:t>
            </a:r>
          </a:p>
          <a:p>
            <a:pPr algn="l">
              <a:spcAft>
                <a:spcPts val="800"/>
              </a:spcAft>
            </a:pPr>
            <a:r>
              <a:rPr sz="1450" b="0">
                <a:solidFill>
                  <a:srgbClr val="555555"/>
                </a:solidFill>
                <a:latin typeface="Microsoft YaHei"/>
              </a:rPr>
              <a:t>4. 从文本生成图像</a:t>
            </a:r>
          </a:p>
        </p:txBody>
      </p:sp>
      <p:sp>
        <p:nvSpPr>
          <p:cNvPr id="8" name="Rounded Rectangle 7"/>
          <p:cNvSpPr/>
          <p:nvPr/>
        </p:nvSpPr>
        <p:spPr>
          <a:xfrm>
            <a:off x="6172200" y="1737360"/>
            <a:ext cx="5120640" cy="301752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48056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关键痛点</a:t>
            </a:r>
          </a:p>
        </p:txBody>
      </p:sp>
      <p:sp>
        <p:nvSpPr>
          <p:cNvPr id="10" name="TextBox 9"/>
          <p:cNvSpPr txBox="1"/>
          <p:nvPr/>
        </p:nvSpPr>
        <p:spPr>
          <a:xfrm>
            <a:off x="6400800" y="2450592"/>
            <a:ext cx="4572000" cy="1783080"/>
          </a:xfrm>
          <a:prstGeom prst="rect">
            <a:avLst/>
          </a:prstGeom>
          <a:noFill/>
        </p:spPr>
        <p:txBody>
          <a:bodyPr wrap="square" anchor="t">
            <a:spAutoFit/>
          </a:bodyPr>
          <a:lstStyle/>
          <a:p>
            <a:pPr algn="l">
              <a:spcAft>
                <a:spcPts val="800"/>
              </a:spcAft>
            </a:pPr>
            <a:r>
              <a:rPr sz="1450" b="0">
                <a:solidFill>
                  <a:srgbClr val="555555"/>
                </a:solidFill>
                <a:latin typeface="Microsoft YaHei"/>
              </a:rPr>
              <a:t>1. 客户洞察、营销动作和内容生成链路分散，缺少统一流程表达。</a:t>
            </a:r>
          </a:p>
          <a:p>
            <a:pPr algn="l">
              <a:spcAft>
                <a:spcPts val="800"/>
              </a:spcAft>
            </a:pPr>
            <a:r>
              <a:rPr sz="1450" b="0">
                <a:solidFill>
                  <a:srgbClr val="555555"/>
                </a:solidFill>
                <a:latin typeface="Microsoft YaHei"/>
              </a:rPr>
              <a:t>2. 围绕客户运营与内容生成工作台缺少统一判断、建议和协同闭环</a:t>
            </a:r>
          </a:p>
          <a:p>
            <a:pPr algn="l">
              <a:spcAft>
                <a:spcPts val="800"/>
              </a:spcAft>
            </a:pPr>
            <a:r>
              <a:rPr sz="1450" b="0">
                <a:solidFill>
                  <a:srgbClr val="555555"/>
                </a:solidFill>
                <a:latin typeface="Microsoft YaHei"/>
              </a:rPr>
              <a:t>3. 当前决策与执行信息仍分散在多个环节</a:t>
            </a:r>
          </a:p>
        </p:txBody>
      </p:sp>
      <p:sp>
        <p:nvSpPr>
          <p:cNvPr id="11" name="Rounded Rectangle 10"/>
          <p:cNvSpPr/>
          <p:nvPr/>
        </p:nvSpPr>
        <p:spPr>
          <a:xfrm>
            <a:off x="6172200" y="4983480"/>
            <a:ext cx="5120640" cy="114300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5266944"/>
            <a:ext cx="44805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优先切口：客户洞察、营销动作和内容生成链路分散，缺少统一流程表达。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业务机会与 Why Now</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2344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4767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机会判断</a:t>
            </a:r>
          </a:p>
        </p:txBody>
      </p:sp>
      <p:sp>
        <p:nvSpPr>
          <p:cNvPr id="7" name="TextBox 6"/>
          <p:cNvSpPr txBox="1"/>
          <p:nvPr/>
        </p:nvSpPr>
        <p:spPr>
          <a:xfrm>
            <a:off x="1024128" y="225856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对消费电子 IoT客户来说，客户运营与内容生成工作台是一个适合现场快速验证的 AI 切入点。</a:t>
            </a:r>
          </a:p>
        </p:txBody>
      </p:sp>
      <p:sp>
        <p:nvSpPr>
          <p:cNvPr id="8" name="Rounded Rectangle 7"/>
          <p:cNvSpPr/>
          <p:nvPr/>
        </p:nvSpPr>
        <p:spPr>
          <a:xfrm>
            <a:off x="822960" y="3246120"/>
            <a:ext cx="7909560" cy="12344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41071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为什么是现在</a:t>
            </a:r>
          </a:p>
        </p:txBody>
      </p:sp>
      <p:sp>
        <p:nvSpPr>
          <p:cNvPr id="10" name="TextBox 9"/>
          <p:cNvSpPr txBox="1"/>
          <p:nvPr/>
        </p:nvSpPr>
        <p:spPr>
          <a:xfrm>
            <a:off x="1024128" y="372160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当前最急的问题集中在“客户洞察、营销动作和内容生成链路分散，缺少统一流程表达。”，而客户更容易先接受以客户运营与内容生成工作台为载体的可视化方案。</a:t>
            </a:r>
          </a:p>
        </p:txBody>
      </p:sp>
      <p:sp>
        <p:nvSpPr>
          <p:cNvPr id="11" name="Rounded Rectangle 10"/>
          <p:cNvSpPr/>
          <p:nvPr/>
        </p:nvSpPr>
        <p:spPr>
          <a:xfrm>
            <a:off x="822960" y="4709160"/>
            <a:ext cx="7909560" cy="12344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87375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价值支撑</a:t>
            </a:r>
          </a:p>
        </p:txBody>
      </p:sp>
      <p:sp>
        <p:nvSpPr>
          <p:cNvPr id="13" name="TextBox 12"/>
          <p:cNvSpPr txBox="1"/>
          <p:nvPr/>
        </p:nvSpPr>
        <p:spPr>
          <a:xfrm>
            <a:off x="1024128" y="518464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客户洞察、营销动作和内容生成链路分散，缺少统一流程表达。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客户现场卡片流程</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55648"/>
            <a:ext cx="10469880" cy="45262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93392"/>
            <a:ext cx="1051560" cy="658368"/>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93976"/>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业务场景 / 输入感知</a:t>
            </a:r>
          </a:p>
        </p:txBody>
      </p:sp>
      <p:sp>
        <p:nvSpPr>
          <p:cNvPr id="8" name="Rounded Rectangle 7"/>
          <p:cNvSpPr/>
          <p:nvPr/>
        </p:nvSpPr>
        <p:spPr>
          <a:xfrm>
            <a:off x="2103120"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31136"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了解客户</a:t>
            </a:r>
          </a:p>
        </p:txBody>
      </p:sp>
      <p:sp>
        <p:nvSpPr>
          <p:cNvPr id="10" name="Right Arrow 9"/>
          <p:cNvSpPr/>
          <p:nvPr/>
        </p:nvSpPr>
        <p:spPr>
          <a:xfrm>
            <a:off x="3703320" y="2176272"/>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77056"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5072"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个性化营销</a:t>
            </a:r>
          </a:p>
        </p:txBody>
      </p:sp>
      <p:sp>
        <p:nvSpPr>
          <p:cNvPr id="13" name="Right Arrow 12"/>
          <p:cNvSpPr/>
          <p:nvPr/>
        </p:nvSpPr>
        <p:spPr>
          <a:xfrm>
            <a:off x="5477256" y="2176272"/>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50992"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79007"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预测客户流失</a:t>
            </a:r>
          </a:p>
        </p:txBody>
      </p:sp>
      <p:sp>
        <p:nvSpPr>
          <p:cNvPr id="16" name="Rounded Rectangle 15"/>
          <p:cNvSpPr/>
          <p:nvPr/>
        </p:nvSpPr>
        <p:spPr>
          <a:xfrm>
            <a:off x="868680" y="3310128"/>
            <a:ext cx="1051560" cy="658368"/>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410712"/>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理解分析</a:t>
            </a:r>
          </a:p>
        </p:txBody>
      </p:sp>
      <p:sp>
        <p:nvSpPr>
          <p:cNvPr id="18" name="Rounded Rectangle 17"/>
          <p:cNvSpPr/>
          <p:nvPr/>
        </p:nvSpPr>
        <p:spPr>
          <a:xfrm>
            <a:off x="2103120" y="3310128"/>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3419856"/>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简化数据分析</a:t>
            </a:r>
          </a:p>
        </p:txBody>
      </p:sp>
      <p:sp>
        <p:nvSpPr>
          <p:cNvPr id="20" name="Rounded Rectangle 19"/>
          <p:cNvSpPr/>
          <p:nvPr/>
        </p:nvSpPr>
        <p:spPr>
          <a:xfrm>
            <a:off x="868680" y="4626864"/>
            <a:ext cx="1051560" cy="658368"/>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727448"/>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生成交互 / 执行闭环</a:t>
            </a:r>
          </a:p>
        </p:txBody>
      </p:sp>
      <p:sp>
        <p:nvSpPr>
          <p:cNvPr id="22" name="Rounded Rectangle 21"/>
          <p:cNvSpPr/>
          <p:nvPr/>
        </p:nvSpPr>
        <p:spPr>
          <a:xfrm>
            <a:off x="2103120"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31136"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生成或增强文本</a:t>
            </a:r>
          </a:p>
        </p:txBody>
      </p:sp>
      <p:sp>
        <p:nvSpPr>
          <p:cNvPr id="24" name="Right Arrow 23"/>
          <p:cNvSpPr/>
          <p:nvPr/>
        </p:nvSpPr>
        <p:spPr>
          <a:xfrm>
            <a:off x="3703320" y="4809744"/>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77056"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5072"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从文本生成图像</a:t>
            </a:r>
          </a:p>
        </p:txBody>
      </p:sp>
      <p:sp>
        <p:nvSpPr>
          <p:cNvPr id="27" name="Right Arrow 26"/>
          <p:cNvSpPr/>
          <p:nvPr/>
        </p:nvSpPr>
        <p:spPr>
          <a:xfrm>
            <a:off x="5477256" y="4809744"/>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50992"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79007"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创建动态网页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目标业务闭环</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业务触发</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50" b="1">
                <a:solidFill>
                  <a:srgbClr val="FFFFFF"/>
                </a:solidFill>
                <a:latin typeface="Microsoft YaHei"/>
              </a:rPr>
              <a:t>了解客户</a:t>
            </a:r>
          </a:p>
        </p:txBody>
      </p:sp>
      <p:sp>
        <p:nvSpPr>
          <p:cNvPr id="8" name="Rounded Rectangle 7"/>
          <p:cNvSpPr/>
          <p:nvPr/>
        </p:nvSpPr>
        <p:spPr>
          <a:xfrm>
            <a:off x="822960" y="2788920"/>
            <a:ext cx="10469880" cy="26974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1828800" cy="274320"/>
          </a:xfrm>
          <a:prstGeom prst="rect">
            <a:avLst/>
          </a:prstGeom>
          <a:noFill/>
        </p:spPr>
        <p:txBody>
          <a:bodyPr wrap="square" anchor="t">
            <a:spAutoFit/>
          </a:bodyPr>
          <a:lstStyle/>
          <a:p>
            <a:pPr algn="l">
              <a:spcAft>
                <a:spcPts val="0"/>
              </a:spcAft>
            </a:pPr>
            <a:r>
              <a:rPr sz="1650" b="1">
                <a:solidFill>
                  <a:srgbClr val="C62828"/>
                </a:solidFill>
                <a:latin typeface="Microsoft YaHei"/>
              </a:rPr>
              <a:t>核心流程</a:t>
            </a:r>
          </a:p>
        </p:txBody>
      </p:sp>
      <p:sp>
        <p:nvSpPr>
          <p:cNvPr id="10" name="Rounded Rectangle 9"/>
          <p:cNvSpPr/>
          <p:nvPr/>
        </p:nvSpPr>
        <p:spPr>
          <a:xfrm>
            <a:off x="1051560" y="3401568"/>
            <a:ext cx="1739188" cy="15361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79576"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01</a:t>
            </a:r>
          </a:p>
        </p:txBody>
      </p:sp>
      <p:sp>
        <p:nvSpPr>
          <p:cNvPr id="13" name="TextBox 12"/>
          <p:cNvSpPr txBox="1"/>
          <p:nvPr/>
        </p:nvSpPr>
        <p:spPr>
          <a:xfrm>
            <a:off x="1197863"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1. 个性化营销</a:t>
            </a:r>
          </a:p>
        </p:txBody>
      </p:sp>
      <p:sp>
        <p:nvSpPr>
          <p:cNvPr id="14" name="Right Arrow 13"/>
          <p:cNvSpPr/>
          <p:nvPr/>
        </p:nvSpPr>
        <p:spPr>
          <a:xfrm>
            <a:off x="2900476"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119932" y="3401568"/>
            <a:ext cx="1739188" cy="1536192"/>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247948"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1956"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02</a:t>
            </a:r>
          </a:p>
        </p:txBody>
      </p:sp>
      <p:sp>
        <p:nvSpPr>
          <p:cNvPr id="18" name="TextBox 17"/>
          <p:cNvSpPr txBox="1"/>
          <p:nvPr/>
        </p:nvSpPr>
        <p:spPr>
          <a:xfrm>
            <a:off x="3266236"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2. 生成或增强文本</a:t>
            </a:r>
          </a:p>
        </p:txBody>
      </p:sp>
      <p:sp>
        <p:nvSpPr>
          <p:cNvPr id="19" name="Right Arrow 18"/>
          <p:cNvSpPr/>
          <p:nvPr/>
        </p:nvSpPr>
        <p:spPr>
          <a:xfrm>
            <a:off x="4968849"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88305" y="3401568"/>
            <a:ext cx="1739188" cy="15361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16321"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80329"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03</a:t>
            </a:r>
          </a:p>
        </p:txBody>
      </p:sp>
      <p:sp>
        <p:nvSpPr>
          <p:cNvPr id="23" name="TextBox 22"/>
          <p:cNvSpPr txBox="1"/>
          <p:nvPr/>
        </p:nvSpPr>
        <p:spPr>
          <a:xfrm>
            <a:off x="5334609"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3. 从文本生成图像</a:t>
            </a:r>
          </a:p>
        </p:txBody>
      </p:sp>
      <p:sp>
        <p:nvSpPr>
          <p:cNvPr id="24" name="Right Arrow 23"/>
          <p:cNvSpPr/>
          <p:nvPr/>
        </p:nvSpPr>
        <p:spPr>
          <a:xfrm>
            <a:off x="7037222"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56678" y="3401568"/>
            <a:ext cx="1739188" cy="1536192"/>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84694"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8702"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04</a:t>
            </a:r>
          </a:p>
        </p:txBody>
      </p:sp>
      <p:sp>
        <p:nvSpPr>
          <p:cNvPr id="28" name="TextBox 27"/>
          <p:cNvSpPr txBox="1"/>
          <p:nvPr/>
        </p:nvSpPr>
        <p:spPr>
          <a:xfrm>
            <a:off x="7402982"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4. 创建动态网页</a:t>
            </a:r>
          </a:p>
        </p:txBody>
      </p:sp>
      <p:sp>
        <p:nvSpPr>
          <p:cNvPr id="29" name="Right Arrow 28"/>
          <p:cNvSpPr/>
          <p:nvPr/>
        </p:nvSpPr>
        <p:spPr>
          <a:xfrm>
            <a:off x="9105595" y="3886200"/>
            <a:ext cx="219456" cy="201168"/>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325051" y="3401568"/>
            <a:ext cx="1739188" cy="15361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453067" y="3511296"/>
            <a:ext cx="493776" cy="310896"/>
          </a:xfrm>
          <a:prstGeom prst="roundRect">
            <a:avLst>
              <a:gd name="adj" fmla="val 5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17075"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05</a:t>
            </a:r>
          </a:p>
        </p:txBody>
      </p:sp>
      <p:sp>
        <p:nvSpPr>
          <p:cNvPr id="33" name="TextBox 32"/>
          <p:cNvSpPr txBox="1"/>
          <p:nvPr/>
        </p:nvSpPr>
        <p:spPr>
          <a:xfrm>
            <a:off x="9471355" y="3931920"/>
            <a:ext cx="1483156" cy="841248"/>
          </a:xfrm>
          <a:prstGeom prst="rect">
            <a:avLst/>
          </a:prstGeom>
          <a:noFill/>
        </p:spPr>
        <p:txBody>
          <a:bodyPr wrap="square" anchor="t">
            <a:spAutoFit/>
          </a:bodyPr>
          <a:lstStyle/>
          <a:p>
            <a:pPr algn="l">
              <a:spcAft>
                <a:spcPts val="0"/>
              </a:spcAft>
            </a:pPr>
            <a:r>
              <a:rPr sz="1019" b="0">
                <a:solidFill>
                  <a:srgbClr val="555555"/>
                </a:solidFill>
                <a:latin typeface="Microsoft YaHei"/>
              </a:rPr>
              <a:t>5. 简化数据分析</a:t>
            </a:r>
          </a:p>
        </p:txBody>
      </p:sp>
      <p:sp>
        <p:nvSpPr>
          <p:cNvPr id="34" name="Rounded Rectangle 33"/>
          <p:cNvSpPr/>
          <p:nvPr/>
        </p:nvSpPr>
        <p:spPr>
          <a:xfrm>
            <a:off x="822960" y="5596128"/>
            <a:ext cx="10469880" cy="658368"/>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742432"/>
            <a:ext cx="1463040" cy="274320"/>
          </a:xfrm>
          <a:prstGeom prst="rect">
            <a:avLst/>
          </a:prstGeom>
          <a:noFill/>
        </p:spPr>
        <p:txBody>
          <a:bodyPr wrap="square" anchor="t">
            <a:spAutoFit/>
          </a:bodyPr>
          <a:lstStyle/>
          <a:p>
            <a:pPr algn="l">
              <a:spcAft>
                <a:spcPts val="0"/>
              </a:spcAft>
            </a:pPr>
            <a:r>
              <a:rPr sz="1650" b="1">
                <a:solidFill>
                  <a:srgbClr val="FFFFFF"/>
                </a:solidFill>
                <a:latin typeface="Microsoft YaHei"/>
              </a:rPr>
              <a:t>闭环结果</a:t>
            </a:r>
          </a:p>
        </p:txBody>
      </p:sp>
      <p:sp>
        <p:nvSpPr>
          <p:cNvPr id="36" name="TextBox 35"/>
          <p:cNvSpPr txBox="1"/>
          <p:nvPr/>
        </p:nvSpPr>
        <p:spPr>
          <a:xfrm>
            <a:off x="2240280" y="5715000"/>
            <a:ext cx="8183879" cy="201168"/>
          </a:xfrm>
          <a:prstGeom prst="rect">
            <a:avLst/>
          </a:prstGeom>
          <a:noFill/>
        </p:spPr>
        <p:txBody>
          <a:bodyPr wrap="square" anchor="ctr">
            <a:spAutoFit/>
          </a:bodyPr>
          <a:lstStyle/>
          <a:p>
            <a:pPr algn="l">
              <a:spcAft>
                <a:spcPts val="0"/>
              </a:spcAft>
            </a:pPr>
            <a:r>
              <a:rPr sz="1360" b="1">
                <a:solidFill>
                  <a:srgbClr val="FFFFFF"/>
                </a:solidFill>
                <a:latin typeface="Microsoft YaHei"/>
              </a:rPr>
              <a:t>预测客户流失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解决方案架构</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7406640" cy="470916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38528"/>
            <a:ext cx="6583680" cy="274320"/>
          </a:xfrm>
          <a:prstGeom prst="rect">
            <a:avLst/>
          </a:prstGeom>
          <a:noFill/>
        </p:spPr>
        <p:txBody>
          <a:bodyPr wrap="square" anchor="t">
            <a:spAutoFit/>
          </a:bodyPr>
          <a:lstStyle/>
          <a:p>
            <a:pPr algn="l">
              <a:spcAft>
                <a:spcPts val="0"/>
              </a:spcAft>
            </a:pPr>
            <a:r>
              <a:rPr sz="1650" b="1">
                <a:solidFill>
                  <a:srgbClr val="C62828"/>
                </a:solidFill>
                <a:latin typeface="Microsoft YaHei"/>
              </a:rPr>
              <a:t>客户运营与内容生成工作台</a:t>
            </a:r>
          </a:p>
        </p:txBody>
      </p:sp>
      <p:sp>
        <p:nvSpPr>
          <p:cNvPr id="7" name="Rounded Rectangle 6"/>
          <p:cNvSpPr/>
          <p:nvPr/>
        </p:nvSpPr>
        <p:spPr>
          <a:xfrm>
            <a:off x="1115568" y="2304288"/>
            <a:ext cx="1481328" cy="512064"/>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2404872"/>
            <a:ext cx="1225296" cy="237744"/>
          </a:xfrm>
          <a:prstGeom prst="rect">
            <a:avLst/>
          </a:prstGeom>
          <a:noFill/>
        </p:spPr>
        <p:txBody>
          <a:bodyPr wrap="square" anchor="ctr">
            <a:spAutoFit/>
          </a:bodyPr>
          <a:lstStyle/>
          <a:p>
            <a:pPr algn="ctr">
              <a:spcAft>
                <a:spcPts val="0"/>
              </a:spcAft>
            </a:pPr>
            <a:r>
              <a:rPr sz="1140" b="1">
                <a:solidFill>
                  <a:srgbClr val="FFFFFF"/>
                </a:solidFill>
                <a:latin typeface="Microsoft YaHei"/>
              </a:rPr>
              <a:t>1. 展示层</a:t>
            </a:r>
          </a:p>
        </p:txBody>
      </p:sp>
      <p:sp>
        <p:nvSpPr>
          <p:cNvPr id="9" name="Rounded Rectangle 8"/>
          <p:cNvSpPr/>
          <p:nvPr/>
        </p:nvSpPr>
        <p:spPr>
          <a:xfrm>
            <a:off x="2788920" y="2304288"/>
            <a:ext cx="5074920" cy="512064"/>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2395728"/>
            <a:ext cx="4709160" cy="256032"/>
          </a:xfrm>
          <a:prstGeom prst="rect">
            <a:avLst/>
          </a:prstGeom>
          <a:noFill/>
        </p:spPr>
        <p:txBody>
          <a:bodyPr wrap="square" anchor="ctr">
            <a:spAutoFit/>
          </a:bodyPr>
          <a:lstStyle/>
          <a:p>
            <a:pPr algn="l">
              <a:spcAft>
                <a:spcPts val="0"/>
              </a:spcAft>
            </a:pPr>
            <a:r>
              <a:rPr sz="1210" b="0">
                <a:solidFill>
                  <a:srgbClr val="555555"/>
                </a:solidFill>
                <a:latin typeface="Microsoft YaHei"/>
              </a:rPr>
              <a:t>页面壳子、看板卡片、列表表格、详情抽屉</a:t>
            </a:r>
          </a:p>
        </p:txBody>
      </p:sp>
      <p:sp>
        <p:nvSpPr>
          <p:cNvPr id="11" name="Down Arrow 10"/>
          <p:cNvSpPr/>
          <p:nvPr/>
        </p:nvSpPr>
        <p:spPr>
          <a:xfrm>
            <a:off x="4251960" y="2807208"/>
            <a:ext cx="384048" cy="201168"/>
          </a:xfrm>
          <a:prstGeom prst="down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15568" y="3136392"/>
            <a:ext cx="1481328" cy="512064"/>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3584" y="3236976"/>
            <a:ext cx="1225296" cy="237744"/>
          </a:xfrm>
          <a:prstGeom prst="rect">
            <a:avLst/>
          </a:prstGeom>
          <a:noFill/>
        </p:spPr>
        <p:txBody>
          <a:bodyPr wrap="square" anchor="ctr">
            <a:spAutoFit/>
          </a:bodyPr>
          <a:lstStyle/>
          <a:p>
            <a:pPr algn="ctr">
              <a:spcAft>
                <a:spcPts val="0"/>
              </a:spcAft>
            </a:pPr>
            <a:r>
              <a:rPr sz="1140" b="1">
                <a:solidFill>
                  <a:srgbClr val="FFFFFF"/>
                </a:solidFill>
                <a:latin typeface="Microsoft YaHei"/>
              </a:rPr>
              <a:t>2. 交互层</a:t>
            </a:r>
          </a:p>
        </p:txBody>
      </p:sp>
      <p:sp>
        <p:nvSpPr>
          <p:cNvPr id="14" name="Rounded Rectangle 13"/>
          <p:cNvSpPr/>
          <p:nvPr/>
        </p:nvSpPr>
        <p:spPr>
          <a:xfrm>
            <a:off x="2788920" y="3136392"/>
            <a:ext cx="5074920" cy="512064"/>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3227832"/>
            <a:ext cx="4709160" cy="256032"/>
          </a:xfrm>
          <a:prstGeom prst="rect">
            <a:avLst/>
          </a:prstGeom>
          <a:noFill/>
        </p:spPr>
        <p:txBody>
          <a:bodyPr wrap="square" anchor="ctr">
            <a:spAutoFit/>
          </a:bodyPr>
          <a:lstStyle/>
          <a:p>
            <a:pPr algn="l">
              <a:spcAft>
                <a:spcPts val="0"/>
              </a:spcAft>
            </a:pPr>
            <a:r>
              <a:rPr sz="1210" b="0">
                <a:solidFill>
                  <a:srgbClr val="555555"/>
                </a:solidFill>
                <a:latin typeface="Microsoft YaHei"/>
              </a:rPr>
              <a:t>筛选切换、建议查看、动作触发、结果回看</a:t>
            </a:r>
          </a:p>
        </p:txBody>
      </p:sp>
      <p:sp>
        <p:nvSpPr>
          <p:cNvPr id="16" name="Down Arrow 15"/>
          <p:cNvSpPr/>
          <p:nvPr/>
        </p:nvSpPr>
        <p:spPr>
          <a:xfrm>
            <a:off x="4251960" y="3639312"/>
            <a:ext cx="384048" cy="201168"/>
          </a:xfrm>
          <a:prstGeom prst="down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15568" y="3968496"/>
            <a:ext cx="1481328" cy="512064"/>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43584" y="4069080"/>
            <a:ext cx="1225296" cy="237744"/>
          </a:xfrm>
          <a:prstGeom prst="rect">
            <a:avLst/>
          </a:prstGeom>
          <a:noFill/>
        </p:spPr>
        <p:txBody>
          <a:bodyPr wrap="square" anchor="ctr">
            <a:spAutoFit/>
          </a:bodyPr>
          <a:lstStyle/>
          <a:p>
            <a:pPr algn="ctr">
              <a:spcAft>
                <a:spcPts val="0"/>
              </a:spcAft>
            </a:pPr>
            <a:r>
              <a:rPr sz="1140" b="1">
                <a:solidFill>
                  <a:srgbClr val="FFFFFF"/>
                </a:solidFill>
                <a:latin typeface="Microsoft YaHei"/>
              </a:rPr>
              <a:t>3. 数据层</a:t>
            </a:r>
          </a:p>
        </p:txBody>
      </p:sp>
      <p:sp>
        <p:nvSpPr>
          <p:cNvPr id="19" name="Rounded Rectangle 18"/>
          <p:cNvSpPr/>
          <p:nvPr/>
        </p:nvSpPr>
        <p:spPr>
          <a:xfrm>
            <a:off x="2788920" y="3968496"/>
            <a:ext cx="5074920" cy="512064"/>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59935"/>
            <a:ext cx="4709160" cy="256032"/>
          </a:xfrm>
          <a:prstGeom prst="rect">
            <a:avLst/>
          </a:prstGeom>
          <a:noFill/>
        </p:spPr>
        <p:txBody>
          <a:bodyPr wrap="square" anchor="ctr">
            <a:spAutoFit/>
          </a:bodyPr>
          <a:lstStyle/>
          <a:p>
            <a:pPr algn="l">
              <a:spcAft>
                <a:spcPts val="0"/>
              </a:spcAft>
            </a:pPr>
            <a:r>
              <a:rPr sz="1210" b="0">
                <a:solidFill>
                  <a:srgbClr val="555555"/>
                </a:solidFill>
                <a:latin typeface="Microsoft YaHei"/>
              </a:rPr>
              <a:t>样例数据、页面状态配置、Mock 接口返回</a:t>
            </a:r>
          </a:p>
        </p:txBody>
      </p:sp>
      <p:sp>
        <p:nvSpPr>
          <p:cNvPr id="21" name="Rounded Rectangle 20"/>
          <p:cNvSpPr/>
          <p:nvPr/>
        </p:nvSpPr>
        <p:spPr>
          <a:xfrm>
            <a:off x="8412480" y="1737360"/>
            <a:ext cx="2880360" cy="21488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1956816"/>
            <a:ext cx="2377440" cy="274320"/>
          </a:xfrm>
          <a:prstGeom prst="rect">
            <a:avLst/>
          </a:prstGeom>
          <a:noFill/>
        </p:spPr>
        <p:txBody>
          <a:bodyPr wrap="square" anchor="t">
            <a:spAutoFit/>
          </a:bodyPr>
          <a:lstStyle/>
          <a:p>
            <a:pPr algn="l">
              <a:spcAft>
                <a:spcPts val="0"/>
              </a:spcAft>
            </a:pPr>
            <a:r>
              <a:rPr sz="1650" b="1">
                <a:solidFill>
                  <a:srgbClr val="C62828"/>
                </a:solidFill>
                <a:latin typeface="Microsoft YaHei"/>
              </a:rPr>
              <a:t>推荐产品栈</a:t>
            </a:r>
          </a:p>
        </p:txBody>
      </p:sp>
      <p:sp>
        <p:nvSpPr>
          <p:cNvPr id="23" name="TextBox 22"/>
          <p:cNvSpPr txBox="1"/>
          <p:nvPr/>
        </p:nvSpPr>
        <p:spPr>
          <a:xfrm>
            <a:off x="8641080" y="2359152"/>
            <a:ext cx="2286000" cy="1051560"/>
          </a:xfrm>
          <a:prstGeom prst="rect">
            <a:avLst/>
          </a:prstGeom>
          <a:noFill/>
        </p:spPr>
        <p:txBody>
          <a:bodyPr wrap="square" anchor="t">
            <a:spAutoFit/>
          </a:bodyPr>
          <a:lstStyle/>
          <a:p>
            <a:pPr algn="l">
              <a:spcAft>
                <a:spcPts val="600"/>
              </a:spcAft>
            </a:pPr>
            <a:r>
              <a:rPr sz="1280" b="0">
                <a:solidFill>
                  <a:srgbClr val="555555"/>
                </a:solidFill>
                <a:latin typeface="Microsoft YaHei"/>
              </a:rPr>
              <a:t>优先产品栈：Azure Machine Learning / Azure AI Foundry / Microsoft Fabric / Dynamics 365 Customer Insights</a:t>
            </a:r>
          </a:p>
        </p:txBody>
      </p:sp>
      <p:sp>
        <p:nvSpPr>
          <p:cNvPr id="24" name="Rounded Rectangle 23"/>
          <p:cNvSpPr/>
          <p:nvPr/>
        </p:nvSpPr>
        <p:spPr>
          <a:xfrm>
            <a:off x="8412480" y="4160520"/>
            <a:ext cx="2880360" cy="228600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4389120"/>
            <a:ext cx="2377440" cy="274320"/>
          </a:xfrm>
          <a:prstGeom prst="rect">
            <a:avLst/>
          </a:prstGeom>
          <a:noFill/>
        </p:spPr>
        <p:txBody>
          <a:bodyPr wrap="square" anchor="t">
            <a:spAutoFit/>
          </a:bodyPr>
          <a:lstStyle/>
          <a:p>
            <a:pPr algn="l">
              <a:spcAft>
                <a:spcPts val="0"/>
              </a:spcAft>
            </a:pPr>
            <a:r>
              <a:rPr sz="1650" b="1">
                <a:solidFill>
                  <a:srgbClr val="C62828"/>
                </a:solidFill>
                <a:latin typeface="Microsoft YaHei"/>
              </a:rPr>
              <a:t>架构原则</a:t>
            </a:r>
          </a:p>
        </p:txBody>
      </p:sp>
      <p:sp>
        <p:nvSpPr>
          <p:cNvPr id="26" name="TextBox 25"/>
          <p:cNvSpPr txBox="1"/>
          <p:nvPr/>
        </p:nvSpPr>
        <p:spPr>
          <a:xfrm>
            <a:off x="8641080" y="4754880"/>
            <a:ext cx="2286000" cy="1097280"/>
          </a:xfrm>
          <a:prstGeom prst="rect">
            <a:avLst/>
          </a:prstGeom>
          <a:noFill/>
        </p:spPr>
        <p:txBody>
          <a:bodyPr wrap="square" anchor="t">
            <a:spAutoFit/>
          </a:bodyPr>
          <a:lstStyle/>
          <a:p>
            <a:pPr algn="l">
              <a:spcAft>
                <a:spcPts val="600"/>
              </a:spcAft>
            </a:pPr>
            <a:r>
              <a:rPr sz="1220" b="0">
                <a:solidFill>
                  <a:srgbClr val="555555"/>
                </a:solidFill>
                <a:latin typeface="Microsoft YaHei"/>
              </a:rPr>
              <a:t>1. 页面壳子优先，先保证关键业务路径可演示</a:t>
            </a:r>
          </a:p>
          <a:p>
            <a:pPr algn="l">
              <a:spcAft>
                <a:spcPts val="600"/>
              </a:spcAft>
            </a:pPr>
            <a:r>
              <a:rPr sz="1220" b="0">
                <a:solidFill>
                  <a:srgbClr val="555555"/>
                </a:solidFill>
                <a:latin typeface="Microsoft YaHei"/>
              </a:rPr>
              <a:t>2. 模块分层组织，页面、组件、样例数据分开维护</a:t>
            </a:r>
          </a:p>
          <a:p>
            <a:pPr algn="l">
              <a:spcAft>
                <a:spcPts val="600"/>
              </a:spcAft>
            </a:pPr>
            <a:r>
              <a:rPr sz="1220" b="0">
                <a:solidFill>
                  <a:srgbClr val="555555"/>
                </a:solidFill>
                <a:latin typeface="Microsoft YaHei"/>
              </a:rPr>
              <a:t>3. Mock 数据驱动，先不接真实系统接口</a:t>
            </a:r>
          </a:p>
        </p:txBody>
      </p:sp>
      <p:sp>
        <p:nvSpPr>
          <p:cNvPr id="27" name="Rounded Rectangle 26"/>
          <p:cNvSpPr/>
          <p:nvPr/>
        </p:nvSpPr>
        <p:spPr>
          <a:xfrm>
            <a:off x="822960" y="6537960"/>
            <a:ext cx="10469880" cy="329184"/>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6592824"/>
            <a:ext cx="9966960" cy="164592"/>
          </a:xfrm>
          <a:prstGeom prst="rect">
            <a:avLst/>
          </a:prstGeom>
          <a:noFill/>
        </p:spPr>
        <p:txBody>
          <a:bodyPr wrap="square" anchor="ctr">
            <a:spAutoFit/>
          </a:bodyPr>
          <a:lstStyle/>
          <a:p>
            <a:pPr algn="l">
              <a:spcAft>
                <a:spcPts val="0"/>
              </a:spcAft>
            </a:pPr>
            <a:r>
              <a:rPr sz="1200" b="1">
                <a:solidFill>
                  <a:srgbClr val="FFFFFF"/>
                </a:solidFill>
                <a:latin typeface="Microsoft YaHei"/>
              </a:rPr>
              <a:t>闭环目标：预测客户流失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能力映射与交付物</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681228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65960"/>
            <a:ext cx="6263640" cy="274320"/>
          </a:xfrm>
          <a:prstGeom prst="rect">
            <a:avLst/>
          </a:prstGeom>
          <a:noFill/>
        </p:spPr>
        <p:txBody>
          <a:bodyPr wrap="square" anchor="t">
            <a:spAutoFit/>
          </a:bodyPr>
          <a:lstStyle/>
          <a:p>
            <a:pPr algn="l">
              <a:spcAft>
                <a:spcPts val="0"/>
              </a:spcAft>
            </a:pPr>
            <a:r>
              <a:rPr sz="1650" b="1">
                <a:solidFill>
                  <a:srgbClr val="C62828"/>
                </a:solidFill>
                <a:latin typeface="Microsoft YaHei"/>
              </a:rPr>
              <a:t>能力卡与产品映射</a:t>
            </a:r>
          </a:p>
        </p:txBody>
      </p:sp>
      <p:sp>
        <p:nvSpPr>
          <p:cNvPr id="7" name="TextBox 6"/>
          <p:cNvSpPr txBox="1"/>
          <p:nvPr/>
        </p:nvSpPr>
        <p:spPr>
          <a:xfrm>
            <a:off x="1051560" y="2487168"/>
            <a:ext cx="6355080" cy="3154680"/>
          </a:xfrm>
          <a:prstGeom prst="rect">
            <a:avLst/>
          </a:prstGeom>
          <a:noFill/>
        </p:spPr>
        <p:txBody>
          <a:bodyPr wrap="square" anchor="t">
            <a:spAutoFit/>
          </a:bodyPr>
          <a:lstStyle/>
          <a:p>
            <a:pPr algn="l">
              <a:spcAft>
                <a:spcPts val="800"/>
              </a:spcAft>
            </a:pPr>
            <a:r>
              <a:rPr sz="1380" b="0">
                <a:solidFill>
                  <a:srgbClr val="555555"/>
                </a:solidFill>
                <a:latin typeface="Microsoft YaHei"/>
              </a:rPr>
              <a:t>了解客户 -&gt; Azure Machine Learning, Azure AI Foundry, Microsoft Fabric, Dynamics 365 Customer Insights | 交付：深入了解客户行为，预测他们的需求，并有效地定制解决方案。</a:t>
            </a:r>
          </a:p>
          <a:p>
            <a:pPr algn="l">
              <a:spcAft>
                <a:spcPts val="800"/>
              </a:spcAft>
            </a:pPr>
            <a:r>
              <a:rPr sz="1380" b="0">
                <a:solidFill>
                  <a:srgbClr val="555555"/>
                </a:solidFill>
                <a:latin typeface="Microsoft YaHei"/>
              </a:rPr>
              <a:t>个性化营销 -&gt; Azure Machine Learning, Azure AI Search, Dynamics 365 Customer Insights | 交付：使用AI通过分析客户数据和预测最佳互动策略来定制营销活动。</a:t>
            </a:r>
          </a:p>
          <a:p>
            <a:pPr algn="l">
              <a:spcAft>
                <a:spcPts val="800"/>
              </a:spcAft>
            </a:pPr>
            <a:r>
              <a:rPr sz="1380" b="0">
                <a:solidFill>
                  <a:srgbClr val="555555"/>
                </a:solidFill>
                <a:latin typeface="Microsoft YaHei"/>
              </a:rPr>
              <a:t>生成或增强文本 -&gt; Azure AI Foundry, Azure AI Language, Microsoft 365 Copilot | 交付：实施高级自然语言理解，以实现更复杂的类似人类的交互。</a:t>
            </a:r>
          </a:p>
          <a:p>
            <a:pPr algn="l">
              <a:spcAft>
                <a:spcPts val="800"/>
              </a:spcAft>
            </a:pPr>
            <a:r>
              <a:rPr sz="1380" b="0">
                <a:solidFill>
                  <a:srgbClr val="555555"/>
                </a:solidFill>
                <a:latin typeface="Microsoft YaHei"/>
              </a:rPr>
              <a:t>从文本生成图像 -&gt; Microsoft 365 Copilot, Microsoft Designer, Azure AI Foundry, Azure AI Content Understanding | 交付：利用AI从文本描述中创建独特的图像。</a:t>
            </a:r>
          </a:p>
          <a:p>
            <a:pPr algn="l">
              <a:spcAft>
                <a:spcPts val="800"/>
              </a:spcAft>
            </a:pPr>
            <a:r>
              <a:rPr sz="1380" b="0">
                <a:solidFill>
                  <a:srgbClr val="555555"/>
                </a:solidFill>
                <a:latin typeface="Microsoft YaHei"/>
              </a:rPr>
              <a:t>创建动态网页 -&gt; Azure AI Language, Power Platform:Power Pages, GitHub Copilot | 交付：使用AI生成网页的文本、表单和布局，从而简化Web开发。</a:t>
            </a:r>
          </a:p>
          <a:p>
            <a:pPr algn="l">
              <a:spcAft>
                <a:spcPts val="800"/>
              </a:spcAft>
            </a:pPr>
            <a:r>
              <a:rPr sz="1380" b="0">
                <a:solidFill>
                  <a:srgbClr val="555555"/>
                </a:solidFill>
                <a:latin typeface="Microsoft YaHei"/>
              </a:rPr>
              <a:t>简化数据分析 -&gt; Azure AI Language, Azure AI Foundry, Copilot for Power BI | 交付：使用AI通过自然语言创建复杂的数据查询和控制面板，使见解更易于访问。</a:t>
            </a:r>
          </a:p>
          <a:p>
            <a:pPr algn="l">
              <a:spcAft>
                <a:spcPts val="800"/>
              </a:spcAft>
            </a:pPr>
            <a:r>
              <a:rPr sz="1380" b="0">
                <a:solidFill>
                  <a:srgbClr val="555555"/>
                </a:solidFill>
                <a:latin typeface="Microsoft YaHei"/>
              </a:rPr>
              <a:t>预测客户流失 -&gt; Azure Machine Learning, Microsoft Fabric, Dynamics 365 Customer Insights | 交付：使用AI预测客户流失并主动响应以留住他们。</a:t>
            </a:r>
          </a:p>
        </p:txBody>
      </p:sp>
      <p:sp>
        <p:nvSpPr>
          <p:cNvPr id="8" name="Rounded Rectangle 7"/>
          <p:cNvSpPr/>
          <p:nvPr/>
        </p:nvSpPr>
        <p:spPr>
          <a:xfrm>
            <a:off x="7955279" y="1737360"/>
            <a:ext cx="3337560" cy="19202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56816"/>
            <a:ext cx="2788920" cy="274320"/>
          </a:xfrm>
          <a:prstGeom prst="rect">
            <a:avLst/>
          </a:prstGeom>
          <a:noFill/>
        </p:spPr>
        <p:txBody>
          <a:bodyPr wrap="square" anchor="t">
            <a:spAutoFit/>
          </a:bodyPr>
          <a:lstStyle/>
          <a:p>
            <a:pPr algn="l">
              <a:spcAft>
                <a:spcPts val="0"/>
              </a:spcAft>
            </a:pPr>
            <a:r>
              <a:rPr sz="1650" b="1">
                <a:solidFill>
                  <a:srgbClr val="C62828"/>
                </a:solidFill>
                <a:latin typeface="Microsoft YaHei"/>
              </a:rPr>
              <a:t>推荐产品栈</a:t>
            </a:r>
          </a:p>
        </p:txBody>
      </p:sp>
      <p:sp>
        <p:nvSpPr>
          <p:cNvPr id="10" name="TextBox 9"/>
          <p:cNvSpPr txBox="1"/>
          <p:nvPr/>
        </p:nvSpPr>
        <p:spPr>
          <a:xfrm>
            <a:off x="8229600" y="2359152"/>
            <a:ext cx="2788920" cy="932688"/>
          </a:xfrm>
          <a:prstGeom prst="rect">
            <a:avLst/>
          </a:prstGeom>
          <a:noFill/>
        </p:spPr>
        <p:txBody>
          <a:bodyPr wrap="square" anchor="t">
            <a:spAutoFit/>
          </a:bodyPr>
          <a:lstStyle/>
          <a:p>
            <a:pPr algn="l">
              <a:spcAft>
                <a:spcPts val="0"/>
              </a:spcAft>
            </a:pPr>
            <a:r>
              <a:rPr sz="1350" b="0">
                <a:solidFill>
                  <a:srgbClr val="555555"/>
                </a:solidFill>
                <a:latin typeface="Microsoft YaHei"/>
              </a:rPr>
              <a:t>优先产品栈：Azure Machine Learning / Azure AI Foundry / Microsoft Fabric / Dynamics 365 Customer Insights</a:t>
            </a:r>
          </a:p>
        </p:txBody>
      </p:sp>
      <p:sp>
        <p:nvSpPr>
          <p:cNvPr id="11" name="Rounded Rectangle 10"/>
          <p:cNvSpPr/>
          <p:nvPr/>
        </p:nvSpPr>
        <p:spPr>
          <a:xfrm>
            <a:off x="7955279" y="3977639"/>
            <a:ext cx="3337560" cy="224028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224528"/>
            <a:ext cx="2788920" cy="274320"/>
          </a:xfrm>
          <a:prstGeom prst="rect">
            <a:avLst/>
          </a:prstGeom>
          <a:noFill/>
        </p:spPr>
        <p:txBody>
          <a:bodyPr wrap="square" anchor="t">
            <a:spAutoFit/>
          </a:bodyPr>
          <a:lstStyle/>
          <a:p>
            <a:pPr algn="l">
              <a:spcAft>
                <a:spcPts val="0"/>
              </a:spcAft>
            </a:pPr>
            <a:r>
              <a:rPr sz="1650" b="1">
                <a:solidFill>
                  <a:srgbClr val="FFFFFF"/>
                </a:solidFill>
                <a:latin typeface="Microsoft YaHei"/>
              </a:rPr>
              <a:t>现场交付物</a:t>
            </a:r>
          </a:p>
        </p:txBody>
      </p:sp>
      <p:sp>
        <p:nvSpPr>
          <p:cNvPr id="13" name="TextBox 12"/>
          <p:cNvSpPr txBox="1"/>
          <p:nvPr/>
        </p:nvSpPr>
        <p:spPr>
          <a:xfrm>
            <a:off x="8229600" y="4590288"/>
            <a:ext cx="2788920" cy="1188720"/>
          </a:xfrm>
          <a:prstGeom prst="rect">
            <a:avLst/>
          </a:prstGeom>
          <a:noFill/>
        </p:spPr>
        <p:txBody>
          <a:bodyPr wrap="square" anchor="t">
            <a:spAutoFit/>
          </a:bodyPr>
          <a:lstStyle/>
          <a:p>
            <a:pPr algn="l">
              <a:spcAft>
                <a:spcPts val="0"/>
              </a:spcAft>
            </a:pPr>
            <a:r>
              <a:rPr sz="1350" b="0">
                <a:solidFill>
                  <a:srgbClr val="FFFFFF"/>
                </a:solidFill>
                <a:latin typeface="Microsoft YaHei"/>
              </a:rPr>
              <a:t>现场交付物：方案 PPT / 需求PRD.md / 方案设计.md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业务价值与验证假设</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24612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业务价值</a:t>
            </a:r>
          </a:p>
        </p:txBody>
      </p:sp>
      <p:sp>
        <p:nvSpPr>
          <p:cNvPr id="7" name="TextBox 6"/>
          <p:cNvSpPr txBox="1"/>
          <p:nvPr/>
        </p:nvSpPr>
        <p:spPr>
          <a:xfrm>
            <a:off x="1024128"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希望快速形成一版可讲清业务闭环的 AI 场景方案。</a:t>
            </a:r>
          </a:p>
          <a:p>
            <a:pPr algn="l">
              <a:spcAft>
                <a:spcPts val="800"/>
              </a:spcAft>
            </a:pPr>
            <a:r>
              <a:rPr sz="1400" b="0">
                <a:solidFill>
                  <a:srgbClr val="555555"/>
                </a:solidFill>
                <a:latin typeface="Microsoft YaHei"/>
              </a:rPr>
              <a:t>缩短人工整理、判断和协同的时间</a:t>
            </a:r>
          </a:p>
          <a:p>
            <a:pPr algn="l">
              <a:spcAft>
                <a:spcPts val="800"/>
              </a:spcAft>
            </a:pPr>
            <a:r>
              <a:rPr sz="1400" b="0">
                <a:solidFill>
                  <a:srgbClr val="555555"/>
                </a:solidFill>
                <a:latin typeface="Microsoft YaHei"/>
              </a:rPr>
              <a:t>形成可用于继续推进 POC 的统一讲解口径</a:t>
            </a:r>
          </a:p>
        </p:txBody>
      </p:sp>
      <p:sp>
        <p:nvSpPr>
          <p:cNvPr id="8" name="Rounded Rectangle 7"/>
          <p:cNvSpPr/>
          <p:nvPr/>
        </p:nvSpPr>
        <p:spPr>
          <a:xfrm>
            <a:off x="4462272" y="1783080"/>
            <a:ext cx="3246120" cy="448056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关键指标</a:t>
            </a:r>
          </a:p>
        </p:txBody>
      </p:sp>
      <p:sp>
        <p:nvSpPr>
          <p:cNvPr id="10" name="TextBox 9"/>
          <p:cNvSpPr txBox="1"/>
          <p:nvPr/>
        </p:nvSpPr>
        <p:spPr>
          <a:xfrm>
            <a:off x="4663440"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核心判断时间缩短 30%</a:t>
            </a:r>
          </a:p>
          <a:p>
            <a:pPr algn="l">
              <a:spcAft>
                <a:spcPts val="800"/>
              </a:spcAft>
            </a:pPr>
            <a:r>
              <a:rPr sz="1400" b="0">
                <a:solidFill>
                  <a:srgbClr val="555555"/>
                </a:solidFill>
                <a:latin typeface="Microsoft YaHei"/>
              </a:rPr>
              <a:t>协同响应时间缩短 25%</a:t>
            </a:r>
          </a:p>
          <a:p>
            <a:pPr algn="l">
              <a:spcAft>
                <a:spcPts val="800"/>
              </a:spcAft>
            </a:pPr>
            <a:r>
              <a:rPr sz="1400" b="0">
                <a:solidFill>
                  <a:srgbClr val="555555"/>
                </a:solidFill>
                <a:latin typeface="Microsoft YaHei"/>
              </a:rPr>
              <a:t>可通过静态样例完整演示主业务路径</a:t>
            </a:r>
          </a:p>
        </p:txBody>
      </p:sp>
      <p:sp>
        <p:nvSpPr>
          <p:cNvPr id="11" name="Rounded Rectangle 10"/>
          <p:cNvSpPr/>
          <p:nvPr/>
        </p:nvSpPr>
        <p:spPr>
          <a:xfrm>
            <a:off x="8101583" y="1783080"/>
            <a:ext cx="324612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POC 验证点</a:t>
            </a:r>
          </a:p>
        </p:txBody>
      </p:sp>
      <p:sp>
        <p:nvSpPr>
          <p:cNvPr id="13" name="TextBox 12"/>
          <p:cNvSpPr txBox="1"/>
          <p:nvPr/>
        </p:nvSpPr>
        <p:spPr>
          <a:xfrm>
            <a:off x="8302752"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1. AI 输出是否能帮助业务更快判断</a:t>
            </a:r>
          </a:p>
          <a:p>
            <a:pPr algn="l">
              <a:spcAft>
                <a:spcPts val="800"/>
              </a:spcAft>
            </a:pPr>
            <a:r>
              <a:rPr sz="1400" b="0">
                <a:solidFill>
                  <a:srgbClr val="555555"/>
                </a:solidFill>
                <a:latin typeface="Microsoft YaHei"/>
              </a:rPr>
              <a:t>2. 原型页面是否能完整讲清业务闭环</a:t>
            </a:r>
          </a:p>
          <a:p>
            <a:pPr algn="l">
              <a:spcAft>
                <a:spcPts val="800"/>
              </a:spcAft>
            </a:pPr>
            <a:r>
              <a:rPr sz="1400" b="0">
                <a:solidFill>
                  <a:srgbClr val="555555"/>
                </a:solidFill>
                <a:latin typeface="Microsoft YaHei"/>
              </a:rPr>
              <a:t>3. 现场方案是否适合作为后续 POC 基础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原型与 MVP 设计</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6916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75104"/>
            <a:ext cx="7223760" cy="274320"/>
          </a:xfrm>
          <a:prstGeom prst="rect">
            <a:avLst/>
          </a:prstGeom>
          <a:noFill/>
        </p:spPr>
        <p:txBody>
          <a:bodyPr wrap="square" anchor="t">
            <a:spAutoFit/>
          </a:bodyPr>
          <a:lstStyle/>
          <a:p>
            <a:pPr algn="l">
              <a:spcAft>
                <a:spcPts val="0"/>
              </a:spcAft>
            </a:pPr>
            <a:r>
              <a:rPr sz="1650" b="1">
                <a:solidFill>
                  <a:srgbClr val="C62828"/>
                </a:solidFill>
                <a:latin typeface="Microsoft YaHei"/>
              </a:rPr>
              <a:t>原型摘要</a:t>
            </a:r>
          </a:p>
        </p:txBody>
      </p:sp>
      <p:sp>
        <p:nvSpPr>
          <p:cNvPr id="7" name="TextBox 6"/>
          <p:cNvSpPr txBox="1"/>
          <p:nvPr/>
        </p:nvSpPr>
        <p:spPr>
          <a:xfrm>
            <a:off x="1097280" y="2359152"/>
            <a:ext cx="7269480" cy="896112"/>
          </a:xfrm>
          <a:prstGeom prst="rect">
            <a:avLst/>
          </a:prstGeom>
          <a:noFill/>
        </p:spPr>
        <p:txBody>
          <a:bodyPr wrap="square" anchor="t">
            <a:spAutoFit/>
          </a:bodyPr>
          <a:lstStyle/>
          <a:p>
            <a:pPr algn="l">
              <a:spcAft>
                <a:spcPts val="600"/>
              </a:spcAft>
            </a:pPr>
            <a:r>
              <a:rPr sz="1220" b="0">
                <a:solidFill>
                  <a:srgbClr val="555555"/>
                </a:solidFill>
                <a:latin typeface="Microsoft YaHei"/>
              </a:rPr>
              <a:t>客户运营与内容生成工作台；目标用户：业务与数字化负责人</a:t>
            </a:r>
          </a:p>
          <a:p>
            <a:pPr algn="l">
              <a:spcAft>
                <a:spcPts val="600"/>
              </a:spcAft>
            </a:pPr>
            <a:r>
              <a:rPr sz="1220" b="0">
                <a:solidFill>
                  <a:srgbClr val="555555"/>
                </a:solidFill>
                <a:latin typeface="Microsoft YaHei"/>
              </a:rPr>
              <a:t>客户运营与内容生成工作台；目标：希望快速形成一版可讲清业务闭环的 AI 场景方案。</a:t>
            </a:r>
          </a:p>
          <a:p>
            <a:pPr algn="l">
              <a:spcAft>
                <a:spcPts val="600"/>
              </a:spcAft>
            </a:pPr>
            <a:r>
              <a:rPr sz="1220" b="0">
                <a:solidFill>
                  <a:srgbClr val="555555"/>
                </a:solidFill>
                <a:latin typeface="Microsoft YaHei"/>
              </a:rPr>
              <a:t>前端壳子优先；核心任务：查看客户洞察并联动营销与内容生成动作；技术栈：Next.js + Tailwind CSS</a:t>
            </a:r>
          </a:p>
        </p:txBody>
      </p:sp>
      <p:sp>
        <p:nvSpPr>
          <p:cNvPr id="8" name="Rounded Rectangle 7"/>
          <p:cNvSpPr/>
          <p:nvPr/>
        </p:nvSpPr>
        <p:spPr>
          <a:xfrm>
            <a:off x="822960" y="3767328"/>
            <a:ext cx="3822191" cy="233172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995928"/>
            <a:ext cx="3291840" cy="274320"/>
          </a:xfrm>
          <a:prstGeom prst="rect">
            <a:avLst/>
          </a:prstGeom>
          <a:noFill/>
        </p:spPr>
        <p:txBody>
          <a:bodyPr wrap="square" anchor="t">
            <a:spAutoFit/>
          </a:bodyPr>
          <a:lstStyle/>
          <a:p>
            <a:pPr algn="l">
              <a:spcAft>
                <a:spcPts val="0"/>
              </a:spcAft>
            </a:pPr>
            <a:r>
              <a:rPr sz="1650" b="1">
                <a:solidFill>
                  <a:srgbClr val="C62828"/>
                </a:solidFill>
                <a:latin typeface="Microsoft YaHei"/>
              </a:rPr>
              <a:t>MVP 页面范围</a:t>
            </a:r>
          </a:p>
        </p:txBody>
      </p:sp>
      <p:sp>
        <p:nvSpPr>
          <p:cNvPr id="10" name="TextBox 9"/>
          <p:cNvSpPr txBox="1"/>
          <p:nvPr/>
        </p:nvSpPr>
        <p:spPr>
          <a:xfrm>
            <a:off x="1051560" y="4389120"/>
            <a:ext cx="3291840" cy="1417320"/>
          </a:xfrm>
          <a:prstGeom prst="rect">
            <a:avLst/>
          </a:prstGeom>
          <a:noFill/>
        </p:spPr>
        <p:txBody>
          <a:bodyPr wrap="square" anchor="t">
            <a:spAutoFit/>
          </a:bodyPr>
          <a:lstStyle/>
          <a:p>
            <a:pPr algn="l">
              <a:spcAft>
                <a:spcPts val="600"/>
              </a:spcAft>
            </a:pPr>
            <a:r>
              <a:rPr sz="1290" b="0">
                <a:solidFill>
                  <a:srgbClr val="555555"/>
                </a:solidFill>
                <a:latin typeface="Microsoft YaHei"/>
              </a:rPr>
              <a:t>1. 客户运营与内容生成工作台总览</a:t>
            </a:r>
          </a:p>
          <a:p>
            <a:pPr algn="l">
              <a:spcAft>
                <a:spcPts val="600"/>
              </a:spcAft>
            </a:pPr>
            <a:r>
              <a:rPr sz="1290" b="0">
                <a:solidFill>
                  <a:srgbClr val="555555"/>
                </a:solidFill>
                <a:latin typeface="Microsoft YaHei"/>
              </a:rPr>
              <a:t>2. 分析详情页</a:t>
            </a:r>
          </a:p>
          <a:p>
            <a:pPr algn="l">
              <a:spcAft>
                <a:spcPts val="600"/>
              </a:spcAft>
            </a:pPr>
            <a:r>
              <a:rPr sz="1290" b="0">
                <a:solidFill>
                  <a:srgbClr val="555555"/>
                </a:solidFill>
                <a:latin typeface="Microsoft YaHei"/>
              </a:rPr>
              <a:t>3. 建议与动作页</a:t>
            </a:r>
          </a:p>
          <a:p>
            <a:pPr algn="l">
              <a:spcAft>
                <a:spcPts val="600"/>
              </a:spcAft>
            </a:pPr>
            <a:r>
              <a:rPr sz="1290" b="0">
                <a:solidFill>
                  <a:srgbClr val="555555"/>
                </a:solidFill>
                <a:latin typeface="Microsoft YaHei"/>
              </a:rPr>
              <a:t>4. 协同与复盘页</a:t>
            </a:r>
          </a:p>
        </p:txBody>
      </p:sp>
      <p:sp>
        <p:nvSpPr>
          <p:cNvPr id="11" name="Rounded Rectangle 10"/>
          <p:cNvSpPr/>
          <p:nvPr/>
        </p:nvSpPr>
        <p:spPr>
          <a:xfrm>
            <a:off x="4910328" y="3767328"/>
            <a:ext cx="3822191" cy="233172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8928" y="3995928"/>
            <a:ext cx="3291840" cy="274320"/>
          </a:xfrm>
          <a:prstGeom prst="rect">
            <a:avLst/>
          </a:prstGeom>
          <a:noFill/>
        </p:spPr>
        <p:txBody>
          <a:bodyPr wrap="square" anchor="t">
            <a:spAutoFit/>
          </a:bodyPr>
          <a:lstStyle/>
          <a:p>
            <a:pPr algn="l">
              <a:spcAft>
                <a:spcPts val="0"/>
              </a:spcAft>
            </a:pPr>
            <a:r>
              <a:rPr sz="1650" b="1">
                <a:solidFill>
                  <a:srgbClr val="C62828"/>
                </a:solidFill>
                <a:latin typeface="Microsoft YaHei"/>
              </a:rPr>
              <a:t>快速开发路径</a:t>
            </a:r>
          </a:p>
        </p:txBody>
      </p:sp>
      <p:sp>
        <p:nvSpPr>
          <p:cNvPr id="13" name="TextBox 12"/>
          <p:cNvSpPr txBox="1"/>
          <p:nvPr/>
        </p:nvSpPr>
        <p:spPr>
          <a:xfrm>
            <a:off x="5138928" y="4389120"/>
            <a:ext cx="3291840" cy="1417320"/>
          </a:xfrm>
          <a:prstGeom prst="rect">
            <a:avLst/>
          </a:prstGeom>
          <a:noFill/>
        </p:spPr>
        <p:txBody>
          <a:bodyPr wrap="square" anchor="t">
            <a:spAutoFit/>
          </a:bodyPr>
          <a:lstStyle/>
          <a:p>
            <a:pPr algn="l">
              <a:spcAft>
                <a:spcPts val="600"/>
              </a:spcAft>
            </a:pPr>
            <a:r>
              <a:rPr sz="1290" b="0">
                <a:solidFill>
                  <a:srgbClr val="555555"/>
                </a:solidFill>
                <a:latin typeface="Microsoft YaHei"/>
              </a:rPr>
              <a:t>1. 确认试点范围和样例数据</a:t>
            </a:r>
          </a:p>
          <a:p>
            <a:pPr algn="l">
              <a:spcAft>
                <a:spcPts val="600"/>
              </a:spcAft>
            </a:pPr>
            <a:r>
              <a:rPr sz="1290" b="0">
                <a:solidFill>
                  <a:srgbClr val="555555"/>
                </a:solidFill>
                <a:latin typeface="Microsoft YaHei"/>
              </a:rPr>
              <a:t>2. 锁定第一版原型页面范围</a:t>
            </a:r>
          </a:p>
          <a:p>
            <a:pPr algn="l">
              <a:spcAft>
                <a:spcPts val="600"/>
              </a:spcAft>
            </a:pPr>
            <a:r>
              <a:rPr sz="1290" b="0">
                <a:solidFill>
                  <a:srgbClr val="555555"/>
                </a:solidFill>
                <a:latin typeface="Microsoft YaHei"/>
              </a:rPr>
              <a:t>3. 输出 POC 验证口径和里程碑</a:t>
            </a:r>
          </a:p>
          <a:p>
            <a:pPr algn="l">
              <a:spcAft>
                <a:spcPts val="600"/>
              </a:spcAft>
            </a:pPr>
            <a:r>
              <a:rPr sz="1290" b="0">
                <a:solidFill>
                  <a:srgbClr val="555555"/>
                </a:solidFill>
                <a:latin typeface="Microsoft YaHei"/>
              </a:rPr>
              <a:t>4. 基于方案设计文档快速搭建静态页面和样例数据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POC 与下一步</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POC 范围</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20" b="1">
                <a:solidFill>
                  <a:srgbClr val="FFFFFF"/>
                </a:solidFill>
                <a:latin typeface="Microsoft YaHei"/>
              </a:rPr>
              <a:t>围绕客户运营与内容生成工作台优先验证识别、建议和协同三段闭环</a:t>
            </a:r>
          </a:p>
        </p:txBody>
      </p:sp>
      <p:sp>
        <p:nvSpPr>
          <p:cNvPr id="8" name="Rounded Rectangle 7"/>
          <p:cNvSpPr/>
          <p:nvPr/>
        </p:nvSpPr>
        <p:spPr>
          <a:xfrm>
            <a:off x="822960" y="2743200"/>
            <a:ext cx="3886200" cy="33832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333756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关键角色</a:t>
            </a:r>
          </a:p>
        </p:txBody>
      </p:sp>
      <p:sp>
        <p:nvSpPr>
          <p:cNvPr id="10" name="TextBox 9"/>
          <p:cNvSpPr txBox="1"/>
          <p:nvPr/>
        </p:nvSpPr>
        <p:spPr>
          <a:xfrm>
            <a:off x="1097280" y="3474720"/>
            <a:ext cx="3337560" cy="2148840"/>
          </a:xfrm>
          <a:prstGeom prst="rect">
            <a:avLst/>
          </a:prstGeom>
          <a:noFill/>
        </p:spPr>
        <p:txBody>
          <a:bodyPr wrap="square" anchor="t">
            <a:spAutoFit/>
          </a:bodyPr>
          <a:lstStyle/>
          <a:p>
            <a:pPr algn="l">
              <a:spcAft>
                <a:spcPts val="800"/>
              </a:spcAft>
            </a:pPr>
            <a:r>
              <a:rPr sz="1350" b="0">
                <a:solidFill>
                  <a:srgbClr val="555555"/>
                </a:solidFill>
                <a:latin typeface="Microsoft YaHei"/>
              </a:rPr>
              <a:t>业务与数字化负责人</a:t>
            </a:r>
          </a:p>
          <a:p>
            <a:pPr algn="l">
              <a:spcAft>
                <a:spcPts val="800"/>
              </a:spcAft>
            </a:pPr>
            <a:r>
              <a:rPr sz="1350" b="0">
                <a:solidFill>
                  <a:srgbClr val="555555"/>
                </a:solidFill>
                <a:latin typeface="Microsoft YaHei"/>
              </a:rPr>
              <a:t>业务负责人</a:t>
            </a:r>
          </a:p>
          <a:p>
            <a:pPr algn="l">
              <a:spcAft>
                <a:spcPts val="800"/>
              </a:spcAft>
            </a:pPr>
            <a:r>
              <a:rPr sz="1350" b="0">
                <a:solidFill>
                  <a:srgbClr val="555555"/>
                </a:solidFill>
                <a:latin typeface="Microsoft YaHei"/>
              </a:rPr>
              <a:t>数字化团队</a:t>
            </a:r>
          </a:p>
        </p:txBody>
      </p:sp>
      <p:sp>
        <p:nvSpPr>
          <p:cNvPr id="11" name="Rounded Rectangle 10"/>
          <p:cNvSpPr/>
          <p:nvPr/>
        </p:nvSpPr>
        <p:spPr>
          <a:xfrm>
            <a:off x="4937760" y="2743200"/>
            <a:ext cx="3886200" cy="33832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971800"/>
            <a:ext cx="3337560" cy="274320"/>
          </a:xfrm>
          <a:prstGeom prst="rect">
            <a:avLst/>
          </a:prstGeom>
          <a:noFill/>
        </p:spPr>
        <p:txBody>
          <a:bodyPr wrap="square" anchor="t">
            <a:spAutoFit/>
          </a:bodyPr>
          <a:lstStyle/>
          <a:p>
            <a:pPr algn="l">
              <a:spcAft>
                <a:spcPts val="0"/>
              </a:spcAft>
            </a:pPr>
            <a:r>
              <a:rPr sz="1650" b="1">
                <a:solidFill>
                  <a:srgbClr val="C62828"/>
                </a:solidFill>
                <a:latin typeface="Microsoft YaHei"/>
              </a:rPr>
              <a:t>后续动作</a:t>
            </a:r>
          </a:p>
        </p:txBody>
      </p:sp>
      <p:sp>
        <p:nvSpPr>
          <p:cNvPr id="13" name="TextBox 12"/>
          <p:cNvSpPr txBox="1"/>
          <p:nvPr/>
        </p:nvSpPr>
        <p:spPr>
          <a:xfrm>
            <a:off x="5212080" y="3474720"/>
            <a:ext cx="3337560" cy="2148840"/>
          </a:xfrm>
          <a:prstGeom prst="rect">
            <a:avLst/>
          </a:prstGeom>
          <a:noFill/>
        </p:spPr>
        <p:txBody>
          <a:bodyPr wrap="square" anchor="t">
            <a:spAutoFit/>
          </a:bodyPr>
          <a:lstStyle/>
          <a:p>
            <a:pPr algn="l">
              <a:spcAft>
                <a:spcPts val="800"/>
              </a:spcAft>
            </a:pPr>
            <a:r>
              <a:rPr sz="1350" b="0">
                <a:solidFill>
                  <a:srgbClr val="555555"/>
                </a:solidFill>
                <a:latin typeface="Microsoft YaHei"/>
              </a:rPr>
              <a:t>1. 确认试点范围和样例数据</a:t>
            </a:r>
          </a:p>
          <a:p>
            <a:pPr algn="l">
              <a:spcAft>
                <a:spcPts val="800"/>
              </a:spcAft>
            </a:pPr>
            <a:r>
              <a:rPr sz="1350" b="0">
                <a:solidFill>
                  <a:srgbClr val="555555"/>
                </a:solidFill>
                <a:latin typeface="Microsoft YaHei"/>
              </a:rPr>
              <a:t>2. 锁定第一版原型页面范围</a:t>
            </a:r>
          </a:p>
          <a:p>
            <a:pPr algn="l">
              <a:spcAft>
                <a:spcPts val="800"/>
              </a:spcAft>
            </a:pPr>
            <a:r>
              <a:rPr sz="1350" b="0">
                <a:solidFill>
                  <a:srgbClr val="555555"/>
                </a:solidFill>
                <a:latin typeface="Microsoft YaHei"/>
              </a:rPr>
              <a:t>3. 输出 POC 验证口径和里程碑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