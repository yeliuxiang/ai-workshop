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会员生命周期运营增长与流失预警闭环</a:t>
            </a:r>
          </a:p>
          <a:p>
            <a:r>
              <a:t>- 该场景聚焦会员运营负责人最关心的三段链路：重点客群识别、营销内容落地和流失干预。先通过一个统一工作台把洞察、生成、复盘和保留动作串起来，可以较快验证 AI 对会员增长与留存的业务价值。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该场景聚焦会员运营负责人最关心的三段链路：重点客群识别、营销内容落地和流失干预。先通过一个统一工作台把洞察、生成、复盘和保留动作串起来，可以较快验证 AI 对会员增长与留存的业务价值。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解决方案架构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原型与 MVP 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688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68880" cy="6858000"/>
          </a:xfrm>
          <a:prstGeom prst="rect">
            <a:avLst/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32520" y="502920"/>
            <a:ext cx="1920240" cy="493776"/>
          </a:xfrm>
          <a:prstGeom prst="round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804672"/>
            <a:ext cx="7863840" cy="475488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94192" y="896112"/>
            <a:ext cx="1847088" cy="384048"/>
          </a:xfrm>
          <a:prstGeom prst="roundRect">
            <a:avLst>
              <a:gd name="adj" fmla="val 6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0496" y="987552"/>
            <a:ext cx="15544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A63A2B"/>
                </a:solidFill>
                <a:latin typeface="Arial"/>
              </a:rPr>
              <a:t>AI Discovery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024128"/>
            <a:ext cx="6858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7D75"/>
                </a:solidFill>
                <a:latin typeface="Microsoft YaHei"/>
              </a:rPr>
              <a:t>客户：某零售品牌现场 Demo | 行业：跨界电商 · 第 2 组 · 日期 2026-05-17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1389888"/>
            <a:ext cx="681228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A63A2B"/>
                </a:solidFill>
                <a:latin typeface="Microsoft YaHei"/>
              </a:rPr>
              <a:t>会员生命周期运营增长与流失预警闭环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23744"/>
            <a:ext cx="5852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8A7D75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0672" y="2926080"/>
            <a:ext cx="6894576" cy="896112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3163824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让会员运营团队从多系统切换和人工拼装，转向在一个工作台里完成洞察、生成、复盘和干预。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90672" y="4133087"/>
            <a:ext cx="3840480" cy="658368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5264" y="4215383"/>
            <a:ext cx="3511296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7D75"/>
                </a:solidFill>
                <a:latin typeface="Arial"/>
              </a:rPr>
              <a:t>客户与行业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4379975"/>
            <a:ext cx="35112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E433D"/>
                </a:solidFill>
                <a:latin typeface="Microsoft YaHei"/>
              </a:rPr>
              <a:t>客户：某零售品牌现场 Demo | 行业：跨界电商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4032" y="4133087"/>
            <a:ext cx="2633472" cy="658368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624" y="4215383"/>
            <a:ext cx="230428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7D75"/>
                </a:solidFill>
                <a:latin typeface="Arial"/>
              </a:rPr>
              <a:t>小组与日期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4379975"/>
            <a:ext cx="230428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E433D"/>
                </a:solidFill>
                <a:latin typeface="Microsoft YaHei"/>
              </a:rPr>
              <a:t>小组：第 2 组 · 日期：2026-05-17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1. 运营团队汇总会员画像、历史活动结果和渠道反馈，人工识别重点客群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2. 基于经验制定活动主题、内容方向和触达策略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3. 人工生成营销文案、活动配图和页面内容，并反复协调修改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4. 活动上线后再人工汇总经营数据做效果复盘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1. 会员洞察、内容生产和活动执行链路长，经营响应速度慢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2. 活动落地依赖多人协同与人工反复修改，内容生产效率低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4E433D"/>
                </a:solidFill>
                <a:latin typeface="Microsoft YaHei"/>
              </a:rPr>
              <a:t>3. 流失预警与保留动作滞后，复盘结果难以及时回流到下一轮运营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优先切口：会员洞察、内容生产和活动执行链路长，经营响应速度慢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4767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5856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4E433D"/>
                </a:solidFill>
                <a:latin typeface="Microsoft YaHei"/>
              </a:rPr>
              <a:t>对跨界电商会员运营来说，最值得优先验证的机会是把客户洞察、内容生成和保留动作收敛到一个统一工作台中，直接提升增长与留存效率。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41071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72160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4E433D"/>
                </a:solidFill>
                <a:latin typeface="Microsoft YaHei"/>
              </a:rPr>
              <a:t>会员数据、活动数据和内容资产已经具备数字化基础，但关键判断和执行仍依赖人工串联，正适合用 AI 先跑通一条高价值闭环。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87375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18464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4E433D"/>
                </a:solidFill>
                <a:latin typeface="Microsoft YaHei"/>
              </a:rPr>
              <a:t>会员分层和重点客群识别分散在多个系统中，运营团队难以快速形成一致判断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1920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了解客户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个性化营销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简化数据分析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预测客户流失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1136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生成或增强文本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03320" y="4809744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77056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5072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从文本生成图像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477256" y="4809744"/>
            <a:ext cx="237744" cy="237744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50992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79007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E433D"/>
                </a:solidFill>
                <a:latin typeface="Microsoft YaHei"/>
              </a:rPr>
              <a:t>创建动态网页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会员运营团队准备发起新一轮面向重点客群的增长活动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核心流程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9576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3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1. 系统读取会员画像、活动结果、渠道反馈和生命周期行为数据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00476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19932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47948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1956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6236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2. AI 识别高价值会员、潜在流失会员和本轮活动机会点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68849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88305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16321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80329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609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3. AI 自动生成营销文案、活动配图和页面草稿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37222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56678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84694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8702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2982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4. 系统汇总活动表现并输出复盘分析与下一轮优化建议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105595" y="3886200"/>
            <a:ext cx="219456" cy="201168"/>
          </a:xfrm>
          <a:prstGeom prst="right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25051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53067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7075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1355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4E433D"/>
                </a:solidFill>
                <a:latin typeface="Microsoft YaHei"/>
              </a:rPr>
              <a:t>5. 针对高流失风险会员触发保留建议和重点跟进动作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596128"/>
            <a:ext cx="10469880" cy="658368"/>
          </a:xfrm>
          <a:prstGeom prst="roundRect">
            <a:avLst>
              <a:gd name="adj" fmla="val 10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74243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715000"/>
            <a:ext cx="818387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1">
                <a:solidFill>
                  <a:srgbClr val="FFFFFF"/>
                </a:solidFill>
                <a:latin typeface="Microsoft YaHei"/>
              </a:rPr>
              <a:t>形成从客户洞察、内容生成、活动执行、效果复盘到流失干预的会员增长闭环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解决方案架构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00784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FFFFFF"/>
                </a:solidFill>
                <a:latin typeface="Microsoft YaHei"/>
              </a:rPr>
              <a:t>闭环目标：形成从客户洞察、内容生成、活动执行、效果复盘到流失干预的会员增长闭环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10469880" cy="342900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889504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会员生命周期运营增长与流失预警闭环</a:t>
            </a:r>
          </a:p>
        </p:txBody>
      </p:sp>
      <p:sp>
        <p:nvSpPr>
          <p:cNvPr id="9" name="Oval 8"/>
          <p:cNvSpPr/>
          <p:nvPr/>
        </p:nvSpPr>
        <p:spPr>
          <a:xfrm>
            <a:off x="1078992" y="3355848"/>
            <a:ext cx="384048" cy="384048"/>
          </a:xfrm>
          <a:prstGeom prst="ellipse">
            <a:avLst/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424427"/>
            <a:ext cx="274320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72768" y="3246120"/>
            <a:ext cx="2011680" cy="585216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3401568"/>
            <a:ext cx="16002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Microsoft YaHei"/>
              </a:rPr>
              <a:t>1. 展示层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3246120"/>
            <a:ext cx="6382512" cy="585216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5072" y="3355848"/>
            <a:ext cx="5925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E433D"/>
                </a:solidFill>
                <a:latin typeface="Microsoft YaHei"/>
              </a:rPr>
              <a:t>页面壳子、看板卡片、列表表格、详情抽屉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79592" y="3822191"/>
            <a:ext cx="274320" cy="164592"/>
          </a:xfrm>
          <a:prstGeom prst="down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8992" y="4251960"/>
            <a:ext cx="384048" cy="384048"/>
          </a:xfrm>
          <a:prstGeom prst="ellipse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320540"/>
            <a:ext cx="274320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4142232"/>
            <a:ext cx="2011680" cy="585216"/>
          </a:xfrm>
          <a:prstGeom prst="roundRect">
            <a:avLst>
              <a:gd name="adj" fmla="val 10000"/>
            </a:avLst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3936" y="4297680"/>
            <a:ext cx="16002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Microsoft YaHei"/>
              </a:rPr>
              <a:t>2. 交互层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67328" y="4142232"/>
            <a:ext cx="6382512" cy="585216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5072" y="4251960"/>
            <a:ext cx="5925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E433D"/>
                </a:solidFill>
                <a:latin typeface="Microsoft YaHei"/>
              </a:rPr>
              <a:t>筛选切换、建议查看、动作触发、结果回看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79592" y="4718304"/>
            <a:ext cx="274320" cy="164592"/>
          </a:xfrm>
          <a:prstGeom prst="downArrow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5148072"/>
            <a:ext cx="384048" cy="384048"/>
          </a:xfrm>
          <a:prstGeom prst="ellipse">
            <a:avLst/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216652"/>
            <a:ext cx="274320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72768" y="5038344"/>
            <a:ext cx="2011680" cy="585216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3936" y="5193792"/>
            <a:ext cx="16002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Microsoft YaHei"/>
              </a:rPr>
              <a:t>3. 数据层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67328" y="5038344"/>
            <a:ext cx="6382512" cy="585216"/>
          </a:xfrm>
          <a:prstGeom prst="roundRect">
            <a:avLst>
              <a:gd name="adj" fmla="val 10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5072" y="5148072"/>
            <a:ext cx="59253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E433D"/>
                </a:solidFill>
                <a:latin typeface="Microsoft YaHei"/>
              </a:rPr>
              <a:t>样例数据、页面状态配置、Mock 接口返回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6355080"/>
            <a:ext cx="10469880" cy="82296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655624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产品栈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93392" y="6528816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84832" y="6629400"/>
            <a:ext cx="1874519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4E433D"/>
                </a:solidFill>
                <a:latin typeface="Microsoft YaHei"/>
              </a:rPr>
              <a:t>Dynamics 365 Customer Insights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15384" y="6528816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6824" y="6629400"/>
            <a:ext cx="1874519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4E433D"/>
                </a:solidFill>
                <a:latin typeface="Microsoft YaHei"/>
              </a:rPr>
              <a:t>Microsoft Fabric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37376" y="6528816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F6F1EC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6629400"/>
            <a:ext cx="1874519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4E433D"/>
                </a:solidFill>
                <a:latin typeface="Microsoft YaHei"/>
              </a:rPr>
              <a:t>Azure OpenAI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59368" y="6528816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0808" y="6629400"/>
            <a:ext cx="1874519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0">
                <a:solidFill>
                  <a:srgbClr val="4E433D"/>
                </a:solidFill>
                <a:latin typeface="Microsoft YaHei"/>
              </a:rPr>
              <a:t>Azure AI Foundry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4E433D"/>
                </a:solidFill>
                <a:latin typeface="Microsoft YaHei"/>
              </a:rPr>
              <a:t>会员画像与客群洞察 -&gt; Dynamics 365 Customer Insights, Microsoft Fabric | 交付：会员分层、生命周期洞察与重点客群识别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4E433D"/>
                </a:solidFill>
                <a:latin typeface="Microsoft YaHei"/>
              </a:rPr>
              <a:t>营销内容、配图与活动页面生成 -&gt; Azure OpenAI, Azure AI Foundry, Power Pages | 交付：文案生成、视觉素材生成与活动页面原型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4E433D"/>
                </a:solidFill>
                <a:latin typeface="Microsoft YaHei"/>
              </a:rPr>
              <a:t>活动复盘与流失预警联动 -&gt; Microsoft Fabric, Power BI, Power Automate | 交付：经营分析、风险预警与后续保留动作建议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优先产品栈：Dynamics 365 Customer Insights / Microsoft Fabric / Azure OpenAI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现场交付物：Workshop 定制化方案 PPT / 会员增长与保留运营工作台原型建议 / POC 验证范围与里程碑建议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缩短从会员洞察到活动上线的准备周期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提升营销内容、页面和素材的生产效率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让活动复盘结果更快回流到下一轮增长动作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更早识别高流失风险会员并启动保留干预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活动准备周期缩短 40%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营销内容生产效率提升 50%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活动复盘输出时间缩短 60%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高流失风险会员识别准确率达到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1. 会员分层和流失判断的业务可解释性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2. 营销文案、配图和页面草稿的可用性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E433D"/>
                </a:solidFill>
                <a:latin typeface="Microsoft YaHei"/>
              </a:rPr>
              <a:t>3. 活动复盘结果对下一轮运营动作的指导价值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原型与 MVP 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909560" cy="169164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原型摘要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59152"/>
            <a:ext cx="7269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20" b="0">
                <a:solidFill>
                  <a:srgbClr val="4E433D"/>
                </a:solidFill>
                <a:latin typeface="Microsoft YaHei"/>
              </a:rPr>
              <a:t>会员增长与保留运营工作台；目标用户：会员运营负责人</a:t>
            </a:r>
          </a:p>
          <a:p>
            <a:pPr algn="l">
              <a:spcAft>
                <a:spcPts val="600"/>
              </a:spcAft>
            </a:pPr>
            <a:r>
              <a:rPr sz="1220" b="0">
                <a:solidFill>
                  <a:srgbClr val="4E433D"/>
                </a:solidFill>
                <a:latin typeface="Microsoft YaHei"/>
              </a:rPr>
              <a:t>会员增长与保留运营工作台；目标：把会员洞察、营销内容生成、活动复盘和保留动作集中到一个可操作的工作台中</a:t>
            </a:r>
          </a:p>
          <a:p>
            <a:pPr algn="l">
              <a:spcAft>
                <a:spcPts val="600"/>
              </a:spcAft>
            </a:pPr>
            <a:r>
              <a:rPr sz="1220" b="0">
                <a:solidFill>
                  <a:srgbClr val="4E433D"/>
                </a:solidFill>
                <a:latin typeface="Microsoft YaHei"/>
              </a:rPr>
              <a:t>前端壳子优先；核心任务：查看重点会员客群并联动营销内容与保留动作；技术栈：Next.js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67328"/>
            <a:ext cx="3822191" cy="233172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959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MVP 页面范围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89120"/>
            <a:ext cx="3291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1. 会员经营总览页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2. 客群洞察与分层页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3. 营销内容与活动页面生成页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4. 流失预警与保留动作页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0328" y="3767328"/>
            <a:ext cx="3822191" cy="233172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39959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4389120"/>
            <a:ext cx="3291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1. 确认一个重点会员客群和一类核心营销活动作为试点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2. 准备会员画像、历史活动结果和流失样本数据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3. 两周内完成工作台演示原型与验证口径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4E433D"/>
                </a:solidFill>
                <a:latin typeface="Microsoft YaHei"/>
              </a:rPr>
              <a:t>4. 基于方案设计文档快速搭建静态页面和样例数据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828800"/>
            <a:ext cx="21031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D9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A63A2B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A6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优先验证会员洞察、营销内容生成、活动复盘和流失预警四段闭环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3886200" cy="3383280"/>
          </a:xfrm>
          <a:prstGeom prst="roundRect">
            <a:avLst>
              <a:gd name="adj" fmla="val 10000"/>
            </a:avLst>
          </a:prstGeom>
          <a:solidFill>
            <a:srgbClr val="FBF7F3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会员运营负责人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CRM 运营团队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电商业务负责人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数据与数字化团队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743200"/>
            <a:ext cx="3886200" cy="3383280"/>
          </a:xfrm>
          <a:prstGeom prst="roundRect">
            <a:avLst>
              <a:gd name="adj" fmla="val 10000"/>
            </a:avLst>
          </a:prstGeom>
          <a:solidFill>
            <a:srgbClr val="F3E7DE"/>
          </a:solidFill>
          <a:ln w="10160">
            <a:solidFill>
              <a:srgbClr val="DC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971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A63A2B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4747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1. 确认一个重点会员客群和一类核心营销活动作为试点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2. 准备会员画像、历史活动结果和流失样本数据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4E433D"/>
                </a:solidFill>
                <a:latin typeface="Microsoft YaHei"/>
              </a:rPr>
              <a:t>3. 两周内完成工作台演示原型与验证口径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743200"/>
            <a:ext cx="1965960" cy="3383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