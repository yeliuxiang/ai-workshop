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会员生命周期运营增长与流失预警闭环</a:t>
            </a:r>
          </a:p>
          <a:p>
            <a:r>
              <a:t>- 该场景聚焦会员运营负责人最关心的三段能力：识别重点客群、加速内容与活动落地、提前发现并干预流失风险。以工作台方式承载 AI Flow，能够在较短周期内直观看到增长效率与客户保留的联动价值。</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当前差距与优先痛点</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业务机会与 Why Now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客户现场卡片流程</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目标 AI Flow</a:t>
            </a:r>
          </a:p>
          <a:p>
            <a:r>
              <a:t>- 该场景聚焦会员运营负责人最关心的三段能力：识别重点客群、加速内容与活动落地、提前发现并干预流失风险。以工作台方式承载 AI Flow，能够在较短周期内直观看到增长效率与客户保留的联动价值。</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解决方案架构</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能力映射与交付物</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业务价值与验证假设</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原型与 MVP 设计</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POC 与下一步</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1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2468880" cy="6858000"/>
          </a:xfrm>
          <a:prstGeom prst="rect">
            <a:avLst/>
          </a:prstGeom>
        </p:spPr>
      </p:pic>
      <p:sp>
        <p:nvSpPr>
          <p:cNvPr id="3" name="Rectangle 2"/>
          <p:cNvSpPr/>
          <p:nvPr/>
        </p:nvSpPr>
        <p:spPr>
          <a:xfrm>
            <a:off x="0" y="0"/>
            <a:ext cx="2468880" cy="6858000"/>
          </a:xfrm>
          <a:prstGeom prst="rect">
            <a:avLst/>
          </a:prstGeom>
          <a:solidFill>
            <a:srgbClr val="A63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732520" y="502920"/>
            <a:ext cx="1920240" cy="493776"/>
          </a:xfrm>
          <a:prstGeom prst="roundRect">
            <a:avLst/>
          </a:prstGeom>
          <a:solidFill>
            <a:srgbClr val="F3E7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743200" y="804672"/>
            <a:ext cx="7863840" cy="4754880"/>
          </a:xfrm>
          <a:prstGeom prst="roundRect">
            <a:avLst>
              <a:gd name="adj" fmla="val 10000"/>
            </a:avLst>
          </a:prstGeom>
          <a:solidFill>
            <a:srgbClr val="FBF7F3"/>
          </a:solidFill>
          <a:ln w="10160">
            <a:solidFill>
              <a:srgbClr val="DCCB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394192" y="896112"/>
            <a:ext cx="1847088" cy="384048"/>
          </a:xfrm>
          <a:prstGeom prst="roundRect">
            <a:avLst>
              <a:gd name="adj" fmla="val 6000"/>
            </a:avLst>
          </a:prstGeom>
          <a:solidFill>
            <a:srgbClr val="F6F1EC"/>
          </a:solidFill>
          <a:ln w="10160">
            <a:solidFill>
              <a:srgbClr val="DCCB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40496" y="987552"/>
            <a:ext cx="1554480" cy="146304"/>
          </a:xfrm>
          <a:prstGeom prst="rect">
            <a:avLst/>
          </a:prstGeom>
          <a:noFill/>
        </p:spPr>
        <p:txBody>
          <a:bodyPr wrap="square" anchor="ctr">
            <a:spAutoFit/>
          </a:bodyPr>
          <a:lstStyle/>
          <a:p>
            <a:pPr algn="ctr">
              <a:spcAft>
                <a:spcPts val="0"/>
              </a:spcAft>
            </a:pPr>
            <a:r>
              <a:rPr sz="860" b="1">
                <a:solidFill>
                  <a:srgbClr val="A63A2B"/>
                </a:solidFill>
                <a:latin typeface="Arial"/>
              </a:rPr>
              <a:t>AI Discovery Workshop</a:t>
            </a:r>
          </a:p>
        </p:txBody>
      </p:sp>
      <p:sp>
        <p:nvSpPr>
          <p:cNvPr id="8" name="TextBox 7"/>
          <p:cNvSpPr txBox="1"/>
          <p:nvPr/>
        </p:nvSpPr>
        <p:spPr>
          <a:xfrm>
            <a:off x="3090672" y="1024128"/>
            <a:ext cx="6858000" cy="256032"/>
          </a:xfrm>
          <a:prstGeom prst="rect">
            <a:avLst/>
          </a:prstGeom>
          <a:noFill/>
        </p:spPr>
        <p:txBody>
          <a:bodyPr wrap="square" anchor="ctr">
            <a:spAutoFit/>
          </a:bodyPr>
          <a:lstStyle/>
          <a:p>
            <a:pPr algn="l">
              <a:spcAft>
                <a:spcPts val="0"/>
              </a:spcAft>
            </a:pPr>
            <a:r>
              <a:rPr sz="1050" b="0">
                <a:solidFill>
                  <a:srgbClr val="8A7D75"/>
                </a:solidFill>
                <a:latin typeface="Microsoft YaHei"/>
              </a:rPr>
              <a:t>客户：某零售品牌现场 Demo | 行业：跨界电商 · 第 2 组 · 日期 2026-05-17</a:t>
            </a:r>
          </a:p>
        </p:txBody>
      </p:sp>
      <p:sp>
        <p:nvSpPr>
          <p:cNvPr id="9" name="TextBox 8"/>
          <p:cNvSpPr txBox="1"/>
          <p:nvPr/>
        </p:nvSpPr>
        <p:spPr>
          <a:xfrm>
            <a:off x="3090672" y="1389888"/>
            <a:ext cx="6812280" cy="1207008"/>
          </a:xfrm>
          <a:prstGeom prst="rect">
            <a:avLst/>
          </a:prstGeom>
          <a:noFill/>
        </p:spPr>
        <p:txBody>
          <a:bodyPr wrap="square" anchor="t">
            <a:spAutoFit/>
          </a:bodyPr>
          <a:lstStyle/>
          <a:p>
            <a:pPr algn="l">
              <a:spcAft>
                <a:spcPts val="0"/>
              </a:spcAft>
            </a:pPr>
            <a:r>
              <a:rPr sz="3000" b="1">
                <a:solidFill>
                  <a:srgbClr val="A63A2B"/>
                </a:solidFill>
                <a:latin typeface="Microsoft YaHei"/>
              </a:rPr>
              <a:t>会员生命周期运营增长与流失预警闭环</a:t>
            </a:r>
          </a:p>
        </p:txBody>
      </p:sp>
      <p:sp>
        <p:nvSpPr>
          <p:cNvPr id="10" name="TextBox 9"/>
          <p:cNvSpPr txBox="1"/>
          <p:nvPr/>
        </p:nvSpPr>
        <p:spPr>
          <a:xfrm>
            <a:off x="3108960" y="2523744"/>
            <a:ext cx="5852160" cy="310896"/>
          </a:xfrm>
          <a:prstGeom prst="rect">
            <a:avLst/>
          </a:prstGeom>
          <a:noFill/>
        </p:spPr>
        <p:txBody>
          <a:bodyPr wrap="square" anchor="ctr">
            <a:spAutoFit/>
          </a:bodyPr>
          <a:lstStyle/>
          <a:p>
            <a:pPr algn="l">
              <a:spcAft>
                <a:spcPts val="600"/>
              </a:spcAft>
            </a:pPr>
            <a:r>
              <a:rPr sz="1150" b="0">
                <a:solidFill>
                  <a:srgbClr val="8A7D75"/>
                </a:solidFill>
                <a:latin typeface="Microsoft YaHei"/>
              </a:rPr>
              <a:t>AI Discovery Workshop 商机与原型方案</a:t>
            </a:r>
          </a:p>
        </p:txBody>
      </p:sp>
      <p:sp>
        <p:nvSpPr>
          <p:cNvPr id="11" name="Rounded Rectangle 10"/>
          <p:cNvSpPr/>
          <p:nvPr/>
        </p:nvSpPr>
        <p:spPr>
          <a:xfrm>
            <a:off x="3090672" y="2926080"/>
            <a:ext cx="6894576" cy="896112"/>
          </a:xfrm>
          <a:prstGeom prst="roundRect">
            <a:avLst>
              <a:gd name="adj" fmla="val 10000"/>
            </a:avLst>
          </a:prstGeom>
          <a:solidFill>
            <a:srgbClr val="F3E7DE"/>
          </a:solidFill>
          <a:ln w="10160">
            <a:solidFill>
              <a:srgbClr val="DCCB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10128" y="3163824"/>
            <a:ext cx="6446520" cy="329184"/>
          </a:xfrm>
          <a:prstGeom prst="rect">
            <a:avLst/>
          </a:prstGeom>
          <a:noFill/>
        </p:spPr>
        <p:txBody>
          <a:bodyPr wrap="square" anchor="ctr">
            <a:spAutoFit/>
          </a:bodyPr>
          <a:lstStyle/>
          <a:p>
            <a:pPr algn="l">
              <a:spcAft>
                <a:spcPts val="0"/>
              </a:spcAft>
            </a:pPr>
            <a:r>
              <a:rPr sz="1400" b="0">
                <a:solidFill>
                  <a:srgbClr val="4E433D"/>
                </a:solidFill>
                <a:latin typeface="Microsoft YaHei"/>
              </a:rPr>
              <a:t>让会员运营团队从多系统切换和人工拼装，转向在一个工作台里完成洞察、生成、复盘和保留联动。</a:t>
            </a:r>
          </a:p>
        </p:txBody>
      </p:sp>
      <p:sp>
        <p:nvSpPr>
          <p:cNvPr id="13" name="Rounded Rectangle 12"/>
          <p:cNvSpPr/>
          <p:nvPr/>
        </p:nvSpPr>
        <p:spPr>
          <a:xfrm>
            <a:off x="3090672" y="4133087"/>
            <a:ext cx="3840480" cy="658368"/>
          </a:xfrm>
          <a:prstGeom prst="roundRect">
            <a:avLst>
              <a:gd name="adj" fmla="val 10000"/>
            </a:avLst>
          </a:prstGeom>
          <a:solidFill>
            <a:srgbClr val="F3E7DE"/>
          </a:solidFill>
          <a:ln w="10160">
            <a:solidFill>
              <a:srgbClr val="DCCB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55264" y="4215383"/>
            <a:ext cx="3511296" cy="128016"/>
          </a:xfrm>
          <a:prstGeom prst="rect">
            <a:avLst/>
          </a:prstGeom>
          <a:noFill/>
        </p:spPr>
        <p:txBody>
          <a:bodyPr wrap="square" anchor="ctr">
            <a:spAutoFit/>
          </a:bodyPr>
          <a:lstStyle/>
          <a:p>
            <a:pPr algn="l">
              <a:spcAft>
                <a:spcPts val="0"/>
              </a:spcAft>
            </a:pPr>
            <a:r>
              <a:rPr sz="850" b="0">
                <a:solidFill>
                  <a:srgbClr val="8A7D75"/>
                </a:solidFill>
                <a:latin typeface="Arial"/>
              </a:rPr>
              <a:t>客户与行业</a:t>
            </a:r>
          </a:p>
        </p:txBody>
      </p:sp>
      <p:sp>
        <p:nvSpPr>
          <p:cNvPr id="15" name="TextBox 14"/>
          <p:cNvSpPr txBox="1"/>
          <p:nvPr/>
        </p:nvSpPr>
        <p:spPr>
          <a:xfrm>
            <a:off x="3255264" y="4379975"/>
            <a:ext cx="3511296" cy="237744"/>
          </a:xfrm>
          <a:prstGeom prst="rect">
            <a:avLst/>
          </a:prstGeom>
          <a:noFill/>
        </p:spPr>
        <p:txBody>
          <a:bodyPr wrap="square" anchor="ctr">
            <a:spAutoFit/>
          </a:bodyPr>
          <a:lstStyle/>
          <a:p>
            <a:pPr algn="l">
              <a:spcAft>
                <a:spcPts val="0"/>
              </a:spcAft>
            </a:pPr>
            <a:r>
              <a:rPr sz="1000" b="0">
                <a:solidFill>
                  <a:srgbClr val="4E433D"/>
                </a:solidFill>
                <a:latin typeface="Microsoft YaHei"/>
              </a:rPr>
              <a:t>客户：某零售品牌现场 Demo | 行业：跨界电商</a:t>
            </a:r>
          </a:p>
        </p:txBody>
      </p:sp>
      <p:sp>
        <p:nvSpPr>
          <p:cNvPr id="16" name="Rounded Rectangle 15"/>
          <p:cNvSpPr/>
          <p:nvPr/>
        </p:nvSpPr>
        <p:spPr>
          <a:xfrm>
            <a:off x="7114032" y="4133087"/>
            <a:ext cx="2633472" cy="658368"/>
          </a:xfrm>
          <a:prstGeom prst="roundRect">
            <a:avLst>
              <a:gd name="adj" fmla="val 10000"/>
            </a:avLst>
          </a:prstGeom>
          <a:solidFill>
            <a:srgbClr val="F3E7DE"/>
          </a:solidFill>
          <a:ln w="10160">
            <a:solidFill>
              <a:srgbClr val="DCCB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78624" y="4215383"/>
            <a:ext cx="2304288" cy="128016"/>
          </a:xfrm>
          <a:prstGeom prst="rect">
            <a:avLst/>
          </a:prstGeom>
          <a:noFill/>
        </p:spPr>
        <p:txBody>
          <a:bodyPr wrap="square" anchor="ctr">
            <a:spAutoFit/>
          </a:bodyPr>
          <a:lstStyle/>
          <a:p>
            <a:pPr algn="l">
              <a:spcAft>
                <a:spcPts val="0"/>
              </a:spcAft>
            </a:pPr>
            <a:r>
              <a:rPr sz="850" b="0">
                <a:solidFill>
                  <a:srgbClr val="8A7D75"/>
                </a:solidFill>
                <a:latin typeface="Arial"/>
              </a:rPr>
              <a:t>小组与日期</a:t>
            </a:r>
          </a:p>
        </p:txBody>
      </p:sp>
      <p:sp>
        <p:nvSpPr>
          <p:cNvPr id="18" name="TextBox 17"/>
          <p:cNvSpPr txBox="1"/>
          <p:nvPr/>
        </p:nvSpPr>
        <p:spPr>
          <a:xfrm>
            <a:off x="7278624" y="4379975"/>
            <a:ext cx="2304288" cy="237744"/>
          </a:xfrm>
          <a:prstGeom prst="rect">
            <a:avLst/>
          </a:prstGeom>
          <a:noFill/>
        </p:spPr>
        <p:txBody>
          <a:bodyPr wrap="square" anchor="ctr">
            <a:spAutoFit/>
          </a:bodyPr>
          <a:lstStyle/>
          <a:p>
            <a:pPr algn="l">
              <a:spcAft>
                <a:spcPts val="0"/>
              </a:spcAft>
            </a:pPr>
            <a:r>
              <a:rPr sz="1000" b="0">
                <a:solidFill>
                  <a:srgbClr val="4E433D"/>
                </a:solidFill>
                <a:latin typeface="Microsoft YaHei"/>
              </a:rPr>
              <a:t>小组：第 2 组 · 日期：2026-05-17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1EC"/>
        </a:solidFill>
        <a:effectLst/>
      </p:bgPr>
    </p:bg>
    <p:spTree>
      <p:nvGrpSpPr>
        <p:cNvPr id="1" name=""/>
        <p:cNvGrpSpPr/>
        <p:nvPr/>
      </p:nvGrpSpPr>
      <p:grpSpPr/>
      <p:sp>
        <p:nvSpPr>
          <p:cNvPr id="2" name="Rectangle 1"/>
          <p:cNvSpPr/>
          <p:nvPr/>
        </p:nvSpPr>
        <p:spPr>
          <a:xfrm>
            <a:off x="548640" y="502920"/>
            <a:ext cx="109728" cy="822960"/>
          </a:xfrm>
          <a:prstGeom prst="rect">
            <a:avLst/>
          </a:prstGeom>
          <a:solidFill>
            <a:srgbClr val="D97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8046720" cy="640080"/>
          </a:xfrm>
          <a:prstGeom prst="rect">
            <a:avLst/>
          </a:prstGeom>
          <a:noFill/>
        </p:spPr>
        <p:txBody>
          <a:bodyPr wrap="square" anchor="t">
            <a:spAutoFit/>
          </a:bodyPr>
          <a:lstStyle/>
          <a:p>
            <a:pPr algn="l">
              <a:spcAft>
                <a:spcPts val="0"/>
              </a:spcAft>
            </a:pPr>
            <a:r>
              <a:rPr sz="2400" b="1">
                <a:solidFill>
                  <a:srgbClr val="A63A2B"/>
                </a:solidFill>
                <a:latin typeface="Microsoft YaHei"/>
              </a:rPr>
              <a:t>当前差距与优先痛点</a:t>
            </a:r>
          </a:p>
        </p:txBody>
      </p:sp>
      <p:sp>
        <p:nvSpPr>
          <p:cNvPr id="4" name="Rectangle 3"/>
          <p:cNvSpPr/>
          <p:nvPr/>
        </p:nvSpPr>
        <p:spPr>
          <a:xfrm>
            <a:off x="822960" y="1325880"/>
            <a:ext cx="10515600" cy="27432"/>
          </a:xfrm>
          <a:prstGeom prst="rect">
            <a:avLst/>
          </a:prstGeom>
          <a:solidFill>
            <a:srgbClr val="F3E7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2960" y="1737360"/>
            <a:ext cx="5074920" cy="4389120"/>
          </a:xfrm>
          <a:prstGeom prst="roundRect">
            <a:avLst>
              <a:gd name="adj" fmla="val 10000"/>
            </a:avLst>
          </a:prstGeom>
          <a:solidFill>
            <a:srgbClr val="FBF7F3"/>
          </a:solidFill>
          <a:ln w="10160">
            <a:solidFill>
              <a:srgbClr val="DCCB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 y="1965960"/>
            <a:ext cx="4434840" cy="274320"/>
          </a:xfrm>
          <a:prstGeom prst="rect">
            <a:avLst/>
          </a:prstGeom>
          <a:noFill/>
        </p:spPr>
        <p:txBody>
          <a:bodyPr wrap="square" anchor="t">
            <a:spAutoFit/>
          </a:bodyPr>
          <a:lstStyle/>
          <a:p>
            <a:pPr algn="l">
              <a:spcAft>
                <a:spcPts val="0"/>
              </a:spcAft>
            </a:pPr>
            <a:r>
              <a:rPr sz="1650" b="1">
                <a:solidFill>
                  <a:srgbClr val="A63A2B"/>
                </a:solidFill>
                <a:latin typeface="Microsoft YaHei"/>
              </a:rPr>
              <a:t>现状流程</a:t>
            </a:r>
          </a:p>
        </p:txBody>
      </p:sp>
      <p:sp>
        <p:nvSpPr>
          <p:cNvPr id="7" name="TextBox 6"/>
          <p:cNvSpPr txBox="1"/>
          <p:nvPr/>
        </p:nvSpPr>
        <p:spPr>
          <a:xfrm>
            <a:off x="1097280" y="2468880"/>
            <a:ext cx="4526280" cy="3154680"/>
          </a:xfrm>
          <a:prstGeom prst="rect">
            <a:avLst/>
          </a:prstGeom>
          <a:noFill/>
        </p:spPr>
        <p:txBody>
          <a:bodyPr wrap="square" anchor="t">
            <a:spAutoFit/>
          </a:bodyPr>
          <a:lstStyle/>
          <a:p>
            <a:pPr algn="l">
              <a:spcAft>
                <a:spcPts val="800"/>
              </a:spcAft>
            </a:pPr>
            <a:r>
              <a:rPr sz="1450" b="0">
                <a:solidFill>
                  <a:srgbClr val="4E433D"/>
                </a:solidFill>
                <a:latin typeface="Microsoft YaHei"/>
              </a:rPr>
              <a:t>1. 运营团队汇总会员画像、历史活动结果和渠道反馈，识别重点客群与运营机会</a:t>
            </a:r>
          </a:p>
          <a:p>
            <a:pPr algn="l">
              <a:spcAft>
                <a:spcPts val="800"/>
              </a:spcAft>
            </a:pPr>
            <a:r>
              <a:rPr sz="1450" b="0">
                <a:solidFill>
                  <a:srgbClr val="4E433D"/>
                </a:solidFill>
                <a:latin typeface="Microsoft YaHei"/>
              </a:rPr>
              <a:t>2. 基于人工经验制定会员分层策略、营销主题和活动方向</a:t>
            </a:r>
          </a:p>
          <a:p>
            <a:pPr algn="l">
              <a:spcAft>
                <a:spcPts val="800"/>
              </a:spcAft>
            </a:pPr>
            <a:r>
              <a:rPr sz="1450" b="0">
                <a:solidFill>
                  <a:srgbClr val="4E433D"/>
                </a:solidFill>
                <a:latin typeface="Microsoft YaHei"/>
              </a:rPr>
              <a:t>3. 分别组织文案、配图和活动页面内容，跨团队反复协调修改</a:t>
            </a:r>
          </a:p>
          <a:p>
            <a:pPr algn="l">
              <a:spcAft>
                <a:spcPts val="800"/>
              </a:spcAft>
            </a:pPr>
            <a:r>
              <a:rPr sz="1450" b="0">
                <a:solidFill>
                  <a:srgbClr val="4E433D"/>
                </a:solidFill>
                <a:latin typeface="Microsoft YaHei"/>
              </a:rPr>
              <a:t>4. 活动上线后再人工整理数据做效果复盘与客群分析</a:t>
            </a:r>
          </a:p>
        </p:txBody>
      </p:sp>
      <p:sp>
        <p:nvSpPr>
          <p:cNvPr id="8" name="Rounded Rectangle 7"/>
          <p:cNvSpPr/>
          <p:nvPr/>
        </p:nvSpPr>
        <p:spPr>
          <a:xfrm>
            <a:off x="6172200" y="1737360"/>
            <a:ext cx="5120640" cy="3017520"/>
          </a:xfrm>
          <a:prstGeom prst="roundRect">
            <a:avLst>
              <a:gd name="adj" fmla="val 10000"/>
            </a:avLst>
          </a:prstGeom>
          <a:solidFill>
            <a:srgbClr val="F3E7DE"/>
          </a:solidFill>
          <a:ln w="10160">
            <a:solidFill>
              <a:srgbClr val="DCCB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1965960"/>
            <a:ext cx="4480560" cy="274320"/>
          </a:xfrm>
          <a:prstGeom prst="rect">
            <a:avLst/>
          </a:prstGeom>
          <a:noFill/>
        </p:spPr>
        <p:txBody>
          <a:bodyPr wrap="square" anchor="t">
            <a:spAutoFit/>
          </a:bodyPr>
          <a:lstStyle/>
          <a:p>
            <a:pPr algn="l">
              <a:spcAft>
                <a:spcPts val="0"/>
              </a:spcAft>
            </a:pPr>
            <a:r>
              <a:rPr sz="1650" b="1">
                <a:solidFill>
                  <a:srgbClr val="A63A2B"/>
                </a:solidFill>
                <a:latin typeface="Microsoft YaHei"/>
              </a:rPr>
              <a:t>关键痛点</a:t>
            </a:r>
          </a:p>
        </p:txBody>
      </p:sp>
      <p:sp>
        <p:nvSpPr>
          <p:cNvPr id="10" name="TextBox 9"/>
          <p:cNvSpPr txBox="1"/>
          <p:nvPr/>
        </p:nvSpPr>
        <p:spPr>
          <a:xfrm>
            <a:off x="6400800" y="2450592"/>
            <a:ext cx="4572000" cy="1783080"/>
          </a:xfrm>
          <a:prstGeom prst="rect">
            <a:avLst/>
          </a:prstGeom>
          <a:noFill/>
        </p:spPr>
        <p:txBody>
          <a:bodyPr wrap="square" anchor="t">
            <a:spAutoFit/>
          </a:bodyPr>
          <a:lstStyle/>
          <a:p>
            <a:pPr algn="l">
              <a:spcAft>
                <a:spcPts val="800"/>
              </a:spcAft>
            </a:pPr>
            <a:r>
              <a:rPr sz="1450" b="0">
                <a:solidFill>
                  <a:srgbClr val="4E433D"/>
                </a:solidFill>
                <a:latin typeface="Microsoft YaHei"/>
              </a:rPr>
              <a:t>1. 会员分层、内容生产和活动执行分散在多个系统与团队中，准备周期长</a:t>
            </a:r>
          </a:p>
          <a:p>
            <a:pPr algn="l">
              <a:spcAft>
                <a:spcPts val="800"/>
              </a:spcAft>
            </a:pPr>
            <a:r>
              <a:rPr sz="1450" b="0">
                <a:solidFill>
                  <a:srgbClr val="4E433D"/>
                </a:solidFill>
                <a:latin typeface="Microsoft YaHei"/>
              </a:rPr>
              <a:t>2. 活动复盘和洞察回流速度慢，难以及时指导下一轮会员运营动作</a:t>
            </a:r>
          </a:p>
          <a:p>
            <a:pPr algn="l">
              <a:spcAft>
                <a:spcPts val="800"/>
              </a:spcAft>
            </a:pPr>
            <a:r>
              <a:rPr sz="1450" b="0">
                <a:solidFill>
                  <a:srgbClr val="4E433D"/>
                </a:solidFill>
                <a:latin typeface="Microsoft YaHei"/>
              </a:rPr>
              <a:t>3. 流失预警不及时，高风险会员干预常常发生在价值已经下滑之后</a:t>
            </a:r>
          </a:p>
        </p:txBody>
      </p:sp>
      <p:sp>
        <p:nvSpPr>
          <p:cNvPr id="11" name="Rounded Rectangle 10"/>
          <p:cNvSpPr/>
          <p:nvPr/>
        </p:nvSpPr>
        <p:spPr>
          <a:xfrm>
            <a:off x="6172200" y="4983480"/>
            <a:ext cx="5120640" cy="1143000"/>
          </a:xfrm>
          <a:prstGeom prst="roundRect">
            <a:avLst>
              <a:gd name="adj" fmla="val 10000"/>
            </a:avLst>
          </a:prstGeom>
          <a:solidFill>
            <a:srgbClr val="A63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5266944"/>
            <a:ext cx="4480560" cy="384048"/>
          </a:xfrm>
          <a:prstGeom prst="rect">
            <a:avLst/>
          </a:prstGeom>
          <a:noFill/>
        </p:spPr>
        <p:txBody>
          <a:bodyPr wrap="square" anchor="ctr">
            <a:spAutoFit/>
          </a:bodyPr>
          <a:lstStyle/>
          <a:p>
            <a:pPr algn="l">
              <a:spcAft>
                <a:spcPts val="0"/>
              </a:spcAft>
            </a:pPr>
            <a:r>
              <a:rPr sz="1520" b="1">
                <a:solidFill>
                  <a:srgbClr val="FFFFFF"/>
                </a:solidFill>
                <a:latin typeface="Microsoft YaHei"/>
              </a:rPr>
              <a:t>优先切口：会员分层、内容生产和活动执行分散在多个系统与团队中，准备周期长</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1EC"/>
        </a:solidFill>
        <a:effectLst/>
      </p:bgPr>
    </p:bg>
    <p:spTree>
      <p:nvGrpSpPr>
        <p:cNvPr id="1" name=""/>
        <p:cNvGrpSpPr/>
        <p:nvPr/>
      </p:nvGrpSpPr>
      <p:grpSpPr/>
      <p:sp>
        <p:nvSpPr>
          <p:cNvPr id="2" name="Rectangle 1"/>
          <p:cNvSpPr/>
          <p:nvPr/>
        </p:nvSpPr>
        <p:spPr>
          <a:xfrm>
            <a:off x="548640" y="502920"/>
            <a:ext cx="109728" cy="822960"/>
          </a:xfrm>
          <a:prstGeom prst="rect">
            <a:avLst/>
          </a:prstGeom>
          <a:solidFill>
            <a:srgbClr val="D97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8046720" cy="640080"/>
          </a:xfrm>
          <a:prstGeom prst="rect">
            <a:avLst/>
          </a:prstGeom>
          <a:noFill/>
        </p:spPr>
        <p:txBody>
          <a:bodyPr wrap="square" anchor="t">
            <a:spAutoFit/>
          </a:bodyPr>
          <a:lstStyle/>
          <a:p>
            <a:pPr algn="l">
              <a:spcAft>
                <a:spcPts val="0"/>
              </a:spcAft>
            </a:pPr>
            <a:r>
              <a:rPr sz="2400" b="1">
                <a:solidFill>
                  <a:srgbClr val="A63A2B"/>
                </a:solidFill>
                <a:latin typeface="Microsoft YaHei"/>
              </a:rPr>
              <a:t>业务机会与 Why Now</a:t>
            </a:r>
          </a:p>
        </p:txBody>
      </p:sp>
      <p:sp>
        <p:nvSpPr>
          <p:cNvPr id="4" name="Rectangle 3"/>
          <p:cNvSpPr/>
          <p:nvPr/>
        </p:nvSpPr>
        <p:spPr>
          <a:xfrm>
            <a:off x="822960" y="1325880"/>
            <a:ext cx="10515600" cy="27432"/>
          </a:xfrm>
          <a:prstGeom prst="rect">
            <a:avLst/>
          </a:prstGeom>
          <a:solidFill>
            <a:srgbClr val="F3E7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2960" y="1783080"/>
            <a:ext cx="7909560" cy="1234440"/>
          </a:xfrm>
          <a:prstGeom prst="roundRect">
            <a:avLst>
              <a:gd name="adj" fmla="val 10000"/>
            </a:avLst>
          </a:prstGeom>
          <a:solidFill>
            <a:srgbClr val="FBF7F3"/>
          </a:solidFill>
          <a:ln w="10160">
            <a:solidFill>
              <a:srgbClr val="DCCB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24128" y="1947672"/>
            <a:ext cx="7507224" cy="274320"/>
          </a:xfrm>
          <a:prstGeom prst="rect">
            <a:avLst/>
          </a:prstGeom>
          <a:noFill/>
        </p:spPr>
        <p:txBody>
          <a:bodyPr wrap="square" anchor="t">
            <a:spAutoFit/>
          </a:bodyPr>
          <a:lstStyle/>
          <a:p>
            <a:pPr algn="l">
              <a:spcAft>
                <a:spcPts val="0"/>
              </a:spcAft>
            </a:pPr>
            <a:r>
              <a:rPr sz="1650" b="1">
                <a:solidFill>
                  <a:srgbClr val="A63A2B"/>
                </a:solidFill>
                <a:latin typeface="Microsoft YaHei"/>
              </a:rPr>
              <a:t>机会判断</a:t>
            </a:r>
          </a:p>
        </p:txBody>
      </p:sp>
      <p:sp>
        <p:nvSpPr>
          <p:cNvPr id="7" name="TextBox 6"/>
          <p:cNvSpPr txBox="1"/>
          <p:nvPr/>
        </p:nvSpPr>
        <p:spPr>
          <a:xfrm>
            <a:off x="1024128" y="2258568"/>
            <a:ext cx="7507224" cy="502920"/>
          </a:xfrm>
          <a:prstGeom prst="rect">
            <a:avLst/>
          </a:prstGeom>
          <a:noFill/>
        </p:spPr>
        <p:txBody>
          <a:bodyPr wrap="square" anchor="ctr">
            <a:spAutoFit/>
          </a:bodyPr>
          <a:lstStyle/>
          <a:p>
            <a:pPr algn="l">
              <a:spcAft>
                <a:spcPts val="800"/>
              </a:spcAft>
            </a:pPr>
            <a:r>
              <a:rPr sz="1340" b="0">
                <a:solidFill>
                  <a:srgbClr val="4E433D"/>
                </a:solidFill>
                <a:latin typeface="Microsoft YaHei"/>
              </a:rPr>
              <a:t>对跨界电商会员运营来说，优先验证一个把客户洞察、内容生成和保留动作串起来的 AI 增长闭环，是最容易落地且最能体现业务价值的切入口。</a:t>
            </a:r>
          </a:p>
        </p:txBody>
      </p:sp>
      <p:sp>
        <p:nvSpPr>
          <p:cNvPr id="8" name="Rounded Rectangle 7"/>
          <p:cNvSpPr/>
          <p:nvPr/>
        </p:nvSpPr>
        <p:spPr>
          <a:xfrm>
            <a:off x="822960" y="3246120"/>
            <a:ext cx="7909560" cy="1234440"/>
          </a:xfrm>
          <a:prstGeom prst="roundRect">
            <a:avLst>
              <a:gd name="adj" fmla="val 10000"/>
            </a:avLst>
          </a:prstGeom>
          <a:solidFill>
            <a:srgbClr val="F3E7DE"/>
          </a:solidFill>
          <a:ln w="10160">
            <a:solidFill>
              <a:srgbClr val="DCCB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8" y="3410712"/>
            <a:ext cx="7507224" cy="274320"/>
          </a:xfrm>
          <a:prstGeom prst="rect">
            <a:avLst/>
          </a:prstGeom>
          <a:noFill/>
        </p:spPr>
        <p:txBody>
          <a:bodyPr wrap="square" anchor="t">
            <a:spAutoFit/>
          </a:bodyPr>
          <a:lstStyle/>
          <a:p>
            <a:pPr algn="l">
              <a:spcAft>
                <a:spcPts val="0"/>
              </a:spcAft>
            </a:pPr>
            <a:r>
              <a:rPr sz="1650" b="1">
                <a:solidFill>
                  <a:srgbClr val="A63A2B"/>
                </a:solidFill>
                <a:latin typeface="Microsoft YaHei"/>
              </a:rPr>
              <a:t>为什么是现在</a:t>
            </a:r>
          </a:p>
        </p:txBody>
      </p:sp>
      <p:sp>
        <p:nvSpPr>
          <p:cNvPr id="10" name="TextBox 9"/>
          <p:cNvSpPr txBox="1"/>
          <p:nvPr/>
        </p:nvSpPr>
        <p:spPr>
          <a:xfrm>
            <a:off x="1024128" y="3721608"/>
            <a:ext cx="7507224" cy="502920"/>
          </a:xfrm>
          <a:prstGeom prst="rect">
            <a:avLst/>
          </a:prstGeom>
          <a:noFill/>
        </p:spPr>
        <p:txBody>
          <a:bodyPr wrap="square" anchor="ctr">
            <a:spAutoFit/>
          </a:bodyPr>
          <a:lstStyle/>
          <a:p>
            <a:pPr algn="l">
              <a:spcAft>
                <a:spcPts val="800"/>
              </a:spcAft>
            </a:pPr>
            <a:r>
              <a:rPr sz="1340" b="0">
                <a:solidFill>
                  <a:srgbClr val="4E433D"/>
                </a:solidFill>
                <a:latin typeface="Microsoft YaHei"/>
              </a:rPr>
              <a:t>会员数据、活动数据和内容生产需求已经在线化，但从洞察到执行仍依赖人工衔接，适合现在通过工作台形态快速验证 AI 的联动价值。</a:t>
            </a:r>
          </a:p>
        </p:txBody>
      </p:sp>
      <p:sp>
        <p:nvSpPr>
          <p:cNvPr id="11" name="Rounded Rectangle 10"/>
          <p:cNvSpPr/>
          <p:nvPr/>
        </p:nvSpPr>
        <p:spPr>
          <a:xfrm>
            <a:off x="822960" y="4709160"/>
            <a:ext cx="7909560" cy="1234440"/>
          </a:xfrm>
          <a:prstGeom prst="roundRect">
            <a:avLst>
              <a:gd name="adj" fmla="val 10000"/>
            </a:avLst>
          </a:prstGeom>
          <a:solidFill>
            <a:srgbClr val="FBF7F3"/>
          </a:solidFill>
          <a:ln w="10160">
            <a:solidFill>
              <a:srgbClr val="DCCB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4873752"/>
            <a:ext cx="7507224" cy="274320"/>
          </a:xfrm>
          <a:prstGeom prst="rect">
            <a:avLst/>
          </a:prstGeom>
          <a:noFill/>
        </p:spPr>
        <p:txBody>
          <a:bodyPr wrap="square" anchor="t">
            <a:spAutoFit/>
          </a:bodyPr>
          <a:lstStyle/>
          <a:p>
            <a:pPr algn="l">
              <a:spcAft>
                <a:spcPts val="0"/>
              </a:spcAft>
            </a:pPr>
            <a:r>
              <a:rPr sz="1650" b="1">
                <a:solidFill>
                  <a:srgbClr val="A63A2B"/>
                </a:solidFill>
                <a:latin typeface="Microsoft YaHei"/>
              </a:rPr>
              <a:t>价值支撑</a:t>
            </a:r>
          </a:p>
        </p:txBody>
      </p:sp>
      <p:sp>
        <p:nvSpPr>
          <p:cNvPr id="13" name="TextBox 12"/>
          <p:cNvSpPr txBox="1"/>
          <p:nvPr/>
        </p:nvSpPr>
        <p:spPr>
          <a:xfrm>
            <a:off x="1024128" y="5184648"/>
            <a:ext cx="7507224" cy="502920"/>
          </a:xfrm>
          <a:prstGeom prst="rect">
            <a:avLst/>
          </a:prstGeom>
          <a:noFill/>
        </p:spPr>
        <p:txBody>
          <a:bodyPr wrap="square" anchor="ctr">
            <a:spAutoFit/>
          </a:bodyPr>
          <a:lstStyle/>
          <a:p>
            <a:pPr algn="l">
              <a:spcAft>
                <a:spcPts val="800"/>
              </a:spcAft>
            </a:pPr>
            <a:r>
              <a:rPr sz="1340" b="0">
                <a:solidFill>
                  <a:srgbClr val="4E433D"/>
                </a:solidFill>
                <a:latin typeface="Microsoft YaHei"/>
              </a:rPr>
              <a:t>会员生命周期运营涉及分层、内容、活动和保留多个环节，当前协同链路长且响应慢</a:t>
            </a:r>
          </a:p>
        </p:txBody>
      </p:sp>
      <p:pic>
        <p:nvPicPr>
          <p:cNvPr id="14" name="Picture 13" descr="image.png"/>
          <p:cNvPicPr>
            <a:picLocks noChangeAspect="1"/>
          </p:cNvPicPr>
          <p:nvPr/>
        </p:nvPicPr>
        <p:blipFill>
          <a:blip r:embed="rId2"/>
          <a:stretch>
            <a:fillRect/>
          </a:stretch>
        </p:blipFill>
        <p:spPr>
          <a:xfrm>
            <a:off x="9144000" y="1828800"/>
            <a:ext cx="1920240" cy="42976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1EC"/>
        </a:solidFill>
        <a:effectLst/>
      </p:bgPr>
    </p:bg>
    <p:spTree>
      <p:nvGrpSpPr>
        <p:cNvPr id="1" name=""/>
        <p:cNvGrpSpPr/>
        <p:nvPr/>
      </p:nvGrpSpPr>
      <p:grpSpPr/>
      <p:sp>
        <p:nvSpPr>
          <p:cNvPr id="2" name="Rectangle 1"/>
          <p:cNvSpPr/>
          <p:nvPr/>
        </p:nvSpPr>
        <p:spPr>
          <a:xfrm>
            <a:off x="548640" y="502920"/>
            <a:ext cx="109728" cy="822960"/>
          </a:xfrm>
          <a:prstGeom prst="rect">
            <a:avLst/>
          </a:prstGeom>
          <a:solidFill>
            <a:srgbClr val="D97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8046720" cy="640080"/>
          </a:xfrm>
          <a:prstGeom prst="rect">
            <a:avLst/>
          </a:prstGeom>
          <a:noFill/>
        </p:spPr>
        <p:txBody>
          <a:bodyPr wrap="square" anchor="t">
            <a:spAutoFit/>
          </a:bodyPr>
          <a:lstStyle/>
          <a:p>
            <a:pPr algn="l">
              <a:spcAft>
                <a:spcPts val="0"/>
              </a:spcAft>
            </a:pPr>
            <a:r>
              <a:rPr sz="2400" b="1">
                <a:solidFill>
                  <a:srgbClr val="A63A2B"/>
                </a:solidFill>
                <a:latin typeface="Microsoft YaHei"/>
              </a:rPr>
              <a:t>客户现场卡片流程</a:t>
            </a:r>
          </a:p>
        </p:txBody>
      </p:sp>
      <p:sp>
        <p:nvSpPr>
          <p:cNvPr id="4" name="Rectangle 3"/>
          <p:cNvSpPr/>
          <p:nvPr/>
        </p:nvSpPr>
        <p:spPr>
          <a:xfrm>
            <a:off x="822960" y="1325880"/>
            <a:ext cx="10515600" cy="27432"/>
          </a:xfrm>
          <a:prstGeom prst="rect">
            <a:avLst/>
          </a:prstGeom>
          <a:solidFill>
            <a:srgbClr val="F3E7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2960" y="1755648"/>
            <a:ext cx="10469880" cy="4526280"/>
          </a:xfrm>
          <a:prstGeom prst="roundRect">
            <a:avLst>
              <a:gd name="adj" fmla="val 10000"/>
            </a:avLst>
          </a:prstGeom>
          <a:solidFill>
            <a:srgbClr val="F3E7DE"/>
          </a:solidFill>
          <a:ln w="10160">
            <a:solidFill>
              <a:srgbClr val="DCCB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68680" y="1993392"/>
            <a:ext cx="1051560" cy="658368"/>
          </a:xfrm>
          <a:prstGeom prst="roundRect">
            <a:avLst>
              <a:gd name="adj" fmla="val 10000"/>
            </a:avLst>
          </a:prstGeom>
          <a:solidFill>
            <a:srgbClr val="A63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093976"/>
            <a:ext cx="749808" cy="420624"/>
          </a:xfrm>
          <a:prstGeom prst="rect">
            <a:avLst/>
          </a:prstGeom>
          <a:noFill/>
        </p:spPr>
        <p:txBody>
          <a:bodyPr wrap="square" anchor="ctr">
            <a:spAutoFit/>
          </a:bodyPr>
          <a:lstStyle/>
          <a:p>
            <a:pPr algn="ctr">
              <a:spcAft>
                <a:spcPts val="0"/>
              </a:spcAft>
            </a:pPr>
            <a:r>
              <a:rPr sz="1200" b="1">
                <a:solidFill>
                  <a:srgbClr val="FFFFFF"/>
                </a:solidFill>
                <a:latin typeface="Microsoft YaHei"/>
              </a:rPr>
              <a:t>业务场景 / 输入感知</a:t>
            </a:r>
          </a:p>
        </p:txBody>
      </p:sp>
      <p:sp>
        <p:nvSpPr>
          <p:cNvPr id="8" name="Rounded Rectangle 7"/>
          <p:cNvSpPr/>
          <p:nvPr/>
        </p:nvSpPr>
        <p:spPr>
          <a:xfrm>
            <a:off x="2103120" y="1993392"/>
            <a:ext cx="1572768" cy="658368"/>
          </a:xfrm>
          <a:prstGeom prst="roundRect">
            <a:avLst>
              <a:gd name="adj" fmla="val 10000"/>
            </a:avLst>
          </a:prstGeom>
          <a:solidFill>
            <a:srgbClr val="FBF7F3"/>
          </a:solidFill>
          <a:ln w="10160">
            <a:solidFill>
              <a:srgbClr val="DCCB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231136" y="2103120"/>
            <a:ext cx="1316736" cy="384048"/>
          </a:xfrm>
          <a:prstGeom prst="rect">
            <a:avLst/>
          </a:prstGeom>
          <a:noFill/>
        </p:spPr>
        <p:txBody>
          <a:bodyPr wrap="square" anchor="ctr">
            <a:spAutoFit/>
          </a:bodyPr>
          <a:lstStyle/>
          <a:p>
            <a:pPr algn="l">
              <a:spcAft>
                <a:spcPts val="0"/>
              </a:spcAft>
            </a:pPr>
            <a:r>
              <a:rPr sz="1150" b="0">
                <a:solidFill>
                  <a:srgbClr val="4E433D"/>
                </a:solidFill>
                <a:latin typeface="Microsoft YaHei"/>
              </a:rPr>
              <a:t>了解客户</a:t>
            </a:r>
          </a:p>
        </p:txBody>
      </p:sp>
      <p:sp>
        <p:nvSpPr>
          <p:cNvPr id="10" name="Right Arrow 9"/>
          <p:cNvSpPr/>
          <p:nvPr/>
        </p:nvSpPr>
        <p:spPr>
          <a:xfrm>
            <a:off x="3703320" y="2176272"/>
            <a:ext cx="237744" cy="237744"/>
          </a:xfrm>
          <a:prstGeom prst="rightArrow">
            <a:avLst/>
          </a:prstGeom>
          <a:solidFill>
            <a:srgbClr val="D97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877056" y="1993392"/>
            <a:ext cx="1572768" cy="658368"/>
          </a:xfrm>
          <a:prstGeom prst="roundRect">
            <a:avLst>
              <a:gd name="adj" fmla="val 10000"/>
            </a:avLst>
          </a:prstGeom>
          <a:solidFill>
            <a:srgbClr val="FBF7F3"/>
          </a:solidFill>
          <a:ln w="10160">
            <a:solidFill>
              <a:srgbClr val="DCCB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005072" y="2103120"/>
            <a:ext cx="1316736" cy="384048"/>
          </a:xfrm>
          <a:prstGeom prst="rect">
            <a:avLst/>
          </a:prstGeom>
          <a:noFill/>
        </p:spPr>
        <p:txBody>
          <a:bodyPr wrap="square" anchor="ctr">
            <a:spAutoFit/>
          </a:bodyPr>
          <a:lstStyle/>
          <a:p>
            <a:pPr algn="l">
              <a:spcAft>
                <a:spcPts val="0"/>
              </a:spcAft>
            </a:pPr>
            <a:r>
              <a:rPr sz="1150" b="0">
                <a:solidFill>
                  <a:srgbClr val="4E433D"/>
                </a:solidFill>
                <a:latin typeface="Microsoft YaHei"/>
              </a:rPr>
              <a:t>个性化营销</a:t>
            </a:r>
          </a:p>
        </p:txBody>
      </p:sp>
      <p:sp>
        <p:nvSpPr>
          <p:cNvPr id="13" name="Rounded Rectangle 12"/>
          <p:cNvSpPr/>
          <p:nvPr/>
        </p:nvSpPr>
        <p:spPr>
          <a:xfrm>
            <a:off x="868680" y="3310128"/>
            <a:ext cx="1051560" cy="658368"/>
          </a:xfrm>
          <a:prstGeom prst="roundRect">
            <a:avLst>
              <a:gd name="adj" fmla="val 10000"/>
            </a:avLst>
          </a:prstGeom>
          <a:solidFill>
            <a:srgbClr val="D97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3410712"/>
            <a:ext cx="749808" cy="420624"/>
          </a:xfrm>
          <a:prstGeom prst="rect">
            <a:avLst/>
          </a:prstGeom>
          <a:noFill/>
        </p:spPr>
        <p:txBody>
          <a:bodyPr wrap="square" anchor="ctr">
            <a:spAutoFit/>
          </a:bodyPr>
          <a:lstStyle/>
          <a:p>
            <a:pPr algn="ctr">
              <a:spcAft>
                <a:spcPts val="0"/>
              </a:spcAft>
            </a:pPr>
            <a:r>
              <a:rPr sz="1200" b="1">
                <a:solidFill>
                  <a:srgbClr val="FFFFFF"/>
                </a:solidFill>
                <a:latin typeface="Microsoft YaHei"/>
              </a:rPr>
              <a:t>理解分析</a:t>
            </a:r>
          </a:p>
        </p:txBody>
      </p:sp>
      <p:sp>
        <p:nvSpPr>
          <p:cNvPr id="15" name="Rounded Rectangle 14"/>
          <p:cNvSpPr/>
          <p:nvPr/>
        </p:nvSpPr>
        <p:spPr>
          <a:xfrm>
            <a:off x="2103120" y="3310128"/>
            <a:ext cx="1572768" cy="658368"/>
          </a:xfrm>
          <a:prstGeom prst="roundRect">
            <a:avLst>
              <a:gd name="adj" fmla="val 10000"/>
            </a:avLst>
          </a:prstGeom>
          <a:solidFill>
            <a:srgbClr val="FBF7F3"/>
          </a:solidFill>
          <a:ln w="10160">
            <a:solidFill>
              <a:srgbClr val="DCCB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231136" y="3419856"/>
            <a:ext cx="1316736" cy="384048"/>
          </a:xfrm>
          <a:prstGeom prst="rect">
            <a:avLst/>
          </a:prstGeom>
          <a:noFill/>
        </p:spPr>
        <p:txBody>
          <a:bodyPr wrap="square" anchor="ctr">
            <a:spAutoFit/>
          </a:bodyPr>
          <a:lstStyle/>
          <a:p>
            <a:pPr algn="l">
              <a:spcAft>
                <a:spcPts val="0"/>
              </a:spcAft>
            </a:pPr>
            <a:r>
              <a:rPr sz="1150" b="0">
                <a:solidFill>
                  <a:srgbClr val="4E433D"/>
                </a:solidFill>
                <a:latin typeface="Microsoft YaHei"/>
              </a:rPr>
              <a:t>简化数据分析</a:t>
            </a:r>
          </a:p>
        </p:txBody>
      </p:sp>
      <p:sp>
        <p:nvSpPr>
          <p:cNvPr id="17" name="Right Arrow 16"/>
          <p:cNvSpPr/>
          <p:nvPr/>
        </p:nvSpPr>
        <p:spPr>
          <a:xfrm>
            <a:off x="3703320" y="3493008"/>
            <a:ext cx="237744" cy="237744"/>
          </a:xfrm>
          <a:prstGeom prst="rightArrow">
            <a:avLst/>
          </a:prstGeom>
          <a:solidFill>
            <a:srgbClr val="D97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877056" y="3310128"/>
            <a:ext cx="1572768" cy="658368"/>
          </a:xfrm>
          <a:prstGeom prst="roundRect">
            <a:avLst>
              <a:gd name="adj" fmla="val 10000"/>
            </a:avLst>
          </a:prstGeom>
          <a:solidFill>
            <a:srgbClr val="FBF7F3"/>
          </a:solidFill>
          <a:ln w="10160">
            <a:solidFill>
              <a:srgbClr val="DCCB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005072" y="3419856"/>
            <a:ext cx="1316736" cy="384048"/>
          </a:xfrm>
          <a:prstGeom prst="rect">
            <a:avLst/>
          </a:prstGeom>
          <a:noFill/>
        </p:spPr>
        <p:txBody>
          <a:bodyPr wrap="square" anchor="ctr">
            <a:spAutoFit/>
          </a:bodyPr>
          <a:lstStyle/>
          <a:p>
            <a:pPr algn="l">
              <a:spcAft>
                <a:spcPts val="0"/>
              </a:spcAft>
            </a:pPr>
            <a:r>
              <a:rPr sz="1150" b="0">
                <a:solidFill>
                  <a:srgbClr val="4E433D"/>
                </a:solidFill>
                <a:latin typeface="Microsoft YaHei"/>
              </a:rPr>
              <a:t>预测客户流失</a:t>
            </a:r>
          </a:p>
        </p:txBody>
      </p:sp>
      <p:sp>
        <p:nvSpPr>
          <p:cNvPr id="20" name="Rounded Rectangle 19"/>
          <p:cNvSpPr/>
          <p:nvPr/>
        </p:nvSpPr>
        <p:spPr>
          <a:xfrm>
            <a:off x="868680" y="4626864"/>
            <a:ext cx="1051560" cy="658368"/>
          </a:xfrm>
          <a:prstGeom prst="roundRect">
            <a:avLst>
              <a:gd name="adj" fmla="val 10000"/>
            </a:avLst>
          </a:prstGeom>
          <a:solidFill>
            <a:srgbClr val="A63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4727448"/>
            <a:ext cx="749808" cy="420624"/>
          </a:xfrm>
          <a:prstGeom prst="rect">
            <a:avLst/>
          </a:prstGeom>
          <a:noFill/>
        </p:spPr>
        <p:txBody>
          <a:bodyPr wrap="square" anchor="ctr">
            <a:spAutoFit/>
          </a:bodyPr>
          <a:lstStyle/>
          <a:p>
            <a:pPr algn="ctr">
              <a:spcAft>
                <a:spcPts val="0"/>
              </a:spcAft>
            </a:pPr>
            <a:r>
              <a:rPr sz="1200" b="1">
                <a:solidFill>
                  <a:srgbClr val="FFFFFF"/>
                </a:solidFill>
                <a:latin typeface="Microsoft YaHei"/>
              </a:rPr>
              <a:t>生成交互 / 执行闭环</a:t>
            </a:r>
          </a:p>
        </p:txBody>
      </p:sp>
      <p:sp>
        <p:nvSpPr>
          <p:cNvPr id="22" name="Rounded Rectangle 21"/>
          <p:cNvSpPr/>
          <p:nvPr/>
        </p:nvSpPr>
        <p:spPr>
          <a:xfrm>
            <a:off x="2103120" y="4626864"/>
            <a:ext cx="1572768" cy="658368"/>
          </a:xfrm>
          <a:prstGeom prst="roundRect">
            <a:avLst>
              <a:gd name="adj" fmla="val 10000"/>
            </a:avLst>
          </a:prstGeom>
          <a:solidFill>
            <a:srgbClr val="FBF7F3"/>
          </a:solidFill>
          <a:ln w="10160">
            <a:solidFill>
              <a:srgbClr val="DCCB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231136" y="4736592"/>
            <a:ext cx="1316736" cy="384048"/>
          </a:xfrm>
          <a:prstGeom prst="rect">
            <a:avLst/>
          </a:prstGeom>
          <a:noFill/>
        </p:spPr>
        <p:txBody>
          <a:bodyPr wrap="square" anchor="ctr">
            <a:spAutoFit/>
          </a:bodyPr>
          <a:lstStyle/>
          <a:p>
            <a:pPr algn="l">
              <a:spcAft>
                <a:spcPts val="0"/>
              </a:spcAft>
            </a:pPr>
            <a:r>
              <a:rPr sz="1150" b="0">
                <a:solidFill>
                  <a:srgbClr val="4E433D"/>
                </a:solidFill>
                <a:latin typeface="Microsoft YaHei"/>
              </a:rPr>
              <a:t>生成或增强文本</a:t>
            </a:r>
          </a:p>
        </p:txBody>
      </p:sp>
      <p:sp>
        <p:nvSpPr>
          <p:cNvPr id="24" name="Right Arrow 23"/>
          <p:cNvSpPr/>
          <p:nvPr/>
        </p:nvSpPr>
        <p:spPr>
          <a:xfrm>
            <a:off x="3703320" y="4809744"/>
            <a:ext cx="237744" cy="237744"/>
          </a:xfrm>
          <a:prstGeom prst="rightArrow">
            <a:avLst/>
          </a:prstGeom>
          <a:solidFill>
            <a:srgbClr val="D97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3877056" y="4626864"/>
            <a:ext cx="1572768" cy="658368"/>
          </a:xfrm>
          <a:prstGeom prst="roundRect">
            <a:avLst>
              <a:gd name="adj" fmla="val 10000"/>
            </a:avLst>
          </a:prstGeom>
          <a:solidFill>
            <a:srgbClr val="FBF7F3"/>
          </a:solidFill>
          <a:ln w="10160">
            <a:solidFill>
              <a:srgbClr val="DCCB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005072" y="4736592"/>
            <a:ext cx="1316736" cy="384048"/>
          </a:xfrm>
          <a:prstGeom prst="rect">
            <a:avLst/>
          </a:prstGeom>
          <a:noFill/>
        </p:spPr>
        <p:txBody>
          <a:bodyPr wrap="square" anchor="ctr">
            <a:spAutoFit/>
          </a:bodyPr>
          <a:lstStyle/>
          <a:p>
            <a:pPr algn="l">
              <a:spcAft>
                <a:spcPts val="0"/>
              </a:spcAft>
            </a:pPr>
            <a:r>
              <a:rPr sz="1150" b="0">
                <a:solidFill>
                  <a:srgbClr val="4E433D"/>
                </a:solidFill>
                <a:latin typeface="Microsoft YaHei"/>
              </a:rPr>
              <a:t>从文本生成图像</a:t>
            </a:r>
          </a:p>
        </p:txBody>
      </p:sp>
      <p:sp>
        <p:nvSpPr>
          <p:cNvPr id="27" name="Right Arrow 26"/>
          <p:cNvSpPr/>
          <p:nvPr/>
        </p:nvSpPr>
        <p:spPr>
          <a:xfrm>
            <a:off x="5477256" y="4809744"/>
            <a:ext cx="237744" cy="237744"/>
          </a:xfrm>
          <a:prstGeom prst="rightArrow">
            <a:avLst/>
          </a:prstGeom>
          <a:solidFill>
            <a:srgbClr val="D97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650992" y="4626864"/>
            <a:ext cx="1572768" cy="658368"/>
          </a:xfrm>
          <a:prstGeom prst="roundRect">
            <a:avLst>
              <a:gd name="adj" fmla="val 10000"/>
            </a:avLst>
          </a:prstGeom>
          <a:solidFill>
            <a:srgbClr val="FBF7F3"/>
          </a:solidFill>
          <a:ln w="10160">
            <a:solidFill>
              <a:srgbClr val="DCCB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779007" y="4736592"/>
            <a:ext cx="1316736" cy="384048"/>
          </a:xfrm>
          <a:prstGeom prst="rect">
            <a:avLst/>
          </a:prstGeom>
          <a:noFill/>
        </p:spPr>
        <p:txBody>
          <a:bodyPr wrap="square" anchor="ctr">
            <a:spAutoFit/>
          </a:bodyPr>
          <a:lstStyle/>
          <a:p>
            <a:pPr algn="l">
              <a:spcAft>
                <a:spcPts val="0"/>
              </a:spcAft>
            </a:pPr>
            <a:r>
              <a:rPr sz="1150" b="0">
                <a:solidFill>
                  <a:srgbClr val="4E433D"/>
                </a:solidFill>
                <a:latin typeface="Microsoft YaHei"/>
              </a:rPr>
              <a:t>创建动态网页</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1EC"/>
        </a:solidFill>
        <a:effectLst/>
      </p:bgPr>
    </p:bg>
    <p:spTree>
      <p:nvGrpSpPr>
        <p:cNvPr id="1" name=""/>
        <p:cNvGrpSpPr/>
        <p:nvPr/>
      </p:nvGrpSpPr>
      <p:grpSpPr/>
      <p:sp>
        <p:nvSpPr>
          <p:cNvPr id="2" name="Rectangle 1"/>
          <p:cNvSpPr/>
          <p:nvPr/>
        </p:nvSpPr>
        <p:spPr>
          <a:xfrm>
            <a:off x="548640" y="502920"/>
            <a:ext cx="109728" cy="822960"/>
          </a:xfrm>
          <a:prstGeom prst="rect">
            <a:avLst/>
          </a:prstGeom>
          <a:solidFill>
            <a:srgbClr val="D97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8046720" cy="640080"/>
          </a:xfrm>
          <a:prstGeom prst="rect">
            <a:avLst/>
          </a:prstGeom>
          <a:noFill/>
        </p:spPr>
        <p:txBody>
          <a:bodyPr wrap="square" anchor="t">
            <a:spAutoFit/>
          </a:bodyPr>
          <a:lstStyle/>
          <a:p>
            <a:pPr algn="l">
              <a:spcAft>
                <a:spcPts val="0"/>
              </a:spcAft>
            </a:pPr>
            <a:r>
              <a:rPr sz="2400" b="1">
                <a:solidFill>
                  <a:srgbClr val="A63A2B"/>
                </a:solidFill>
                <a:latin typeface="Microsoft YaHei"/>
              </a:rPr>
              <a:t>目标业务闭环</a:t>
            </a:r>
          </a:p>
        </p:txBody>
      </p:sp>
      <p:sp>
        <p:nvSpPr>
          <p:cNvPr id="4" name="Rectangle 3"/>
          <p:cNvSpPr/>
          <p:nvPr/>
        </p:nvSpPr>
        <p:spPr>
          <a:xfrm>
            <a:off x="822960" y="1325880"/>
            <a:ext cx="10515600" cy="27432"/>
          </a:xfrm>
          <a:prstGeom prst="rect">
            <a:avLst/>
          </a:prstGeom>
          <a:solidFill>
            <a:srgbClr val="F3E7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2960" y="1737360"/>
            <a:ext cx="10469880" cy="731520"/>
          </a:xfrm>
          <a:prstGeom prst="roundRect">
            <a:avLst>
              <a:gd name="adj" fmla="val 10000"/>
            </a:avLst>
          </a:prstGeom>
          <a:solidFill>
            <a:srgbClr val="A63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883664"/>
            <a:ext cx="1234440" cy="274320"/>
          </a:xfrm>
          <a:prstGeom prst="rect">
            <a:avLst/>
          </a:prstGeom>
          <a:noFill/>
        </p:spPr>
        <p:txBody>
          <a:bodyPr wrap="square" anchor="t">
            <a:spAutoFit/>
          </a:bodyPr>
          <a:lstStyle/>
          <a:p>
            <a:pPr algn="l">
              <a:spcAft>
                <a:spcPts val="0"/>
              </a:spcAft>
            </a:pPr>
            <a:r>
              <a:rPr sz="1650" b="1">
                <a:solidFill>
                  <a:srgbClr val="FFFFFF"/>
                </a:solidFill>
                <a:latin typeface="Microsoft YaHei"/>
              </a:rPr>
              <a:t>业务触发</a:t>
            </a:r>
          </a:p>
        </p:txBody>
      </p:sp>
      <p:sp>
        <p:nvSpPr>
          <p:cNvPr id="7" name="TextBox 6"/>
          <p:cNvSpPr txBox="1"/>
          <p:nvPr/>
        </p:nvSpPr>
        <p:spPr>
          <a:xfrm>
            <a:off x="2103120" y="1874519"/>
            <a:ext cx="8138160" cy="384048"/>
          </a:xfrm>
          <a:prstGeom prst="rect">
            <a:avLst/>
          </a:prstGeom>
          <a:noFill/>
        </p:spPr>
        <p:txBody>
          <a:bodyPr wrap="square" anchor="ctr">
            <a:spAutoFit/>
          </a:bodyPr>
          <a:lstStyle/>
          <a:p>
            <a:pPr algn="l">
              <a:spcAft>
                <a:spcPts val="0"/>
              </a:spcAft>
            </a:pPr>
            <a:r>
              <a:rPr sz="1550" b="1">
                <a:solidFill>
                  <a:srgbClr val="FFFFFF"/>
                </a:solidFill>
                <a:latin typeface="Microsoft YaHei"/>
              </a:rPr>
              <a:t>会员运营团队准备针对重点会员客群发起新一轮增长活动或保留动作</a:t>
            </a:r>
          </a:p>
        </p:txBody>
      </p:sp>
      <p:sp>
        <p:nvSpPr>
          <p:cNvPr id="8" name="Rounded Rectangle 7"/>
          <p:cNvSpPr/>
          <p:nvPr/>
        </p:nvSpPr>
        <p:spPr>
          <a:xfrm>
            <a:off x="822960" y="2788920"/>
            <a:ext cx="10469880" cy="2697480"/>
          </a:xfrm>
          <a:prstGeom prst="roundRect">
            <a:avLst>
              <a:gd name="adj" fmla="val 10000"/>
            </a:avLst>
          </a:prstGeom>
          <a:solidFill>
            <a:srgbClr val="F3E7DE"/>
          </a:solidFill>
          <a:ln w="10160">
            <a:solidFill>
              <a:srgbClr val="DCCB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971800"/>
            <a:ext cx="1828800" cy="274320"/>
          </a:xfrm>
          <a:prstGeom prst="rect">
            <a:avLst/>
          </a:prstGeom>
          <a:noFill/>
        </p:spPr>
        <p:txBody>
          <a:bodyPr wrap="square" anchor="t">
            <a:spAutoFit/>
          </a:bodyPr>
          <a:lstStyle/>
          <a:p>
            <a:pPr algn="l">
              <a:spcAft>
                <a:spcPts val="0"/>
              </a:spcAft>
            </a:pPr>
            <a:r>
              <a:rPr sz="1650" b="1">
                <a:solidFill>
                  <a:srgbClr val="A63A2B"/>
                </a:solidFill>
                <a:latin typeface="Microsoft YaHei"/>
              </a:rPr>
              <a:t>核心流程</a:t>
            </a:r>
          </a:p>
        </p:txBody>
      </p:sp>
      <p:sp>
        <p:nvSpPr>
          <p:cNvPr id="10" name="Rounded Rectangle 9"/>
          <p:cNvSpPr/>
          <p:nvPr/>
        </p:nvSpPr>
        <p:spPr>
          <a:xfrm>
            <a:off x="1051560" y="3401568"/>
            <a:ext cx="1739188" cy="1536192"/>
          </a:xfrm>
          <a:prstGeom prst="roundRect">
            <a:avLst>
              <a:gd name="adj" fmla="val 10000"/>
            </a:avLst>
          </a:prstGeom>
          <a:solidFill>
            <a:srgbClr val="FBF7F3"/>
          </a:solidFill>
          <a:ln w="10160">
            <a:solidFill>
              <a:srgbClr val="DCCB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179576" y="3511296"/>
            <a:ext cx="493776" cy="310896"/>
          </a:xfrm>
          <a:prstGeom prst="roundRect">
            <a:avLst>
              <a:gd name="adj" fmla="val 5000"/>
            </a:avLst>
          </a:prstGeom>
          <a:solidFill>
            <a:srgbClr val="D97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3566160"/>
            <a:ext cx="365760" cy="91440"/>
          </a:xfrm>
          <a:prstGeom prst="rect">
            <a:avLst/>
          </a:prstGeom>
          <a:noFill/>
        </p:spPr>
        <p:txBody>
          <a:bodyPr wrap="square" anchor="ctr">
            <a:spAutoFit/>
          </a:bodyPr>
          <a:lstStyle/>
          <a:p>
            <a:pPr algn="ctr">
              <a:spcAft>
                <a:spcPts val="0"/>
              </a:spcAft>
            </a:pPr>
            <a:r>
              <a:rPr sz="950" b="1">
                <a:solidFill>
                  <a:srgbClr val="FFFFFF"/>
                </a:solidFill>
                <a:latin typeface="Arial"/>
              </a:rPr>
              <a:t>01</a:t>
            </a:r>
          </a:p>
        </p:txBody>
      </p:sp>
      <p:sp>
        <p:nvSpPr>
          <p:cNvPr id="13" name="TextBox 12"/>
          <p:cNvSpPr txBox="1"/>
          <p:nvPr/>
        </p:nvSpPr>
        <p:spPr>
          <a:xfrm>
            <a:off x="1197863" y="3931920"/>
            <a:ext cx="1483156" cy="841248"/>
          </a:xfrm>
          <a:prstGeom prst="rect">
            <a:avLst/>
          </a:prstGeom>
          <a:noFill/>
        </p:spPr>
        <p:txBody>
          <a:bodyPr wrap="square" anchor="t">
            <a:spAutoFit/>
          </a:bodyPr>
          <a:lstStyle/>
          <a:p>
            <a:pPr algn="l">
              <a:spcAft>
                <a:spcPts val="0"/>
              </a:spcAft>
            </a:pPr>
            <a:r>
              <a:rPr sz="1019" b="0">
                <a:solidFill>
                  <a:srgbClr val="4E433D"/>
                </a:solidFill>
                <a:latin typeface="Microsoft YaHei"/>
              </a:rPr>
              <a:t>1. 系统读取会员画像、历史活动结果、渠道反馈和行为数据</a:t>
            </a:r>
          </a:p>
        </p:txBody>
      </p:sp>
      <p:sp>
        <p:nvSpPr>
          <p:cNvPr id="14" name="Right Arrow 13"/>
          <p:cNvSpPr/>
          <p:nvPr/>
        </p:nvSpPr>
        <p:spPr>
          <a:xfrm>
            <a:off x="2900476" y="3886200"/>
            <a:ext cx="219456" cy="201168"/>
          </a:xfrm>
          <a:prstGeom prst="rightArrow">
            <a:avLst/>
          </a:prstGeom>
          <a:solidFill>
            <a:srgbClr val="D97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119932" y="3401568"/>
            <a:ext cx="1739188" cy="1536192"/>
          </a:xfrm>
          <a:prstGeom prst="roundRect">
            <a:avLst>
              <a:gd name="adj" fmla="val 10000"/>
            </a:avLst>
          </a:prstGeom>
          <a:solidFill>
            <a:srgbClr val="F6F1EC"/>
          </a:solidFill>
          <a:ln w="10160">
            <a:solidFill>
              <a:srgbClr val="DCCB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247948" y="3511296"/>
            <a:ext cx="493776" cy="310896"/>
          </a:xfrm>
          <a:prstGeom prst="roundRect">
            <a:avLst>
              <a:gd name="adj" fmla="val 5000"/>
            </a:avLst>
          </a:prstGeom>
          <a:solidFill>
            <a:srgbClr val="D97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11956" y="3566160"/>
            <a:ext cx="365760" cy="91440"/>
          </a:xfrm>
          <a:prstGeom prst="rect">
            <a:avLst/>
          </a:prstGeom>
          <a:noFill/>
        </p:spPr>
        <p:txBody>
          <a:bodyPr wrap="square" anchor="ctr">
            <a:spAutoFit/>
          </a:bodyPr>
          <a:lstStyle/>
          <a:p>
            <a:pPr algn="ctr">
              <a:spcAft>
                <a:spcPts val="0"/>
              </a:spcAft>
            </a:pPr>
            <a:r>
              <a:rPr sz="950" b="1">
                <a:solidFill>
                  <a:srgbClr val="FFFFFF"/>
                </a:solidFill>
                <a:latin typeface="Arial"/>
              </a:rPr>
              <a:t>02</a:t>
            </a:r>
          </a:p>
        </p:txBody>
      </p:sp>
      <p:sp>
        <p:nvSpPr>
          <p:cNvPr id="18" name="TextBox 17"/>
          <p:cNvSpPr txBox="1"/>
          <p:nvPr/>
        </p:nvSpPr>
        <p:spPr>
          <a:xfrm>
            <a:off x="3266236" y="3931920"/>
            <a:ext cx="1483156" cy="841248"/>
          </a:xfrm>
          <a:prstGeom prst="rect">
            <a:avLst/>
          </a:prstGeom>
          <a:noFill/>
        </p:spPr>
        <p:txBody>
          <a:bodyPr wrap="square" anchor="t">
            <a:spAutoFit/>
          </a:bodyPr>
          <a:lstStyle/>
          <a:p>
            <a:pPr algn="l">
              <a:spcAft>
                <a:spcPts val="0"/>
              </a:spcAft>
            </a:pPr>
            <a:r>
              <a:rPr sz="1019" b="0">
                <a:solidFill>
                  <a:srgbClr val="4E433D"/>
                </a:solidFill>
                <a:latin typeface="Microsoft YaHei"/>
              </a:rPr>
              <a:t>2. AI 识别高价值会员客群、潜在流失会员和可优先推进的运营机会</a:t>
            </a:r>
          </a:p>
        </p:txBody>
      </p:sp>
      <p:sp>
        <p:nvSpPr>
          <p:cNvPr id="19" name="Right Arrow 18"/>
          <p:cNvSpPr/>
          <p:nvPr/>
        </p:nvSpPr>
        <p:spPr>
          <a:xfrm>
            <a:off x="4968849" y="3886200"/>
            <a:ext cx="219456" cy="201168"/>
          </a:xfrm>
          <a:prstGeom prst="rightArrow">
            <a:avLst/>
          </a:prstGeom>
          <a:solidFill>
            <a:srgbClr val="D97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88305" y="3401568"/>
            <a:ext cx="1739188" cy="1536192"/>
          </a:xfrm>
          <a:prstGeom prst="roundRect">
            <a:avLst>
              <a:gd name="adj" fmla="val 10000"/>
            </a:avLst>
          </a:prstGeom>
          <a:solidFill>
            <a:srgbClr val="FBF7F3"/>
          </a:solidFill>
          <a:ln w="10160">
            <a:solidFill>
              <a:srgbClr val="DCCB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316321" y="3511296"/>
            <a:ext cx="493776" cy="310896"/>
          </a:xfrm>
          <a:prstGeom prst="roundRect">
            <a:avLst>
              <a:gd name="adj" fmla="val 5000"/>
            </a:avLst>
          </a:prstGeom>
          <a:solidFill>
            <a:srgbClr val="D97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80329" y="3566160"/>
            <a:ext cx="365760" cy="91440"/>
          </a:xfrm>
          <a:prstGeom prst="rect">
            <a:avLst/>
          </a:prstGeom>
          <a:noFill/>
        </p:spPr>
        <p:txBody>
          <a:bodyPr wrap="square" anchor="ctr">
            <a:spAutoFit/>
          </a:bodyPr>
          <a:lstStyle/>
          <a:p>
            <a:pPr algn="ctr">
              <a:spcAft>
                <a:spcPts val="0"/>
              </a:spcAft>
            </a:pPr>
            <a:r>
              <a:rPr sz="950" b="1">
                <a:solidFill>
                  <a:srgbClr val="FFFFFF"/>
                </a:solidFill>
                <a:latin typeface="Arial"/>
              </a:rPr>
              <a:t>03</a:t>
            </a:r>
          </a:p>
        </p:txBody>
      </p:sp>
      <p:sp>
        <p:nvSpPr>
          <p:cNvPr id="23" name="TextBox 22"/>
          <p:cNvSpPr txBox="1"/>
          <p:nvPr/>
        </p:nvSpPr>
        <p:spPr>
          <a:xfrm>
            <a:off x="5334609" y="3931920"/>
            <a:ext cx="1483156" cy="841248"/>
          </a:xfrm>
          <a:prstGeom prst="rect">
            <a:avLst/>
          </a:prstGeom>
          <a:noFill/>
        </p:spPr>
        <p:txBody>
          <a:bodyPr wrap="square" anchor="t">
            <a:spAutoFit/>
          </a:bodyPr>
          <a:lstStyle/>
          <a:p>
            <a:pPr algn="l">
              <a:spcAft>
                <a:spcPts val="0"/>
              </a:spcAft>
            </a:pPr>
            <a:r>
              <a:rPr sz="1019" b="0">
                <a:solidFill>
                  <a:srgbClr val="4E433D"/>
                </a:solidFill>
                <a:latin typeface="Microsoft YaHei"/>
              </a:rPr>
              <a:t>3. AI 生成个性化营销文案、活动配图和页面草稿，辅助快速完成活动准备</a:t>
            </a:r>
          </a:p>
        </p:txBody>
      </p:sp>
      <p:sp>
        <p:nvSpPr>
          <p:cNvPr id="24" name="Right Arrow 23"/>
          <p:cNvSpPr/>
          <p:nvPr/>
        </p:nvSpPr>
        <p:spPr>
          <a:xfrm>
            <a:off x="7037222" y="3886200"/>
            <a:ext cx="219456" cy="201168"/>
          </a:xfrm>
          <a:prstGeom prst="rightArrow">
            <a:avLst/>
          </a:prstGeom>
          <a:solidFill>
            <a:srgbClr val="D97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256678" y="3401568"/>
            <a:ext cx="1739188" cy="1536192"/>
          </a:xfrm>
          <a:prstGeom prst="roundRect">
            <a:avLst>
              <a:gd name="adj" fmla="val 10000"/>
            </a:avLst>
          </a:prstGeom>
          <a:solidFill>
            <a:srgbClr val="F6F1EC"/>
          </a:solidFill>
          <a:ln w="10160">
            <a:solidFill>
              <a:srgbClr val="DCCB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384694" y="3511296"/>
            <a:ext cx="493776" cy="310896"/>
          </a:xfrm>
          <a:prstGeom prst="roundRect">
            <a:avLst>
              <a:gd name="adj" fmla="val 5000"/>
            </a:avLst>
          </a:prstGeom>
          <a:solidFill>
            <a:srgbClr val="D97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48702" y="3566160"/>
            <a:ext cx="365760" cy="91440"/>
          </a:xfrm>
          <a:prstGeom prst="rect">
            <a:avLst/>
          </a:prstGeom>
          <a:noFill/>
        </p:spPr>
        <p:txBody>
          <a:bodyPr wrap="square" anchor="ctr">
            <a:spAutoFit/>
          </a:bodyPr>
          <a:lstStyle/>
          <a:p>
            <a:pPr algn="ctr">
              <a:spcAft>
                <a:spcPts val="0"/>
              </a:spcAft>
            </a:pPr>
            <a:r>
              <a:rPr sz="950" b="1">
                <a:solidFill>
                  <a:srgbClr val="FFFFFF"/>
                </a:solidFill>
                <a:latin typeface="Arial"/>
              </a:rPr>
              <a:t>04</a:t>
            </a:r>
          </a:p>
        </p:txBody>
      </p:sp>
      <p:sp>
        <p:nvSpPr>
          <p:cNvPr id="28" name="TextBox 27"/>
          <p:cNvSpPr txBox="1"/>
          <p:nvPr/>
        </p:nvSpPr>
        <p:spPr>
          <a:xfrm>
            <a:off x="7402982" y="3931920"/>
            <a:ext cx="1483156" cy="841248"/>
          </a:xfrm>
          <a:prstGeom prst="rect">
            <a:avLst/>
          </a:prstGeom>
          <a:noFill/>
        </p:spPr>
        <p:txBody>
          <a:bodyPr wrap="square" anchor="t">
            <a:spAutoFit/>
          </a:bodyPr>
          <a:lstStyle/>
          <a:p>
            <a:pPr algn="l">
              <a:spcAft>
                <a:spcPts val="0"/>
              </a:spcAft>
            </a:pPr>
            <a:r>
              <a:rPr sz="1019" b="0">
                <a:solidFill>
                  <a:srgbClr val="4E433D"/>
                </a:solidFill>
                <a:latin typeface="Microsoft YaHei"/>
              </a:rPr>
              <a:t>4. 系统汇总活动效果并输出复盘分析，识别下一轮优化方向</a:t>
            </a:r>
          </a:p>
        </p:txBody>
      </p:sp>
      <p:sp>
        <p:nvSpPr>
          <p:cNvPr id="29" name="Right Arrow 28"/>
          <p:cNvSpPr/>
          <p:nvPr/>
        </p:nvSpPr>
        <p:spPr>
          <a:xfrm>
            <a:off x="9105595" y="3886200"/>
            <a:ext cx="219456" cy="201168"/>
          </a:xfrm>
          <a:prstGeom prst="rightArrow">
            <a:avLst/>
          </a:prstGeom>
          <a:solidFill>
            <a:srgbClr val="D97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325051" y="3401568"/>
            <a:ext cx="1739188" cy="1536192"/>
          </a:xfrm>
          <a:prstGeom prst="roundRect">
            <a:avLst>
              <a:gd name="adj" fmla="val 10000"/>
            </a:avLst>
          </a:prstGeom>
          <a:solidFill>
            <a:srgbClr val="FBF7F3"/>
          </a:solidFill>
          <a:ln w="10160">
            <a:solidFill>
              <a:srgbClr val="DCCB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453067" y="3511296"/>
            <a:ext cx="493776" cy="310896"/>
          </a:xfrm>
          <a:prstGeom prst="roundRect">
            <a:avLst>
              <a:gd name="adj" fmla="val 5000"/>
            </a:avLst>
          </a:prstGeom>
          <a:solidFill>
            <a:srgbClr val="D97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517075" y="3566160"/>
            <a:ext cx="365760" cy="91440"/>
          </a:xfrm>
          <a:prstGeom prst="rect">
            <a:avLst/>
          </a:prstGeom>
          <a:noFill/>
        </p:spPr>
        <p:txBody>
          <a:bodyPr wrap="square" anchor="ctr">
            <a:spAutoFit/>
          </a:bodyPr>
          <a:lstStyle/>
          <a:p>
            <a:pPr algn="ctr">
              <a:spcAft>
                <a:spcPts val="0"/>
              </a:spcAft>
            </a:pPr>
            <a:r>
              <a:rPr sz="950" b="1">
                <a:solidFill>
                  <a:srgbClr val="FFFFFF"/>
                </a:solidFill>
                <a:latin typeface="Arial"/>
              </a:rPr>
              <a:t>05</a:t>
            </a:r>
          </a:p>
        </p:txBody>
      </p:sp>
      <p:sp>
        <p:nvSpPr>
          <p:cNvPr id="33" name="TextBox 32"/>
          <p:cNvSpPr txBox="1"/>
          <p:nvPr/>
        </p:nvSpPr>
        <p:spPr>
          <a:xfrm>
            <a:off x="9471355" y="3931920"/>
            <a:ext cx="1483156" cy="841248"/>
          </a:xfrm>
          <a:prstGeom prst="rect">
            <a:avLst/>
          </a:prstGeom>
          <a:noFill/>
        </p:spPr>
        <p:txBody>
          <a:bodyPr wrap="square" anchor="t">
            <a:spAutoFit/>
          </a:bodyPr>
          <a:lstStyle/>
          <a:p>
            <a:pPr algn="l">
              <a:spcAft>
                <a:spcPts val="0"/>
              </a:spcAft>
            </a:pPr>
            <a:r>
              <a:rPr sz="1019" b="0">
                <a:solidFill>
                  <a:srgbClr val="4E433D"/>
                </a:solidFill>
                <a:latin typeface="Microsoft YaHei"/>
              </a:rPr>
              <a:t>5. 针对高流失风险会员生成保留建议和跟进动作，推动运营闭环</a:t>
            </a:r>
          </a:p>
        </p:txBody>
      </p:sp>
      <p:sp>
        <p:nvSpPr>
          <p:cNvPr id="34" name="Rounded Rectangle 33"/>
          <p:cNvSpPr/>
          <p:nvPr/>
        </p:nvSpPr>
        <p:spPr>
          <a:xfrm>
            <a:off x="822960" y="5596128"/>
            <a:ext cx="10469880" cy="658368"/>
          </a:xfrm>
          <a:prstGeom prst="roundRect">
            <a:avLst>
              <a:gd name="adj" fmla="val 10000"/>
            </a:avLst>
          </a:prstGeom>
          <a:solidFill>
            <a:srgbClr val="D97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97280" y="5742432"/>
            <a:ext cx="1463040" cy="274320"/>
          </a:xfrm>
          <a:prstGeom prst="rect">
            <a:avLst/>
          </a:prstGeom>
          <a:noFill/>
        </p:spPr>
        <p:txBody>
          <a:bodyPr wrap="square" anchor="t">
            <a:spAutoFit/>
          </a:bodyPr>
          <a:lstStyle/>
          <a:p>
            <a:pPr algn="l">
              <a:spcAft>
                <a:spcPts val="0"/>
              </a:spcAft>
            </a:pPr>
            <a:r>
              <a:rPr sz="1650" b="1">
                <a:solidFill>
                  <a:srgbClr val="FFFFFF"/>
                </a:solidFill>
                <a:latin typeface="Microsoft YaHei"/>
              </a:rPr>
              <a:t>闭环结果</a:t>
            </a:r>
          </a:p>
        </p:txBody>
      </p:sp>
      <p:sp>
        <p:nvSpPr>
          <p:cNvPr id="36" name="TextBox 35"/>
          <p:cNvSpPr txBox="1"/>
          <p:nvPr/>
        </p:nvSpPr>
        <p:spPr>
          <a:xfrm>
            <a:off x="2240280" y="5715000"/>
            <a:ext cx="8183879" cy="201168"/>
          </a:xfrm>
          <a:prstGeom prst="rect">
            <a:avLst/>
          </a:prstGeom>
          <a:noFill/>
        </p:spPr>
        <p:txBody>
          <a:bodyPr wrap="square" anchor="ctr">
            <a:spAutoFit/>
          </a:bodyPr>
          <a:lstStyle/>
          <a:p>
            <a:pPr algn="l">
              <a:spcAft>
                <a:spcPts val="0"/>
              </a:spcAft>
            </a:pPr>
            <a:r>
              <a:rPr sz="1360" b="1">
                <a:solidFill>
                  <a:srgbClr val="FFFFFF"/>
                </a:solidFill>
                <a:latin typeface="Microsoft YaHei"/>
              </a:rPr>
              <a:t>形成从会员洞察、内容生成、活动执行、效果复盘到流失干预的一体化增长闭环</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1EC"/>
        </a:solidFill>
        <a:effectLst/>
      </p:bgPr>
    </p:bg>
    <p:spTree>
      <p:nvGrpSpPr>
        <p:cNvPr id="1" name=""/>
        <p:cNvGrpSpPr/>
        <p:nvPr/>
      </p:nvGrpSpPr>
      <p:grpSpPr/>
      <p:sp>
        <p:nvSpPr>
          <p:cNvPr id="2" name="Rectangle 1"/>
          <p:cNvSpPr/>
          <p:nvPr/>
        </p:nvSpPr>
        <p:spPr>
          <a:xfrm>
            <a:off x="548640" y="502920"/>
            <a:ext cx="109728" cy="822960"/>
          </a:xfrm>
          <a:prstGeom prst="rect">
            <a:avLst/>
          </a:prstGeom>
          <a:solidFill>
            <a:srgbClr val="D97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8046720" cy="640080"/>
          </a:xfrm>
          <a:prstGeom prst="rect">
            <a:avLst/>
          </a:prstGeom>
          <a:noFill/>
        </p:spPr>
        <p:txBody>
          <a:bodyPr wrap="square" anchor="t">
            <a:spAutoFit/>
          </a:bodyPr>
          <a:lstStyle/>
          <a:p>
            <a:pPr algn="l">
              <a:spcAft>
                <a:spcPts val="0"/>
              </a:spcAft>
            </a:pPr>
            <a:r>
              <a:rPr sz="2400" b="1">
                <a:solidFill>
                  <a:srgbClr val="A63A2B"/>
                </a:solidFill>
                <a:latin typeface="Microsoft YaHei"/>
              </a:rPr>
              <a:t>解决方案架构</a:t>
            </a:r>
          </a:p>
        </p:txBody>
      </p:sp>
      <p:sp>
        <p:nvSpPr>
          <p:cNvPr id="4" name="Rectangle 3"/>
          <p:cNvSpPr/>
          <p:nvPr/>
        </p:nvSpPr>
        <p:spPr>
          <a:xfrm>
            <a:off x="822960" y="1325880"/>
            <a:ext cx="10515600" cy="27432"/>
          </a:xfrm>
          <a:prstGeom prst="rect">
            <a:avLst/>
          </a:prstGeom>
          <a:solidFill>
            <a:srgbClr val="F3E7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2960" y="1700784"/>
            <a:ext cx="10469880" cy="749808"/>
          </a:xfrm>
          <a:prstGeom prst="roundRect">
            <a:avLst>
              <a:gd name="adj" fmla="val 10000"/>
            </a:avLst>
          </a:prstGeom>
          <a:solidFill>
            <a:srgbClr val="A63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883664"/>
            <a:ext cx="9966960" cy="274320"/>
          </a:xfrm>
          <a:prstGeom prst="rect">
            <a:avLst/>
          </a:prstGeom>
          <a:noFill/>
        </p:spPr>
        <p:txBody>
          <a:bodyPr wrap="square" anchor="ctr">
            <a:spAutoFit/>
          </a:bodyPr>
          <a:lstStyle/>
          <a:p>
            <a:pPr algn="l">
              <a:spcAft>
                <a:spcPts val="0"/>
              </a:spcAft>
            </a:pPr>
            <a:r>
              <a:rPr sz="1480" b="1">
                <a:solidFill>
                  <a:srgbClr val="FFFFFF"/>
                </a:solidFill>
                <a:latin typeface="Microsoft YaHei"/>
              </a:rPr>
              <a:t>闭环目标：形成从会员洞察、内容生成、活动执行、效果复盘到流失干预的一体化增长闭环</a:t>
            </a:r>
          </a:p>
        </p:txBody>
      </p:sp>
      <p:sp>
        <p:nvSpPr>
          <p:cNvPr id="7" name="Rounded Rectangle 6"/>
          <p:cNvSpPr/>
          <p:nvPr/>
        </p:nvSpPr>
        <p:spPr>
          <a:xfrm>
            <a:off x="822960" y="2697480"/>
            <a:ext cx="10469880" cy="3429000"/>
          </a:xfrm>
          <a:prstGeom prst="roundRect">
            <a:avLst>
              <a:gd name="adj" fmla="val 10000"/>
            </a:avLst>
          </a:prstGeom>
          <a:solidFill>
            <a:srgbClr val="F3E7DE"/>
          </a:solidFill>
          <a:ln w="10160">
            <a:solidFill>
              <a:srgbClr val="DCCB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2889504"/>
            <a:ext cx="6217920" cy="274320"/>
          </a:xfrm>
          <a:prstGeom prst="rect">
            <a:avLst/>
          </a:prstGeom>
          <a:noFill/>
        </p:spPr>
        <p:txBody>
          <a:bodyPr wrap="square" anchor="t">
            <a:spAutoFit/>
          </a:bodyPr>
          <a:lstStyle/>
          <a:p>
            <a:pPr algn="l">
              <a:spcAft>
                <a:spcPts val="0"/>
              </a:spcAft>
            </a:pPr>
            <a:r>
              <a:rPr sz="1650" b="1">
                <a:solidFill>
                  <a:srgbClr val="A63A2B"/>
                </a:solidFill>
                <a:latin typeface="Microsoft YaHei"/>
              </a:rPr>
              <a:t>会员生命周期运营增长与流失预警闭环</a:t>
            </a:r>
          </a:p>
        </p:txBody>
      </p:sp>
      <p:sp>
        <p:nvSpPr>
          <p:cNvPr id="9" name="Oval 8"/>
          <p:cNvSpPr/>
          <p:nvPr/>
        </p:nvSpPr>
        <p:spPr>
          <a:xfrm>
            <a:off x="1078992" y="3355848"/>
            <a:ext cx="384048" cy="384048"/>
          </a:xfrm>
          <a:prstGeom prst="ellipse">
            <a:avLst/>
          </a:prstGeom>
          <a:solidFill>
            <a:srgbClr val="A63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 y="3424427"/>
            <a:ext cx="274320" cy="73152"/>
          </a:xfrm>
          <a:prstGeom prst="rect">
            <a:avLst/>
          </a:prstGeom>
          <a:noFill/>
        </p:spPr>
        <p:txBody>
          <a:bodyPr wrap="square" anchor="ctr">
            <a:spAutoFit/>
          </a:bodyPr>
          <a:lstStyle/>
          <a:p>
            <a:pPr algn="ctr">
              <a:spcAft>
                <a:spcPts val="0"/>
              </a:spcAft>
            </a:pPr>
            <a:r>
              <a:rPr sz="919" b="1">
                <a:solidFill>
                  <a:srgbClr val="FFFFFF"/>
                </a:solidFill>
                <a:latin typeface="Arial"/>
              </a:rPr>
              <a:t>1</a:t>
            </a:r>
          </a:p>
        </p:txBody>
      </p:sp>
      <p:sp>
        <p:nvSpPr>
          <p:cNvPr id="11" name="Rounded Rectangle 10"/>
          <p:cNvSpPr/>
          <p:nvPr/>
        </p:nvSpPr>
        <p:spPr>
          <a:xfrm>
            <a:off x="1572768" y="3246120"/>
            <a:ext cx="2011680" cy="585216"/>
          </a:xfrm>
          <a:prstGeom prst="roundRect">
            <a:avLst>
              <a:gd name="adj" fmla="val 10000"/>
            </a:avLst>
          </a:prstGeom>
          <a:solidFill>
            <a:srgbClr val="A63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773936" y="3401568"/>
            <a:ext cx="1600200" cy="128016"/>
          </a:xfrm>
          <a:prstGeom prst="rect">
            <a:avLst/>
          </a:prstGeom>
          <a:noFill/>
        </p:spPr>
        <p:txBody>
          <a:bodyPr wrap="square" anchor="ctr">
            <a:spAutoFit/>
          </a:bodyPr>
          <a:lstStyle/>
          <a:p>
            <a:pPr algn="ctr">
              <a:spcAft>
                <a:spcPts val="0"/>
              </a:spcAft>
            </a:pPr>
            <a:r>
              <a:rPr sz="1180" b="1">
                <a:solidFill>
                  <a:srgbClr val="FFFFFF"/>
                </a:solidFill>
                <a:latin typeface="Microsoft YaHei"/>
              </a:rPr>
              <a:t>1. 展示层</a:t>
            </a:r>
          </a:p>
        </p:txBody>
      </p:sp>
      <p:sp>
        <p:nvSpPr>
          <p:cNvPr id="13" name="Rounded Rectangle 12"/>
          <p:cNvSpPr/>
          <p:nvPr/>
        </p:nvSpPr>
        <p:spPr>
          <a:xfrm>
            <a:off x="3767328" y="3246120"/>
            <a:ext cx="6382512" cy="585216"/>
          </a:xfrm>
          <a:prstGeom prst="roundRect">
            <a:avLst>
              <a:gd name="adj" fmla="val 10000"/>
            </a:avLst>
          </a:prstGeom>
          <a:solidFill>
            <a:srgbClr val="F6F1EC"/>
          </a:solidFill>
          <a:ln w="10160">
            <a:solidFill>
              <a:srgbClr val="DCCB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05072" y="3355848"/>
            <a:ext cx="5925312" cy="274320"/>
          </a:xfrm>
          <a:prstGeom prst="rect">
            <a:avLst/>
          </a:prstGeom>
          <a:noFill/>
        </p:spPr>
        <p:txBody>
          <a:bodyPr wrap="square" anchor="ctr">
            <a:spAutoFit/>
          </a:bodyPr>
          <a:lstStyle/>
          <a:p>
            <a:pPr algn="l">
              <a:spcAft>
                <a:spcPts val="0"/>
              </a:spcAft>
            </a:pPr>
            <a:r>
              <a:rPr sz="1200" b="0">
                <a:solidFill>
                  <a:srgbClr val="4E433D"/>
                </a:solidFill>
                <a:latin typeface="Microsoft YaHei"/>
              </a:rPr>
              <a:t>页面壳子、看板卡片、列表表格、详情抽屉</a:t>
            </a:r>
          </a:p>
        </p:txBody>
      </p:sp>
      <p:sp>
        <p:nvSpPr>
          <p:cNvPr id="15" name="Down Arrow 14"/>
          <p:cNvSpPr/>
          <p:nvPr/>
        </p:nvSpPr>
        <p:spPr>
          <a:xfrm>
            <a:off x="5879592" y="3822191"/>
            <a:ext cx="274320" cy="164592"/>
          </a:xfrm>
          <a:prstGeom prst="downArrow">
            <a:avLst/>
          </a:prstGeom>
          <a:solidFill>
            <a:srgbClr val="D97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78992" y="4251960"/>
            <a:ext cx="384048" cy="384048"/>
          </a:xfrm>
          <a:prstGeom prst="ellipse">
            <a:avLst/>
          </a:prstGeom>
          <a:solidFill>
            <a:srgbClr val="D97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33856" y="4320540"/>
            <a:ext cx="274320" cy="73152"/>
          </a:xfrm>
          <a:prstGeom prst="rect">
            <a:avLst/>
          </a:prstGeom>
          <a:noFill/>
        </p:spPr>
        <p:txBody>
          <a:bodyPr wrap="square" anchor="ctr">
            <a:spAutoFit/>
          </a:bodyPr>
          <a:lstStyle/>
          <a:p>
            <a:pPr algn="ctr">
              <a:spcAft>
                <a:spcPts val="0"/>
              </a:spcAft>
            </a:pPr>
            <a:r>
              <a:rPr sz="919" b="1">
                <a:solidFill>
                  <a:srgbClr val="FFFFFF"/>
                </a:solidFill>
                <a:latin typeface="Arial"/>
              </a:rPr>
              <a:t>2</a:t>
            </a:r>
          </a:p>
        </p:txBody>
      </p:sp>
      <p:sp>
        <p:nvSpPr>
          <p:cNvPr id="18" name="Rounded Rectangle 17"/>
          <p:cNvSpPr/>
          <p:nvPr/>
        </p:nvSpPr>
        <p:spPr>
          <a:xfrm>
            <a:off x="1572768" y="4142232"/>
            <a:ext cx="2011680" cy="585216"/>
          </a:xfrm>
          <a:prstGeom prst="roundRect">
            <a:avLst>
              <a:gd name="adj" fmla="val 10000"/>
            </a:avLst>
          </a:prstGeom>
          <a:solidFill>
            <a:srgbClr val="D97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73936" y="4297680"/>
            <a:ext cx="1600200" cy="128016"/>
          </a:xfrm>
          <a:prstGeom prst="rect">
            <a:avLst/>
          </a:prstGeom>
          <a:noFill/>
        </p:spPr>
        <p:txBody>
          <a:bodyPr wrap="square" anchor="ctr">
            <a:spAutoFit/>
          </a:bodyPr>
          <a:lstStyle/>
          <a:p>
            <a:pPr algn="ctr">
              <a:spcAft>
                <a:spcPts val="0"/>
              </a:spcAft>
            </a:pPr>
            <a:r>
              <a:rPr sz="1180" b="1">
                <a:solidFill>
                  <a:srgbClr val="FFFFFF"/>
                </a:solidFill>
                <a:latin typeface="Microsoft YaHei"/>
              </a:rPr>
              <a:t>2. 交互层</a:t>
            </a:r>
          </a:p>
        </p:txBody>
      </p:sp>
      <p:sp>
        <p:nvSpPr>
          <p:cNvPr id="20" name="Rounded Rectangle 19"/>
          <p:cNvSpPr/>
          <p:nvPr/>
        </p:nvSpPr>
        <p:spPr>
          <a:xfrm>
            <a:off x="3767328" y="4142232"/>
            <a:ext cx="6382512" cy="585216"/>
          </a:xfrm>
          <a:prstGeom prst="roundRect">
            <a:avLst>
              <a:gd name="adj" fmla="val 10000"/>
            </a:avLst>
          </a:prstGeom>
          <a:solidFill>
            <a:srgbClr val="FBF7F3"/>
          </a:solidFill>
          <a:ln w="10160">
            <a:solidFill>
              <a:srgbClr val="DCCB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005072" y="4251960"/>
            <a:ext cx="5925312" cy="274320"/>
          </a:xfrm>
          <a:prstGeom prst="rect">
            <a:avLst/>
          </a:prstGeom>
          <a:noFill/>
        </p:spPr>
        <p:txBody>
          <a:bodyPr wrap="square" anchor="ctr">
            <a:spAutoFit/>
          </a:bodyPr>
          <a:lstStyle/>
          <a:p>
            <a:pPr algn="l">
              <a:spcAft>
                <a:spcPts val="0"/>
              </a:spcAft>
            </a:pPr>
            <a:r>
              <a:rPr sz="1200" b="0">
                <a:solidFill>
                  <a:srgbClr val="4E433D"/>
                </a:solidFill>
                <a:latin typeface="Microsoft YaHei"/>
              </a:rPr>
              <a:t>筛选切换、建议查看、动作触发、结果回看</a:t>
            </a:r>
          </a:p>
        </p:txBody>
      </p:sp>
      <p:sp>
        <p:nvSpPr>
          <p:cNvPr id="22" name="Down Arrow 21"/>
          <p:cNvSpPr/>
          <p:nvPr/>
        </p:nvSpPr>
        <p:spPr>
          <a:xfrm>
            <a:off x="5879592" y="4718304"/>
            <a:ext cx="274320" cy="164592"/>
          </a:xfrm>
          <a:prstGeom prst="downArrow">
            <a:avLst/>
          </a:prstGeom>
          <a:solidFill>
            <a:srgbClr val="D97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78992" y="5148072"/>
            <a:ext cx="384048" cy="384048"/>
          </a:xfrm>
          <a:prstGeom prst="ellipse">
            <a:avLst/>
          </a:prstGeom>
          <a:solidFill>
            <a:srgbClr val="A63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33856" y="5216652"/>
            <a:ext cx="274320" cy="73152"/>
          </a:xfrm>
          <a:prstGeom prst="rect">
            <a:avLst/>
          </a:prstGeom>
          <a:noFill/>
        </p:spPr>
        <p:txBody>
          <a:bodyPr wrap="square" anchor="ctr">
            <a:spAutoFit/>
          </a:bodyPr>
          <a:lstStyle/>
          <a:p>
            <a:pPr algn="ctr">
              <a:spcAft>
                <a:spcPts val="0"/>
              </a:spcAft>
            </a:pPr>
            <a:r>
              <a:rPr sz="919" b="1">
                <a:solidFill>
                  <a:srgbClr val="FFFFFF"/>
                </a:solidFill>
                <a:latin typeface="Arial"/>
              </a:rPr>
              <a:t>3</a:t>
            </a:r>
          </a:p>
        </p:txBody>
      </p:sp>
      <p:sp>
        <p:nvSpPr>
          <p:cNvPr id="25" name="Rounded Rectangle 24"/>
          <p:cNvSpPr/>
          <p:nvPr/>
        </p:nvSpPr>
        <p:spPr>
          <a:xfrm>
            <a:off x="1572768" y="5038344"/>
            <a:ext cx="2011680" cy="585216"/>
          </a:xfrm>
          <a:prstGeom prst="roundRect">
            <a:avLst>
              <a:gd name="adj" fmla="val 10000"/>
            </a:avLst>
          </a:prstGeom>
          <a:solidFill>
            <a:srgbClr val="A63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773936" y="5193792"/>
            <a:ext cx="1600200" cy="128016"/>
          </a:xfrm>
          <a:prstGeom prst="rect">
            <a:avLst/>
          </a:prstGeom>
          <a:noFill/>
        </p:spPr>
        <p:txBody>
          <a:bodyPr wrap="square" anchor="ctr">
            <a:spAutoFit/>
          </a:bodyPr>
          <a:lstStyle/>
          <a:p>
            <a:pPr algn="ctr">
              <a:spcAft>
                <a:spcPts val="0"/>
              </a:spcAft>
            </a:pPr>
            <a:r>
              <a:rPr sz="1180" b="1">
                <a:solidFill>
                  <a:srgbClr val="FFFFFF"/>
                </a:solidFill>
                <a:latin typeface="Microsoft YaHei"/>
              </a:rPr>
              <a:t>3. 数据层</a:t>
            </a:r>
          </a:p>
        </p:txBody>
      </p:sp>
      <p:sp>
        <p:nvSpPr>
          <p:cNvPr id="27" name="Rounded Rectangle 26"/>
          <p:cNvSpPr/>
          <p:nvPr/>
        </p:nvSpPr>
        <p:spPr>
          <a:xfrm>
            <a:off x="3767328" y="5038344"/>
            <a:ext cx="6382512" cy="585216"/>
          </a:xfrm>
          <a:prstGeom prst="roundRect">
            <a:avLst>
              <a:gd name="adj" fmla="val 10000"/>
            </a:avLst>
          </a:prstGeom>
          <a:solidFill>
            <a:srgbClr val="F6F1EC"/>
          </a:solidFill>
          <a:ln w="10160">
            <a:solidFill>
              <a:srgbClr val="DCCB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5072" y="5148072"/>
            <a:ext cx="5925312" cy="274320"/>
          </a:xfrm>
          <a:prstGeom prst="rect">
            <a:avLst/>
          </a:prstGeom>
          <a:noFill/>
        </p:spPr>
        <p:txBody>
          <a:bodyPr wrap="square" anchor="ctr">
            <a:spAutoFit/>
          </a:bodyPr>
          <a:lstStyle/>
          <a:p>
            <a:pPr algn="l">
              <a:spcAft>
                <a:spcPts val="0"/>
              </a:spcAft>
            </a:pPr>
            <a:r>
              <a:rPr sz="1200" b="0">
                <a:solidFill>
                  <a:srgbClr val="4E433D"/>
                </a:solidFill>
                <a:latin typeface="Microsoft YaHei"/>
              </a:rPr>
              <a:t>样例数据、页面状态配置、Mock 接口返回</a:t>
            </a:r>
          </a:p>
        </p:txBody>
      </p:sp>
      <p:sp>
        <p:nvSpPr>
          <p:cNvPr id="29" name="Rounded Rectangle 28"/>
          <p:cNvSpPr/>
          <p:nvPr/>
        </p:nvSpPr>
        <p:spPr>
          <a:xfrm>
            <a:off x="822960" y="6355080"/>
            <a:ext cx="10469880" cy="822960"/>
          </a:xfrm>
          <a:prstGeom prst="roundRect">
            <a:avLst>
              <a:gd name="adj" fmla="val 10000"/>
            </a:avLst>
          </a:prstGeom>
          <a:solidFill>
            <a:srgbClr val="FBF7F3"/>
          </a:solidFill>
          <a:ln w="10160">
            <a:solidFill>
              <a:srgbClr val="DCCB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78992" y="6556248"/>
            <a:ext cx="1463040" cy="274320"/>
          </a:xfrm>
          <a:prstGeom prst="rect">
            <a:avLst/>
          </a:prstGeom>
          <a:noFill/>
        </p:spPr>
        <p:txBody>
          <a:bodyPr wrap="square" anchor="t">
            <a:spAutoFit/>
          </a:bodyPr>
          <a:lstStyle/>
          <a:p>
            <a:pPr algn="l">
              <a:spcAft>
                <a:spcPts val="0"/>
              </a:spcAft>
            </a:pPr>
            <a:r>
              <a:rPr sz="1650" b="1">
                <a:solidFill>
                  <a:srgbClr val="A63A2B"/>
                </a:solidFill>
                <a:latin typeface="Microsoft YaHei"/>
              </a:rPr>
              <a:t>产品栈</a:t>
            </a:r>
          </a:p>
        </p:txBody>
      </p:sp>
      <p:sp>
        <p:nvSpPr>
          <p:cNvPr id="31" name="Rounded Rectangle 30"/>
          <p:cNvSpPr/>
          <p:nvPr/>
        </p:nvSpPr>
        <p:spPr>
          <a:xfrm>
            <a:off x="1993392" y="6528816"/>
            <a:ext cx="2057400" cy="384048"/>
          </a:xfrm>
          <a:prstGeom prst="roundRect">
            <a:avLst>
              <a:gd name="adj" fmla="val 8000"/>
            </a:avLst>
          </a:prstGeom>
          <a:solidFill>
            <a:srgbClr val="F6F1EC"/>
          </a:solidFill>
          <a:ln w="10160">
            <a:solidFill>
              <a:srgbClr val="DCCB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084832" y="6629400"/>
            <a:ext cx="1874519" cy="109728"/>
          </a:xfrm>
          <a:prstGeom prst="rect">
            <a:avLst/>
          </a:prstGeom>
          <a:noFill/>
        </p:spPr>
        <p:txBody>
          <a:bodyPr wrap="square" anchor="ctr">
            <a:spAutoFit/>
          </a:bodyPr>
          <a:lstStyle/>
          <a:p>
            <a:pPr algn="ctr">
              <a:spcAft>
                <a:spcPts val="0"/>
              </a:spcAft>
            </a:pPr>
            <a:r>
              <a:rPr sz="980" b="0">
                <a:solidFill>
                  <a:srgbClr val="4E433D"/>
                </a:solidFill>
                <a:latin typeface="Microsoft YaHei"/>
              </a:rPr>
              <a:t>Dynamics 365 Customer Insights</a:t>
            </a:r>
          </a:p>
        </p:txBody>
      </p:sp>
      <p:sp>
        <p:nvSpPr>
          <p:cNvPr id="33" name="Rounded Rectangle 32"/>
          <p:cNvSpPr/>
          <p:nvPr/>
        </p:nvSpPr>
        <p:spPr>
          <a:xfrm>
            <a:off x="4215384" y="6528816"/>
            <a:ext cx="2057400" cy="384048"/>
          </a:xfrm>
          <a:prstGeom prst="roundRect">
            <a:avLst>
              <a:gd name="adj" fmla="val 8000"/>
            </a:avLst>
          </a:prstGeom>
          <a:solidFill>
            <a:srgbClr val="F3E7DE"/>
          </a:solidFill>
          <a:ln w="10160">
            <a:solidFill>
              <a:srgbClr val="DCCB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306824" y="6629400"/>
            <a:ext cx="1874519" cy="109728"/>
          </a:xfrm>
          <a:prstGeom prst="rect">
            <a:avLst/>
          </a:prstGeom>
          <a:noFill/>
        </p:spPr>
        <p:txBody>
          <a:bodyPr wrap="square" anchor="ctr">
            <a:spAutoFit/>
          </a:bodyPr>
          <a:lstStyle/>
          <a:p>
            <a:pPr algn="ctr">
              <a:spcAft>
                <a:spcPts val="0"/>
              </a:spcAft>
            </a:pPr>
            <a:r>
              <a:rPr sz="980" b="0">
                <a:solidFill>
                  <a:srgbClr val="4E433D"/>
                </a:solidFill>
                <a:latin typeface="Microsoft YaHei"/>
              </a:rPr>
              <a:t>Microsoft Fabric</a:t>
            </a:r>
          </a:p>
        </p:txBody>
      </p:sp>
      <p:sp>
        <p:nvSpPr>
          <p:cNvPr id="35" name="Rounded Rectangle 34"/>
          <p:cNvSpPr/>
          <p:nvPr/>
        </p:nvSpPr>
        <p:spPr>
          <a:xfrm>
            <a:off x="6437376" y="6528816"/>
            <a:ext cx="2057400" cy="384048"/>
          </a:xfrm>
          <a:prstGeom prst="roundRect">
            <a:avLst>
              <a:gd name="adj" fmla="val 8000"/>
            </a:avLst>
          </a:prstGeom>
          <a:solidFill>
            <a:srgbClr val="F6F1EC"/>
          </a:solidFill>
          <a:ln w="10160">
            <a:solidFill>
              <a:srgbClr val="DCCB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28816" y="6629400"/>
            <a:ext cx="1874519" cy="109728"/>
          </a:xfrm>
          <a:prstGeom prst="rect">
            <a:avLst/>
          </a:prstGeom>
          <a:noFill/>
        </p:spPr>
        <p:txBody>
          <a:bodyPr wrap="square" anchor="ctr">
            <a:spAutoFit/>
          </a:bodyPr>
          <a:lstStyle/>
          <a:p>
            <a:pPr algn="ctr">
              <a:spcAft>
                <a:spcPts val="0"/>
              </a:spcAft>
            </a:pPr>
            <a:r>
              <a:rPr sz="980" b="0">
                <a:solidFill>
                  <a:srgbClr val="4E433D"/>
                </a:solidFill>
                <a:latin typeface="Microsoft YaHei"/>
              </a:rPr>
              <a:t>Azure OpenAI</a:t>
            </a:r>
          </a:p>
        </p:txBody>
      </p:sp>
      <p:sp>
        <p:nvSpPr>
          <p:cNvPr id="37" name="Rounded Rectangle 36"/>
          <p:cNvSpPr/>
          <p:nvPr/>
        </p:nvSpPr>
        <p:spPr>
          <a:xfrm>
            <a:off x="8659368" y="6528816"/>
            <a:ext cx="2057400" cy="384048"/>
          </a:xfrm>
          <a:prstGeom prst="roundRect">
            <a:avLst>
              <a:gd name="adj" fmla="val 8000"/>
            </a:avLst>
          </a:prstGeom>
          <a:solidFill>
            <a:srgbClr val="F3E7DE"/>
          </a:solidFill>
          <a:ln w="10160">
            <a:solidFill>
              <a:srgbClr val="DCCB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750808" y="6629400"/>
            <a:ext cx="1874519" cy="109728"/>
          </a:xfrm>
          <a:prstGeom prst="rect">
            <a:avLst/>
          </a:prstGeom>
          <a:noFill/>
        </p:spPr>
        <p:txBody>
          <a:bodyPr wrap="square" anchor="ctr">
            <a:spAutoFit/>
          </a:bodyPr>
          <a:lstStyle/>
          <a:p>
            <a:pPr algn="ctr">
              <a:spcAft>
                <a:spcPts val="0"/>
              </a:spcAft>
            </a:pPr>
            <a:r>
              <a:rPr sz="980" b="0">
                <a:solidFill>
                  <a:srgbClr val="4E433D"/>
                </a:solidFill>
                <a:latin typeface="Microsoft YaHei"/>
              </a:rPr>
              <a:t>Azure AI Foundry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1EC"/>
        </a:solidFill>
        <a:effectLst/>
      </p:bgPr>
    </p:bg>
    <p:spTree>
      <p:nvGrpSpPr>
        <p:cNvPr id="1" name=""/>
        <p:cNvGrpSpPr/>
        <p:nvPr/>
      </p:nvGrpSpPr>
      <p:grpSpPr/>
      <p:sp>
        <p:nvSpPr>
          <p:cNvPr id="2" name="Rectangle 1"/>
          <p:cNvSpPr/>
          <p:nvPr/>
        </p:nvSpPr>
        <p:spPr>
          <a:xfrm>
            <a:off x="548640" y="502920"/>
            <a:ext cx="109728" cy="822960"/>
          </a:xfrm>
          <a:prstGeom prst="rect">
            <a:avLst/>
          </a:prstGeom>
          <a:solidFill>
            <a:srgbClr val="D97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8046720" cy="640080"/>
          </a:xfrm>
          <a:prstGeom prst="rect">
            <a:avLst/>
          </a:prstGeom>
          <a:noFill/>
        </p:spPr>
        <p:txBody>
          <a:bodyPr wrap="square" anchor="t">
            <a:spAutoFit/>
          </a:bodyPr>
          <a:lstStyle/>
          <a:p>
            <a:pPr algn="l">
              <a:spcAft>
                <a:spcPts val="0"/>
              </a:spcAft>
            </a:pPr>
            <a:r>
              <a:rPr sz="2400" b="1">
                <a:solidFill>
                  <a:srgbClr val="A63A2B"/>
                </a:solidFill>
                <a:latin typeface="Microsoft YaHei"/>
              </a:rPr>
              <a:t>能力映射与交付物</a:t>
            </a:r>
          </a:p>
        </p:txBody>
      </p:sp>
      <p:sp>
        <p:nvSpPr>
          <p:cNvPr id="4" name="Rectangle 3"/>
          <p:cNvSpPr/>
          <p:nvPr/>
        </p:nvSpPr>
        <p:spPr>
          <a:xfrm>
            <a:off x="822960" y="1325880"/>
            <a:ext cx="10515600" cy="27432"/>
          </a:xfrm>
          <a:prstGeom prst="rect">
            <a:avLst/>
          </a:prstGeom>
          <a:solidFill>
            <a:srgbClr val="F3E7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2960" y="1737360"/>
            <a:ext cx="6812280" cy="4480560"/>
          </a:xfrm>
          <a:prstGeom prst="roundRect">
            <a:avLst>
              <a:gd name="adj" fmla="val 10000"/>
            </a:avLst>
          </a:prstGeom>
          <a:solidFill>
            <a:srgbClr val="FBF7F3"/>
          </a:solidFill>
          <a:ln w="10160">
            <a:solidFill>
              <a:srgbClr val="DCCB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965960"/>
            <a:ext cx="6263640" cy="274320"/>
          </a:xfrm>
          <a:prstGeom prst="rect">
            <a:avLst/>
          </a:prstGeom>
          <a:noFill/>
        </p:spPr>
        <p:txBody>
          <a:bodyPr wrap="square" anchor="t">
            <a:spAutoFit/>
          </a:bodyPr>
          <a:lstStyle/>
          <a:p>
            <a:pPr algn="l">
              <a:spcAft>
                <a:spcPts val="0"/>
              </a:spcAft>
            </a:pPr>
            <a:r>
              <a:rPr sz="1650" b="1">
                <a:solidFill>
                  <a:srgbClr val="A63A2B"/>
                </a:solidFill>
                <a:latin typeface="Microsoft YaHei"/>
              </a:rPr>
              <a:t>能力卡与产品映射</a:t>
            </a:r>
          </a:p>
        </p:txBody>
      </p:sp>
      <p:sp>
        <p:nvSpPr>
          <p:cNvPr id="7" name="TextBox 6"/>
          <p:cNvSpPr txBox="1"/>
          <p:nvPr/>
        </p:nvSpPr>
        <p:spPr>
          <a:xfrm>
            <a:off x="1051560" y="2487168"/>
            <a:ext cx="6355080" cy="3154680"/>
          </a:xfrm>
          <a:prstGeom prst="rect">
            <a:avLst/>
          </a:prstGeom>
          <a:noFill/>
        </p:spPr>
        <p:txBody>
          <a:bodyPr wrap="square" anchor="t">
            <a:spAutoFit/>
          </a:bodyPr>
          <a:lstStyle/>
          <a:p>
            <a:pPr algn="l">
              <a:spcAft>
                <a:spcPts val="800"/>
              </a:spcAft>
            </a:pPr>
            <a:r>
              <a:rPr sz="1380" b="0">
                <a:solidFill>
                  <a:srgbClr val="4E433D"/>
                </a:solidFill>
                <a:latin typeface="Microsoft YaHei"/>
              </a:rPr>
              <a:t>会员画像整合与客群分层 -&gt; Dynamics 365 Customer Insights, Microsoft Fabric | 交付：会员生命周期洞察、客群识别与运营机会分析</a:t>
            </a:r>
          </a:p>
          <a:p>
            <a:pPr algn="l">
              <a:spcAft>
                <a:spcPts val="800"/>
              </a:spcAft>
            </a:pPr>
            <a:r>
              <a:rPr sz="1380" b="0">
                <a:solidFill>
                  <a:srgbClr val="4E433D"/>
                </a:solidFill>
                <a:latin typeface="Microsoft YaHei"/>
              </a:rPr>
              <a:t>营销文案、配图与活动页面生成 -&gt; Azure OpenAI, Azure AI Foundry, Power Pages | 交付：个性化营销内容、活动配图和落地页原型</a:t>
            </a:r>
          </a:p>
          <a:p>
            <a:pPr algn="l">
              <a:spcAft>
                <a:spcPts val="800"/>
              </a:spcAft>
            </a:pPr>
            <a:r>
              <a:rPr sz="1380" b="0">
                <a:solidFill>
                  <a:srgbClr val="4E433D"/>
                </a:solidFill>
                <a:latin typeface="Microsoft YaHei"/>
              </a:rPr>
              <a:t>活动复盘与流失预警联动 -&gt; Microsoft Fabric, Power BI, Power Automate | 交付：活动效果分析、风险预警与保留动作编排</a:t>
            </a:r>
          </a:p>
        </p:txBody>
      </p:sp>
      <p:sp>
        <p:nvSpPr>
          <p:cNvPr id="8" name="Rounded Rectangle 7"/>
          <p:cNvSpPr/>
          <p:nvPr/>
        </p:nvSpPr>
        <p:spPr>
          <a:xfrm>
            <a:off x="7955279" y="1737360"/>
            <a:ext cx="3337560" cy="1920240"/>
          </a:xfrm>
          <a:prstGeom prst="roundRect">
            <a:avLst>
              <a:gd name="adj" fmla="val 10000"/>
            </a:avLst>
          </a:prstGeom>
          <a:solidFill>
            <a:srgbClr val="F3E7DE"/>
          </a:solidFill>
          <a:ln w="10160">
            <a:solidFill>
              <a:srgbClr val="DCCB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956816"/>
            <a:ext cx="2788920" cy="274320"/>
          </a:xfrm>
          <a:prstGeom prst="rect">
            <a:avLst/>
          </a:prstGeom>
          <a:noFill/>
        </p:spPr>
        <p:txBody>
          <a:bodyPr wrap="square" anchor="t">
            <a:spAutoFit/>
          </a:bodyPr>
          <a:lstStyle/>
          <a:p>
            <a:pPr algn="l">
              <a:spcAft>
                <a:spcPts val="0"/>
              </a:spcAft>
            </a:pPr>
            <a:r>
              <a:rPr sz="1650" b="1">
                <a:solidFill>
                  <a:srgbClr val="A63A2B"/>
                </a:solidFill>
                <a:latin typeface="Microsoft YaHei"/>
              </a:rPr>
              <a:t>推荐产品栈</a:t>
            </a:r>
          </a:p>
        </p:txBody>
      </p:sp>
      <p:sp>
        <p:nvSpPr>
          <p:cNvPr id="10" name="TextBox 9"/>
          <p:cNvSpPr txBox="1"/>
          <p:nvPr/>
        </p:nvSpPr>
        <p:spPr>
          <a:xfrm>
            <a:off x="8229600" y="2359152"/>
            <a:ext cx="2788920" cy="932688"/>
          </a:xfrm>
          <a:prstGeom prst="rect">
            <a:avLst/>
          </a:prstGeom>
          <a:noFill/>
        </p:spPr>
        <p:txBody>
          <a:bodyPr wrap="square" anchor="t">
            <a:spAutoFit/>
          </a:bodyPr>
          <a:lstStyle/>
          <a:p>
            <a:pPr algn="l">
              <a:spcAft>
                <a:spcPts val="0"/>
              </a:spcAft>
            </a:pPr>
            <a:r>
              <a:rPr sz="1350" b="0">
                <a:solidFill>
                  <a:srgbClr val="4E433D"/>
                </a:solidFill>
                <a:latin typeface="Microsoft YaHei"/>
              </a:rPr>
              <a:t>优先产品栈：Dynamics 365 Customer Insights / Microsoft Fabric / Azure OpenAI / Azure AI Foundry</a:t>
            </a:r>
          </a:p>
        </p:txBody>
      </p:sp>
      <p:sp>
        <p:nvSpPr>
          <p:cNvPr id="11" name="Rounded Rectangle 10"/>
          <p:cNvSpPr/>
          <p:nvPr/>
        </p:nvSpPr>
        <p:spPr>
          <a:xfrm>
            <a:off x="7955279" y="3977639"/>
            <a:ext cx="3337560" cy="2240280"/>
          </a:xfrm>
          <a:prstGeom prst="roundRect">
            <a:avLst>
              <a:gd name="adj" fmla="val 10000"/>
            </a:avLst>
          </a:prstGeom>
          <a:solidFill>
            <a:srgbClr val="A63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0" y="4224528"/>
            <a:ext cx="2788920" cy="274320"/>
          </a:xfrm>
          <a:prstGeom prst="rect">
            <a:avLst/>
          </a:prstGeom>
          <a:noFill/>
        </p:spPr>
        <p:txBody>
          <a:bodyPr wrap="square" anchor="t">
            <a:spAutoFit/>
          </a:bodyPr>
          <a:lstStyle/>
          <a:p>
            <a:pPr algn="l">
              <a:spcAft>
                <a:spcPts val="0"/>
              </a:spcAft>
            </a:pPr>
            <a:r>
              <a:rPr sz="1650" b="1">
                <a:solidFill>
                  <a:srgbClr val="FFFFFF"/>
                </a:solidFill>
                <a:latin typeface="Microsoft YaHei"/>
              </a:rPr>
              <a:t>现场交付物</a:t>
            </a:r>
          </a:p>
        </p:txBody>
      </p:sp>
      <p:sp>
        <p:nvSpPr>
          <p:cNvPr id="13" name="TextBox 12"/>
          <p:cNvSpPr txBox="1"/>
          <p:nvPr/>
        </p:nvSpPr>
        <p:spPr>
          <a:xfrm>
            <a:off x="8229600" y="4590288"/>
            <a:ext cx="2788920" cy="1188720"/>
          </a:xfrm>
          <a:prstGeom prst="rect">
            <a:avLst/>
          </a:prstGeom>
          <a:noFill/>
        </p:spPr>
        <p:txBody>
          <a:bodyPr wrap="square" anchor="t">
            <a:spAutoFit/>
          </a:bodyPr>
          <a:lstStyle/>
          <a:p>
            <a:pPr algn="l">
              <a:spcAft>
                <a:spcPts val="0"/>
              </a:spcAft>
            </a:pPr>
            <a:r>
              <a:rPr sz="1350" b="0">
                <a:solidFill>
                  <a:srgbClr val="FFFFFF"/>
                </a:solidFill>
                <a:latin typeface="Microsoft YaHei"/>
              </a:rPr>
              <a:t>现场交付物：方案 PPT / 会员增长与保留运营工作台原型建议 / POC 验证范围与实施路径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1EC"/>
        </a:solidFill>
        <a:effectLst/>
      </p:bgPr>
    </p:bg>
    <p:spTree>
      <p:nvGrpSpPr>
        <p:cNvPr id="1" name=""/>
        <p:cNvGrpSpPr/>
        <p:nvPr/>
      </p:nvGrpSpPr>
      <p:grpSpPr/>
      <p:sp>
        <p:nvSpPr>
          <p:cNvPr id="2" name="Rectangle 1"/>
          <p:cNvSpPr/>
          <p:nvPr/>
        </p:nvSpPr>
        <p:spPr>
          <a:xfrm>
            <a:off x="548640" y="502920"/>
            <a:ext cx="109728" cy="822960"/>
          </a:xfrm>
          <a:prstGeom prst="rect">
            <a:avLst/>
          </a:prstGeom>
          <a:solidFill>
            <a:srgbClr val="D97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8046720" cy="640080"/>
          </a:xfrm>
          <a:prstGeom prst="rect">
            <a:avLst/>
          </a:prstGeom>
          <a:noFill/>
        </p:spPr>
        <p:txBody>
          <a:bodyPr wrap="square" anchor="t">
            <a:spAutoFit/>
          </a:bodyPr>
          <a:lstStyle/>
          <a:p>
            <a:pPr algn="l">
              <a:spcAft>
                <a:spcPts val="0"/>
              </a:spcAft>
            </a:pPr>
            <a:r>
              <a:rPr sz="2400" b="1">
                <a:solidFill>
                  <a:srgbClr val="A63A2B"/>
                </a:solidFill>
                <a:latin typeface="Microsoft YaHei"/>
              </a:rPr>
              <a:t>业务价值与验证假设</a:t>
            </a:r>
          </a:p>
        </p:txBody>
      </p:sp>
      <p:sp>
        <p:nvSpPr>
          <p:cNvPr id="4" name="Rectangle 3"/>
          <p:cNvSpPr/>
          <p:nvPr/>
        </p:nvSpPr>
        <p:spPr>
          <a:xfrm>
            <a:off x="822960" y="1325880"/>
            <a:ext cx="10515600" cy="27432"/>
          </a:xfrm>
          <a:prstGeom prst="rect">
            <a:avLst/>
          </a:prstGeom>
          <a:solidFill>
            <a:srgbClr val="F3E7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2960" y="1783080"/>
            <a:ext cx="3246120" cy="4480560"/>
          </a:xfrm>
          <a:prstGeom prst="roundRect">
            <a:avLst>
              <a:gd name="adj" fmla="val 10000"/>
            </a:avLst>
          </a:prstGeom>
          <a:solidFill>
            <a:srgbClr val="FBF7F3"/>
          </a:solidFill>
          <a:ln w="10160">
            <a:solidFill>
              <a:srgbClr val="DCCB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24128" y="1993392"/>
            <a:ext cx="2834640" cy="274320"/>
          </a:xfrm>
          <a:prstGeom prst="rect">
            <a:avLst/>
          </a:prstGeom>
          <a:noFill/>
        </p:spPr>
        <p:txBody>
          <a:bodyPr wrap="square" anchor="t">
            <a:spAutoFit/>
          </a:bodyPr>
          <a:lstStyle/>
          <a:p>
            <a:pPr algn="l">
              <a:spcAft>
                <a:spcPts val="0"/>
              </a:spcAft>
            </a:pPr>
            <a:r>
              <a:rPr sz="1650" b="1">
                <a:solidFill>
                  <a:srgbClr val="A63A2B"/>
                </a:solidFill>
                <a:latin typeface="Microsoft YaHei"/>
              </a:rPr>
              <a:t>业务价值</a:t>
            </a:r>
          </a:p>
        </p:txBody>
      </p:sp>
      <p:sp>
        <p:nvSpPr>
          <p:cNvPr id="7" name="TextBox 6"/>
          <p:cNvSpPr txBox="1"/>
          <p:nvPr/>
        </p:nvSpPr>
        <p:spPr>
          <a:xfrm>
            <a:off x="1024128" y="2468880"/>
            <a:ext cx="2834640" cy="3246120"/>
          </a:xfrm>
          <a:prstGeom prst="rect">
            <a:avLst/>
          </a:prstGeom>
          <a:noFill/>
        </p:spPr>
        <p:txBody>
          <a:bodyPr wrap="square" anchor="t">
            <a:spAutoFit/>
          </a:bodyPr>
          <a:lstStyle/>
          <a:p>
            <a:pPr algn="l">
              <a:spcAft>
                <a:spcPts val="800"/>
              </a:spcAft>
            </a:pPr>
            <a:r>
              <a:rPr sz="1400" b="0">
                <a:solidFill>
                  <a:srgbClr val="4E433D"/>
                </a:solidFill>
                <a:latin typeface="Microsoft YaHei"/>
              </a:rPr>
              <a:t>缩短会员运营从洞察到活动上线的准备周期</a:t>
            </a:r>
          </a:p>
          <a:p>
            <a:pPr algn="l">
              <a:spcAft>
                <a:spcPts val="800"/>
              </a:spcAft>
            </a:pPr>
            <a:r>
              <a:rPr sz="1400" b="0">
                <a:solidFill>
                  <a:srgbClr val="4E433D"/>
                </a:solidFill>
                <a:latin typeface="Microsoft YaHei"/>
              </a:rPr>
              <a:t>提升营销内容、配图和活动页面的生产效率</a:t>
            </a:r>
          </a:p>
          <a:p>
            <a:pPr algn="l">
              <a:spcAft>
                <a:spcPts val="800"/>
              </a:spcAft>
            </a:pPr>
            <a:r>
              <a:rPr sz="1400" b="0">
                <a:solidFill>
                  <a:srgbClr val="4E433D"/>
                </a:solidFill>
                <a:latin typeface="Microsoft YaHei"/>
              </a:rPr>
              <a:t>让活动复盘结果更快回流到下一轮会员增长动作</a:t>
            </a:r>
          </a:p>
          <a:p>
            <a:pPr algn="l">
              <a:spcAft>
                <a:spcPts val="800"/>
              </a:spcAft>
            </a:pPr>
            <a:r>
              <a:rPr sz="1400" b="0">
                <a:solidFill>
                  <a:srgbClr val="4E433D"/>
                </a:solidFill>
                <a:latin typeface="Microsoft YaHei"/>
              </a:rPr>
              <a:t>更早识别高流失风险会员并启动保留干预</a:t>
            </a:r>
          </a:p>
        </p:txBody>
      </p:sp>
      <p:sp>
        <p:nvSpPr>
          <p:cNvPr id="8" name="Rounded Rectangle 7"/>
          <p:cNvSpPr/>
          <p:nvPr/>
        </p:nvSpPr>
        <p:spPr>
          <a:xfrm>
            <a:off x="4462272" y="1783080"/>
            <a:ext cx="3246120" cy="4480560"/>
          </a:xfrm>
          <a:prstGeom prst="roundRect">
            <a:avLst>
              <a:gd name="adj" fmla="val 10000"/>
            </a:avLst>
          </a:prstGeom>
          <a:solidFill>
            <a:srgbClr val="F3E7DE"/>
          </a:solidFill>
          <a:ln w="10160">
            <a:solidFill>
              <a:srgbClr val="DCCB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63440" y="1993392"/>
            <a:ext cx="2834640" cy="274320"/>
          </a:xfrm>
          <a:prstGeom prst="rect">
            <a:avLst/>
          </a:prstGeom>
          <a:noFill/>
        </p:spPr>
        <p:txBody>
          <a:bodyPr wrap="square" anchor="t">
            <a:spAutoFit/>
          </a:bodyPr>
          <a:lstStyle/>
          <a:p>
            <a:pPr algn="l">
              <a:spcAft>
                <a:spcPts val="0"/>
              </a:spcAft>
            </a:pPr>
            <a:r>
              <a:rPr sz="1650" b="1">
                <a:solidFill>
                  <a:srgbClr val="A63A2B"/>
                </a:solidFill>
                <a:latin typeface="Microsoft YaHei"/>
              </a:rPr>
              <a:t>关键指标</a:t>
            </a:r>
          </a:p>
        </p:txBody>
      </p:sp>
      <p:sp>
        <p:nvSpPr>
          <p:cNvPr id="10" name="TextBox 9"/>
          <p:cNvSpPr txBox="1"/>
          <p:nvPr/>
        </p:nvSpPr>
        <p:spPr>
          <a:xfrm>
            <a:off x="4663440" y="2468880"/>
            <a:ext cx="2834640" cy="3246120"/>
          </a:xfrm>
          <a:prstGeom prst="rect">
            <a:avLst/>
          </a:prstGeom>
          <a:noFill/>
        </p:spPr>
        <p:txBody>
          <a:bodyPr wrap="square" anchor="t">
            <a:spAutoFit/>
          </a:bodyPr>
          <a:lstStyle/>
          <a:p>
            <a:pPr algn="l">
              <a:spcAft>
                <a:spcPts val="800"/>
              </a:spcAft>
            </a:pPr>
            <a:r>
              <a:rPr sz="1400" b="0">
                <a:solidFill>
                  <a:srgbClr val="4E433D"/>
                </a:solidFill>
                <a:latin typeface="Microsoft YaHei"/>
              </a:rPr>
              <a:t>会员运营活动准备周期缩短 40%</a:t>
            </a:r>
          </a:p>
          <a:p>
            <a:pPr algn="l">
              <a:spcAft>
                <a:spcPts val="800"/>
              </a:spcAft>
            </a:pPr>
            <a:r>
              <a:rPr sz="1400" b="0">
                <a:solidFill>
                  <a:srgbClr val="4E433D"/>
                </a:solidFill>
                <a:latin typeface="Microsoft YaHei"/>
              </a:rPr>
              <a:t>营销内容与页面生产效率提升 50%</a:t>
            </a:r>
          </a:p>
          <a:p>
            <a:pPr algn="l">
              <a:spcAft>
                <a:spcPts val="800"/>
              </a:spcAft>
            </a:pPr>
            <a:r>
              <a:rPr sz="1400" b="0">
                <a:solidFill>
                  <a:srgbClr val="4E433D"/>
                </a:solidFill>
                <a:latin typeface="Microsoft YaHei"/>
              </a:rPr>
              <a:t>活动复盘输出时间缩短 60%</a:t>
            </a:r>
          </a:p>
          <a:p>
            <a:pPr algn="l">
              <a:spcAft>
                <a:spcPts val="800"/>
              </a:spcAft>
            </a:pPr>
            <a:r>
              <a:rPr sz="1400" b="0">
                <a:solidFill>
                  <a:srgbClr val="4E433D"/>
                </a:solidFill>
                <a:latin typeface="Microsoft YaHei"/>
              </a:rPr>
              <a:t>高流失会员识别准确率达到 80%</a:t>
            </a:r>
          </a:p>
        </p:txBody>
      </p:sp>
      <p:sp>
        <p:nvSpPr>
          <p:cNvPr id="11" name="Rounded Rectangle 10"/>
          <p:cNvSpPr/>
          <p:nvPr/>
        </p:nvSpPr>
        <p:spPr>
          <a:xfrm>
            <a:off x="8101583" y="1783080"/>
            <a:ext cx="3246120" cy="4480560"/>
          </a:xfrm>
          <a:prstGeom prst="roundRect">
            <a:avLst>
              <a:gd name="adj" fmla="val 10000"/>
            </a:avLst>
          </a:prstGeom>
          <a:solidFill>
            <a:srgbClr val="FBF7F3"/>
          </a:solidFill>
          <a:ln w="10160">
            <a:solidFill>
              <a:srgbClr val="DCCB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02752" y="1993392"/>
            <a:ext cx="2834640" cy="274320"/>
          </a:xfrm>
          <a:prstGeom prst="rect">
            <a:avLst/>
          </a:prstGeom>
          <a:noFill/>
        </p:spPr>
        <p:txBody>
          <a:bodyPr wrap="square" anchor="t">
            <a:spAutoFit/>
          </a:bodyPr>
          <a:lstStyle/>
          <a:p>
            <a:pPr algn="l">
              <a:spcAft>
                <a:spcPts val="0"/>
              </a:spcAft>
            </a:pPr>
            <a:r>
              <a:rPr sz="1650" b="1">
                <a:solidFill>
                  <a:srgbClr val="A63A2B"/>
                </a:solidFill>
                <a:latin typeface="Microsoft YaHei"/>
              </a:rPr>
              <a:t>POC 验证点</a:t>
            </a:r>
          </a:p>
        </p:txBody>
      </p:sp>
      <p:sp>
        <p:nvSpPr>
          <p:cNvPr id="13" name="TextBox 12"/>
          <p:cNvSpPr txBox="1"/>
          <p:nvPr/>
        </p:nvSpPr>
        <p:spPr>
          <a:xfrm>
            <a:off x="8302752" y="2468880"/>
            <a:ext cx="2834640" cy="3246120"/>
          </a:xfrm>
          <a:prstGeom prst="rect">
            <a:avLst/>
          </a:prstGeom>
          <a:noFill/>
        </p:spPr>
        <p:txBody>
          <a:bodyPr wrap="square" anchor="t">
            <a:spAutoFit/>
          </a:bodyPr>
          <a:lstStyle/>
          <a:p>
            <a:pPr algn="l">
              <a:spcAft>
                <a:spcPts val="800"/>
              </a:spcAft>
            </a:pPr>
            <a:r>
              <a:rPr sz="1400" b="0">
                <a:solidFill>
                  <a:srgbClr val="4E433D"/>
                </a:solidFill>
                <a:latin typeface="Microsoft YaHei"/>
              </a:rPr>
              <a:t>1. 会员分层与流失判断的业务可解释性</a:t>
            </a:r>
          </a:p>
          <a:p>
            <a:pPr algn="l">
              <a:spcAft>
                <a:spcPts val="800"/>
              </a:spcAft>
            </a:pPr>
            <a:r>
              <a:rPr sz="1400" b="0">
                <a:solidFill>
                  <a:srgbClr val="4E433D"/>
                </a:solidFill>
                <a:latin typeface="Microsoft YaHei"/>
              </a:rPr>
              <a:t>2. 营销文案、配图和页面草稿的可用性</a:t>
            </a:r>
          </a:p>
          <a:p>
            <a:pPr algn="l">
              <a:spcAft>
                <a:spcPts val="800"/>
              </a:spcAft>
            </a:pPr>
            <a:r>
              <a:rPr sz="1400" b="0">
                <a:solidFill>
                  <a:srgbClr val="4E433D"/>
                </a:solidFill>
                <a:latin typeface="Microsoft YaHei"/>
              </a:rPr>
              <a:t>3. 活动复盘结果对下一轮运营策略的指导价值</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1EC"/>
        </a:solidFill>
        <a:effectLst/>
      </p:bgPr>
    </p:bg>
    <p:spTree>
      <p:nvGrpSpPr>
        <p:cNvPr id="1" name=""/>
        <p:cNvGrpSpPr/>
        <p:nvPr/>
      </p:nvGrpSpPr>
      <p:grpSpPr/>
      <p:sp>
        <p:nvSpPr>
          <p:cNvPr id="2" name="Rectangle 1"/>
          <p:cNvSpPr/>
          <p:nvPr/>
        </p:nvSpPr>
        <p:spPr>
          <a:xfrm>
            <a:off x="548640" y="502920"/>
            <a:ext cx="109728" cy="822960"/>
          </a:xfrm>
          <a:prstGeom prst="rect">
            <a:avLst/>
          </a:prstGeom>
          <a:solidFill>
            <a:srgbClr val="D97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8046720" cy="640080"/>
          </a:xfrm>
          <a:prstGeom prst="rect">
            <a:avLst/>
          </a:prstGeom>
          <a:noFill/>
        </p:spPr>
        <p:txBody>
          <a:bodyPr wrap="square" anchor="t">
            <a:spAutoFit/>
          </a:bodyPr>
          <a:lstStyle/>
          <a:p>
            <a:pPr algn="l">
              <a:spcAft>
                <a:spcPts val="0"/>
              </a:spcAft>
            </a:pPr>
            <a:r>
              <a:rPr sz="2400" b="1">
                <a:solidFill>
                  <a:srgbClr val="A63A2B"/>
                </a:solidFill>
                <a:latin typeface="Microsoft YaHei"/>
              </a:rPr>
              <a:t>原型与 MVP 设计</a:t>
            </a:r>
          </a:p>
        </p:txBody>
      </p:sp>
      <p:sp>
        <p:nvSpPr>
          <p:cNvPr id="4" name="Rectangle 3"/>
          <p:cNvSpPr/>
          <p:nvPr/>
        </p:nvSpPr>
        <p:spPr>
          <a:xfrm>
            <a:off x="822960" y="1325880"/>
            <a:ext cx="10515600" cy="27432"/>
          </a:xfrm>
          <a:prstGeom prst="rect">
            <a:avLst/>
          </a:prstGeom>
          <a:solidFill>
            <a:srgbClr val="F3E7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2960" y="1783080"/>
            <a:ext cx="7909560" cy="1691640"/>
          </a:xfrm>
          <a:prstGeom prst="roundRect">
            <a:avLst>
              <a:gd name="adj" fmla="val 10000"/>
            </a:avLst>
          </a:prstGeom>
          <a:solidFill>
            <a:srgbClr val="F3E7DE"/>
          </a:solidFill>
          <a:ln w="10160">
            <a:solidFill>
              <a:srgbClr val="DCCB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975104"/>
            <a:ext cx="7223760" cy="274320"/>
          </a:xfrm>
          <a:prstGeom prst="rect">
            <a:avLst/>
          </a:prstGeom>
          <a:noFill/>
        </p:spPr>
        <p:txBody>
          <a:bodyPr wrap="square" anchor="t">
            <a:spAutoFit/>
          </a:bodyPr>
          <a:lstStyle/>
          <a:p>
            <a:pPr algn="l">
              <a:spcAft>
                <a:spcPts val="0"/>
              </a:spcAft>
            </a:pPr>
            <a:r>
              <a:rPr sz="1650" b="1">
                <a:solidFill>
                  <a:srgbClr val="A63A2B"/>
                </a:solidFill>
                <a:latin typeface="Microsoft YaHei"/>
              </a:rPr>
              <a:t>原型摘要</a:t>
            </a:r>
          </a:p>
        </p:txBody>
      </p:sp>
      <p:sp>
        <p:nvSpPr>
          <p:cNvPr id="7" name="TextBox 6"/>
          <p:cNvSpPr txBox="1"/>
          <p:nvPr/>
        </p:nvSpPr>
        <p:spPr>
          <a:xfrm>
            <a:off x="1097280" y="2359152"/>
            <a:ext cx="7269480" cy="896112"/>
          </a:xfrm>
          <a:prstGeom prst="rect">
            <a:avLst/>
          </a:prstGeom>
          <a:noFill/>
        </p:spPr>
        <p:txBody>
          <a:bodyPr wrap="square" anchor="t">
            <a:spAutoFit/>
          </a:bodyPr>
          <a:lstStyle/>
          <a:p>
            <a:pPr algn="l">
              <a:spcAft>
                <a:spcPts val="600"/>
              </a:spcAft>
            </a:pPr>
            <a:r>
              <a:rPr sz="1220" b="0">
                <a:solidFill>
                  <a:srgbClr val="4E433D"/>
                </a:solidFill>
                <a:latin typeface="Microsoft YaHei"/>
              </a:rPr>
              <a:t>会员增长与保留运营工作台；目标用户：会员运营负责人</a:t>
            </a:r>
          </a:p>
          <a:p>
            <a:pPr algn="l">
              <a:spcAft>
                <a:spcPts val="600"/>
              </a:spcAft>
            </a:pPr>
            <a:r>
              <a:rPr sz="1220" b="0">
                <a:solidFill>
                  <a:srgbClr val="4E433D"/>
                </a:solidFill>
                <a:latin typeface="Microsoft YaHei"/>
              </a:rPr>
              <a:t>会员增长与保留运营工作台；目标：把会员洞察、营销内容生成、活动落地、效果复盘和流失干预集中到一个可操作的工作台中</a:t>
            </a:r>
          </a:p>
          <a:p>
            <a:pPr algn="l">
              <a:spcAft>
                <a:spcPts val="600"/>
              </a:spcAft>
            </a:pPr>
            <a:r>
              <a:rPr sz="1220" b="0">
                <a:solidFill>
                  <a:srgbClr val="4E433D"/>
                </a:solidFill>
                <a:latin typeface="Microsoft YaHei"/>
              </a:rPr>
              <a:t>前端壳子优先；核心任务：查看重点会员客群并联动营销内容与保留动作；技术栈：Next.js + Tailwind CSS</a:t>
            </a:r>
          </a:p>
        </p:txBody>
      </p:sp>
      <p:sp>
        <p:nvSpPr>
          <p:cNvPr id="8" name="Rounded Rectangle 7"/>
          <p:cNvSpPr/>
          <p:nvPr/>
        </p:nvSpPr>
        <p:spPr>
          <a:xfrm>
            <a:off x="822960" y="3767328"/>
            <a:ext cx="3822191" cy="2331720"/>
          </a:xfrm>
          <a:prstGeom prst="roundRect">
            <a:avLst>
              <a:gd name="adj" fmla="val 10000"/>
            </a:avLst>
          </a:prstGeom>
          <a:solidFill>
            <a:srgbClr val="FBF7F3"/>
          </a:solidFill>
          <a:ln w="10160">
            <a:solidFill>
              <a:srgbClr val="DCCB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3995928"/>
            <a:ext cx="3291840" cy="274320"/>
          </a:xfrm>
          <a:prstGeom prst="rect">
            <a:avLst/>
          </a:prstGeom>
          <a:noFill/>
        </p:spPr>
        <p:txBody>
          <a:bodyPr wrap="square" anchor="t">
            <a:spAutoFit/>
          </a:bodyPr>
          <a:lstStyle/>
          <a:p>
            <a:pPr algn="l">
              <a:spcAft>
                <a:spcPts val="0"/>
              </a:spcAft>
            </a:pPr>
            <a:r>
              <a:rPr sz="1650" b="1">
                <a:solidFill>
                  <a:srgbClr val="A63A2B"/>
                </a:solidFill>
                <a:latin typeface="Microsoft YaHei"/>
              </a:rPr>
              <a:t>MVP 页面范围</a:t>
            </a:r>
          </a:p>
        </p:txBody>
      </p:sp>
      <p:sp>
        <p:nvSpPr>
          <p:cNvPr id="10" name="TextBox 9"/>
          <p:cNvSpPr txBox="1"/>
          <p:nvPr/>
        </p:nvSpPr>
        <p:spPr>
          <a:xfrm>
            <a:off x="1051560" y="4389120"/>
            <a:ext cx="3291840" cy="1417320"/>
          </a:xfrm>
          <a:prstGeom prst="rect">
            <a:avLst/>
          </a:prstGeom>
          <a:noFill/>
        </p:spPr>
        <p:txBody>
          <a:bodyPr wrap="square" anchor="t">
            <a:spAutoFit/>
          </a:bodyPr>
          <a:lstStyle/>
          <a:p>
            <a:pPr algn="l">
              <a:spcAft>
                <a:spcPts val="600"/>
              </a:spcAft>
            </a:pPr>
            <a:r>
              <a:rPr sz="1290" b="0">
                <a:solidFill>
                  <a:srgbClr val="4E433D"/>
                </a:solidFill>
                <a:latin typeface="Microsoft YaHei"/>
              </a:rPr>
              <a:t>1. 会员经营总览页</a:t>
            </a:r>
          </a:p>
          <a:p>
            <a:pPr algn="l">
              <a:spcAft>
                <a:spcPts val="600"/>
              </a:spcAft>
            </a:pPr>
            <a:r>
              <a:rPr sz="1290" b="0">
                <a:solidFill>
                  <a:srgbClr val="4E433D"/>
                </a:solidFill>
                <a:latin typeface="Microsoft YaHei"/>
              </a:rPr>
              <a:t>2. 客群洞察与分层页</a:t>
            </a:r>
          </a:p>
          <a:p>
            <a:pPr algn="l">
              <a:spcAft>
                <a:spcPts val="600"/>
              </a:spcAft>
            </a:pPr>
            <a:r>
              <a:rPr sz="1290" b="0">
                <a:solidFill>
                  <a:srgbClr val="4E433D"/>
                </a:solidFill>
                <a:latin typeface="Microsoft YaHei"/>
              </a:rPr>
              <a:t>3. 营销内容与活动页面生成页</a:t>
            </a:r>
          </a:p>
          <a:p>
            <a:pPr algn="l">
              <a:spcAft>
                <a:spcPts val="600"/>
              </a:spcAft>
            </a:pPr>
            <a:r>
              <a:rPr sz="1290" b="0">
                <a:solidFill>
                  <a:srgbClr val="4E433D"/>
                </a:solidFill>
                <a:latin typeface="Microsoft YaHei"/>
              </a:rPr>
              <a:t>4. 流失预警与保留动作页</a:t>
            </a:r>
          </a:p>
        </p:txBody>
      </p:sp>
      <p:sp>
        <p:nvSpPr>
          <p:cNvPr id="11" name="Rounded Rectangle 10"/>
          <p:cNvSpPr/>
          <p:nvPr/>
        </p:nvSpPr>
        <p:spPr>
          <a:xfrm>
            <a:off x="4910328" y="3767328"/>
            <a:ext cx="3822191" cy="2331720"/>
          </a:xfrm>
          <a:prstGeom prst="roundRect">
            <a:avLst>
              <a:gd name="adj" fmla="val 10000"/>
            </a:avLst>
          </a:prstGeom>
          <a:solidFill>
            <a:srgbClr val="F3E7DE"/>
          </a:solidFill>
          <a:ln w="10160">
            <a:solidFill>
              <a:srgbClr val="DCCB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38928" y="3995928"/>
            <a:ext cx="3291840" cy="274320"/>
          </a:xfrm>
          <a:prstGeom prst="rect">
            <a:avLst/>
          </a:prstGeom>
          <a:noFill/>
        </p:spPr>
        <p:txBody>
          <a:bodyPr wrap="square" anchor="t">
            <a:spAutoFit/>
          </a:bodyPr>
          <a:lstStyle/>
          <a:p>
            <a:pPr algn="l">
              <a:spcAft>
                <a:spcPts val="0"/>
              </a:spcAft>
            </a:pPr>
            <a:r>
              <a:rPr sz="1650" b="1">
                <a:solidFill>
                  <a:srgbClr val="A63A2B"/>
                </a:solidFill>
                <a:latin typeface="Microsoft YaHei"/>
              </a:rPr>
              <a:t>快速开发路径</a:t>
            </a:r>
          </a:p>
        </p:txBody>
      </p:sp>
      <p:sp>
        <p:nvSpPr>
          <p:cNvPr id="13" name="TextBox 12"/>
          <p:cNvSpPr txBox="1"/>
          <p:nvPr/>
        </p:nvSpPr>
        <p:spPr>
          <a:xfrm>
            <a:off x="5138928" y="4389120"/>
            <a:ext cx="3291840" cy="1417320"/>
          </a:xfrm>
          <a:prstGeom prst="rect">
            <a:avLst/>
          </a:prstGeom>
          <a:noFill/>
        </p:spPr>
        <p:txBody>
          <a:bodyPr wrap="square" anchor="t">
            <a:spAutoFit/>
          </a:bodyPr>
          <a:lstStyle/>
          <a:p>
            <a:pPr algn="l">
              <a:spcAft>
                <a:spcPts val="600"/>
              </a:spcAft>
            </a:pPr>
            <a:r>
              <a:rPr sz="1290" b="0">
                <a:solidFill>
                  <a:srgbClr val="4E433D"/>
                </a:solidFill>
                <a:latin typeface="Microsoft YaHei"/>
              </a:rPr>
              <a:t>1. 确认一个重点会员客群和一类典型活动作为试点</a:t>
            </a:r>
          </a:p>
          <a:p>
            <a:pPr algn="l">
              <a:spcAft>
                <a:spcPts val="600"/>
              </a:spcAft>
            </a:pPr>
            <a:r>
              <a:rPr sz="1290" b="0">
                <a:solidFill>
                  <a:srgbClr val="4E433D"/>
                </a:solidFill>
                <a:latin typeface="Microsoft YaHei"/>
              </a:rPr>
              <a:t>2. 准备会员画像、活动结果和高流失会员样本数据</a:t>
            </a:r>
          </a:p>
          <a:p>
            <a:pPr algn="l">
              <a:spcAft>
                <a:spcPts val="600"/>
              </a:spcAft>
            </a:pPr>
            <a:r>
              <a:rPr sz="1290" b="0">
                <a:solidFill>
                  <a:srgbClr val="4E433D"/>
                </a:solidFill>
                <a:latin typeface="Microsoft YaHei"/>
              </a:rPr>
              <a:t>3. 两周内完成工作台原型与验证口径</a:t>
            </a:r>
          </a:p>
          <a:p>
            <a:pPr algn="l">
              <a:spcAft>
                <a:spcPts val="600"/>
              </a:spcAft>
            </a:pPr>
            <a:r>
              <a:rPr sz="1290" b="0">
                <a:solidFill>
                  <a:srgbClr val="4E433D"/>
                </a:solidFill>
                <a:latin typeface="Microsoft YaHei"/>
              </a:rPr>
              <a:t>4. 基于方案设计文档快速搭建静态页面和样例数据</a:t>
            </a:r>
          </a:p>
        </p:txBody>
      </p:sp>
      <p:pic>
        <p:nvPicPr>
          <p:cNvPr id="14" name="Picture 13" descr="image.png"/>
          <p:cNvPicPr>
            <a:picLocks noChangeAspect="1"/>
          </p:cNvPicPr>
          <p:nvPr/>
        </p:nvPicPr>
        <p:blipFill>
          <a:blip r:embed="rId2"/>
          <a:stretch>
            <a:fillRect/>
          </a:stretch>
        </p:blipFill>
        <p:spPr>
          <a:xfrm>
            <a:off x="8961120" y="1828800"/>
            <a:ext cx="2103120" cy="42976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1EC"/>
        </a:solidFill>
        <a:effectLst/>
      </p:bgPr>
    </p:bg>
    <p:spTree>
      <p:nvGrpSpPr>
        <p:cNvPr id="1" name=""/>
        <p:cNvGrpSpPr/>
        <p:nvPr/>
      </p:nvGrpSpPr>
      <p:grpSpPr/>
      <p:sp>
        <p:nvSpPr>
          <p:cNvPr id="2" name="Rectangle 1"/>
          <p:cNvSpPr/>
          <p:nvPr/>
        </p:nvSpPr>
        <p:spPr>
          <a:xfrm>
            <a:off x="548640" y="502920"/>
            <a:ext cx="109728" cy="822960"/>
          </a:xfrm>
          <a:prstGeom prst="rect">
            <a:avLst/>
          </a:prstGeom>
          <a:solidFill>
            <a:srgbClr val="D97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8046720" cy="640080"/>
          </a:xfrm>
          <a:prstGeom prst="rect">
            <a:avLst/>
          </a:prstGeom>
          <a:noFill/>
        </p:spPr>
        <p:txBody>
          <a:bodyPr wrap="square" anchor="t">
            <a:spAutoFit/>
          </a:bodyPr>
          <a:lstStyle/>
          <a:p>
            <a:pPr algn="l">
              <a:spcAft>
                <a:spcPts val="0"/>
              </a:spcAft>
            </a:pPr>
            <a:r>
              <a:rPr sz="2400" b="1">
                <a:solidFill>
                  <a:srgbClr val="A63A2B"/>
                </a:solidFill>
                <a:latin typeface="Microsoft YaHei"/>
              </a:rPr>
              <a:t>POC 与下一步</a:t>
            </a:r>
          </a:p>
        </p:txBody>
      </p:sp>
      <p:sp>
        <p:nvSpPr>
          <p:cNvPr id="4" name="Rectangle 3"/>
          <p:cNvSpPr/>
          <p:nvPr/>
        </p:nvSpPr>
        <p:spPr>
          <a:xfrm>
            <a:off x="822960" y="1325880"/>
            <a:ext cx="10515600" cy="27432"/>
          </a:xfrm>
          <a:prstGeom prst="rect">
            <a:avLst/>
          </a:prstGeom>
          <a:solidFill>
            <a:srgbClr val="F3E7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2960" y="1737360"/>
            <a:ext cx="10469880" cy="731520"/>
          </a:xfrm>
          <a:prstGeom prst="roundRect">
            <a:avLst>
              <a:gd name="adj" fmla="val 10000"/>
            </a:avLst>
          </a:prstGeom>
          <a:solidFill>
            <a:srgbClr val="A63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883664"/>
            <a:ext cx="1234440" cy="274320"/>
          </a:xfrm>
          <a:prstGeom prst="rect">
            <a:avLst/>
          </a:prstGeom>
          <a:noFill/>
        </p:spPr>
        <p:txBody>
          <a:bodyPr wrap="square" anchor="t">
            <a:spAutoFit/>
          </a:bodyPr>
          <a:lstStyle/>
          <a:p>
            <a:pPr algn="l">
              <a:spcAft>
                <a:spcPts val="0"/>
              </a:spcAft>
            </a:pPr>
            <a:r>
              <a:rPr sz="1650" b="1">
                <a:solidFill>
                  <a:srgbClr val="FFFFFF"/>
                </a:solidFill>
                <a:latin typeface="Microsoft YaHei"/>
              </a:rPr>
              <a:t>POC 范围</a:t>
            </a:r>
          </a:p>
        </p:txBody>
      </p:sp>
      <p:sp>
        <p:nvSpPr>
          <p:cNvPr id="7" name="TextBox 6"/>
          <p:cNvSpPr txBox="1"/>
          <p:nvPr/>
        </p:nvSpPr>
        <p:spPr>
          <a:xfrm>
            <a:off x="2103120" y="1874519"/>
            <a:ext cx="8138160" cy="384048"/>
          </a:xfrm>
          <a:prstGeom prst="rect">
            <a:avLst/>
          </a:prstGeom>
          <a:noFill/>
        </p:spPr>
        <p:txBody>
          <a:bodyPr wrap="square" anchor="ctr">
            <a:spAutoFit/>
          </a:bodyPr>
          <a:lstStyle/>
          <a:p>
            <a:pPr algn="l">
              <a:spcAft>
                <a:spcPts val="0"/>
              </a:spcAft>
            </a:pPr>
            <a:r>
              <a:rPr sz="1520" b="1">
                <a:solidFill>
                  <a:srgbClr val="FFFFFF"/>
                </a:solidFill>
                <a:latin typeface="Microsoft YaHei"/>
              </a:rPr>
              <a:t>优先验证会员洞察、内容生成、活动复盘和流失预警四段闭环</a:t>
            </a:r>
          </a:p>
        </p:txBody>
      </p:sp>
      <p:sp>
        <p:nvSpPr>
          <p:cNvPr id="8" name="Rounded Rectangle 7"/>
          <p:cNvSpPr/>
          <p:nvPr/>
        </p:nvSpPr>
        <p:spPr>
          <a:xfrm>
            <a:off x="822960" y="2743200"/>
            <a:ext cx="3886200" cy="3383280"/>
          </a:xfrm>
          <a:prstGeom prst="roundRect">
            <a:avLst>
              <a:gd name="adj" fmla="val 10000"/>
            </a:avLst>
          </a:prstGeom>
          <a:solidFill>
            <a:srgbClr val="FBF7F3"/>
          </a:solidFill>
          <a:ln w="10160">
            <a:solidFill>
              <a:srgbClr val="DCCB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971800"/>
            <a:ext cx="3337560" cy="274320"/>
          </a:xfrm>
          <a:prstGeom prst="rect">
            <a:avLst/>
          </a:prstGeom>
          <a:noFill/>
        </p:spPr>
        <p:txBody>
          <a:bodyPr wrap="square" anchor="t">
            <a:spAutoFit/>
          </a:bodyPr>
          <a:lstStyle/>
          <a:p>
            <a:pPr algn="l">
              <a:spcAft>
                <a:spcPts val="0"/>
              </a:spcAft>
            </a:pPr>
            <a:r>
              <a:rPr sz="1650" b="1">
                <a:solidFill>
                  <a:srgbClr val="A63A2B"/>
                </a:solidFill>
                <a:latin typeface="Microsoft YaHei"/>
              </a:rPr>
              <a:t>关键角色</a:t>
            </a:r>
          </a:p>
        </p:txBody>
      </p:sp>
      <p:sp>
        <p:nvSpPr>
          <p:cNvPr id="10" name="TextBox 9"/>
          <p:cNvSpPr txBox="1"/>
          <p:nvPr/>
        </p:nvSpPr>
        <p:spPr>
          <a:xfrm>
            <a:off x="1097280" y="3474720"/>
            <a:ext cx="3337560" cy="2148840"/>
          </a:xfrm>
          <a:prstGeom prst="rect">
            <a:avLst/>
          </a:prstGeom>
          <a:noFill/>
        </p:spPr>
        <p:txBody>
          <a:bodyPr wrap="square" anchor="t">
            <a:spAutoFit/>
          </a:bodyPr>
          <a:lstStyle/>
          <a:p>
            <a:pPr algn="l">
              <a:spcAft>
                <a:spcPts val="800"/>
              </a:spcAft>
            </a:pPr>
            <a:r>
              <a:rPr sz="1350" b="0">
                <a:solidFill>
                  <a:srgbClr val="4E433D"/>
                </a:solidFill>
                <a:latin typeface="Microsoft YaHei"/>
              </a:rPr>
              <a:t>会员运营负责人</a:t>
            </a:r>
          </a:p>
          <a:p>
            <a:pPr algn="l">
              <a:spcAft>
                <a:spcPts val="800"/>
              </a:spcAft>
            </a:pPr>
            <a:r>
              <a:rPr sz="1350" b="0">
                <a:solidFill>
                  <a:srgbClr val="4E433D"/>
                </a:solidFill>
                <a:latin typeface="Microsoft YaHei"/>
              </a:rPr>
              <a:t>CRM 运营团队</a:t>
            </a:r>
          </a:p>
          <a:p>
            <a:pPr algn="l">
              <a:spcAft>
                <a:spcPts val="800"/>
              </a:spcAft>
            </a:pPr>
            <a:r>
              <a:rPr sz="1350" b="0">
                <a:solidFill>
                  <a:srgbClr val="4E433D"/>
                </a:solidFill>
                <a:latin typeface="Microsoft YaHei"/>
              </a:rPr>
              <a:t>电商业务负责人</a:t>
            </a:r>
          </a:p>
          <a:p>
            <a:pPr algn="l">
              <a:spcAft>
                <a:spcPts val="800"/>
              </a:spcAft>
            </a:pPr>
            <a:r>
              <a:rPr sz="1350" b="0">
                <a:solidFill>
                  <a:srgbClr val="4E433D"/>
                </a:solidFill>
                <a:latin typeface="Microsoft YaHei"/>
              </a:rPr>
              <a:t>数据 / 数字化团队</a:t>
            </a:r>
          </a:p>
        </p:txBody>
      </p:sp>
      <p:sp>
        <p:nvSpPr>
          <p:cNvPr id="11" name="Rounded Rectangle 10"/>
          <p:cNvSpPr/>
          <p:nvPr/>
        </p:nvSpPr>
        <p:spPr>
          <a:xfrm>
            <a:off x="4937760" y="2743200"/>
            <a:ext cx="3886200" cy="3383280"/>
          </a:xfrm>
          <a:prstGeom prst="roundRect">
            <a:avLst>
              <a:gd name="adj" fmla="val 10000"/>
            </a:avLst>
          </a:prstGeom>
          <a:solidFill>
            <a:srgbClr val="F3E7DE"/>
          </a:solidFill>
          <a:ln w="10160">
            <a:solidFill>
              <a:srgbClr val="DCCB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12080" y="2971800"/>
            <a:ext cx="3337560" cy="274320"/>
          </a:xfrm>
          <a:prstGeom prst="rect">
            <a:avLst/>
          </a:prstGeom>
          <a:noFill/>
        </p:spPr>
        <p:txBody>
          <a:bodyPr wrap="square" anchor="t">
            <a:spAutoFit/>
          </a:bodyPr>
          <a:lstStyle/>
          <a:p>
            <a:pPr algn="l">
              <a:spcAft>
                <a:spcPts val="0"/>
              </a:spcAft>
            </a:pPr>
            <a:r>
              <a:rPr sz="1650" b="1">
                <a:solidFill>
                  <a:srgbClr val="A63A2B"/>
                </a:solidFill>
                <a:latin typeface="Microsoft YaHei"/>
              </a:rPr>
              <a:t>后续动作</a:t>
            </a:r>
          </a:p>
        </p:txBody>
      </p:sp>
      <p:sp>
        <p:nvSpPr>
          <p:cNvPr id="13" name="TextBox 12"/>
          <p:cNvSpPr txBox="1"/>
          <p:nvPr/>
        </p:nvSpPr>
        <p:spPr>
          <a:xfrm>
            <a:off x="5212080" y="3474720"/>
            <a:ext cx="3337560" cy="2148840"/>
          </a:xfrm>
          <a:prstGeom prst="rect">
            <a:avLst/>
          </a:prstGeom>
          <a:noFill/>
        </p:spPr>
        <p:txBody>
          <a:bodyPr wrap="square" anchor="t">
            <a:spAutoFit/>
          </a:bodyPr>
          <a:lstStyle/>
          <a:p>
            <a:pPr algn="l">
              <a:spcAft>
                <a:spcPts val="800"/>
              </a:spcAft>
            </a:pPr>
            <a:r>
              <a:rPr sz="1350" b="0">
                <a:solidFill>
                  <a:srgbClr val="4E433D"/>
                </a:solidFill>
                <a:latin typeface="Microsoft YaHei"/>
              </a:rPr>
              <a:t>1. 确认一个重点会员客群和一类典型活动作为试点</a:t>
            </a:r>
          </a:p>
          <a:p>
            <a:pPr algn="l">
              <a:spcAft>
                <a:spcPts val="800"/>
              </a:spcAft>
            </a:pPr>
            <a:r>
              <a:rPr sz="1350" b="0">
                <a:solidFill>
                  <a:srgbClr val="4E433D"/>
                </a:solidFill>
                <a:latin typeface="Microsoft YaHei"/>
              </a:rPr>
              <a:t>2. 准备会员画像、活动结果和高流失会员样本数据</a:t>
            </a:r>
          </a:p>
          <a:p>
            <a:pPr algn="l">
              <a:spcAft>
                <a:spcPts val="800"/>
              </a:spcAft>
            </a:pPr>
            <a:r>
              <a:rPr sz="1350" b="0">
                <a:solidFill>
                  <a:srgbClr val="4E433D"/>
                </a:solidFill>
                <a:latin typeface="Microsoft YaHei"/>
              </a:rPr>
              <a:t>3. 两周内完成工作台原型与验证口径</a:t>
            </a:r>
          </a:p>
        </p:txBody>
      </p:sp>
      <p:pic>
        <p:nvPicPr>
          <p:cNvPr id="14" name="Picture 13" descr="image.png"/>
          <p:cNvPicPr>
            <a:picLocks noChangeAspect="1"/>
          </p:cNvPicPr>
          <p:nvPr/>
        </p:nvPicPr>
        <p:blipFill>
          <a:blip r:embed="rId2"/>
          <a:stretch>
            <a:fillRect/>
          </a:stretch>
        </p:blipFill>
        <p:spPr>
          <a:xfrm>
            <a:off x="9098280" y="2743200"/>
            <a:ext cx="1965960" cy="33832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