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会员增长与保留运营工作台</a:t>
            </a:r>
          </a:p>
          <a:p>
            <a:r>
              <a:t>- 该场景以会员运营活动为触发点，把客户数据整合、客群识别、营销内容生成、活动下发与流失干预串成一条连续 AI Flow，让会员运营负责人在一个工作台内完成从判断到执行再到复盘的闭环。</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当前差距与优先痛点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业务机会与 Why Now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客户现场卡片流程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目标 AI Flow</a:t>
            </a:r>
          </a:p>
          <a:p>
            <a:r>
              <a:t>- 该场景以会员运营活动为触发点，把客户数据整合、客群识别、营销内容生成、活动下发与流失干预串成一条连续 AI Flow，让会员运营负责人在一个工作台内完成从判断到执行再到复盘的闭环。</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解决方案架构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能力映射与交付物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业务价值与验证假设</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原型与 MVP 设计</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POC 与下一步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1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2468880" cy="6858000"/>
          </a:xfrm>
          <a:prstGeom prst="rect">
            <a:avLst/>
          </a:prstGeom>
        </p:spPr>
      </p:pic>
      <p:sp>
        <p:nvSpPr>
          <p:cNvPr id="3" name="Rectangle 2"/>
          <p:cNvSpPr/>
          <p:nvPr/>
        </p:nvSpPr>
        <p:spPr>
          <a:xfrm>
            <a:off x="0" y="0"/>
            <a:ext cx="2468880" cy="6858000"/>
          </a:xfrm>
          <a:prstGeom prst="rect">
            <a:avLst/>
          </a:prstGeom>
          <a:solidFill>
            <a:srgbClr val="A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732520" y="502920"/>
            <a:ext cx="1920240" cy="493776"/>
          </a:xfrm>
          <a:prstGeom prst="roundRect">
            <a:avLst/>
          </a:prstGeom>
          <a:solidFill>
            <a:srgbClr val="F3E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0" y="804672"/>
            <a:ext cx="7863840" cy="4754880"/>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394192" y="896112"/>
            <a:ext cx="1847088" cy="384048"/>
          </a:xfrm>
          <a:prstGeom prst="roundRect">
            <a:avLst>
              <a:gd name="adj" fmla="val 6000"/>
            </a:avLst>
          </a:prstGeom>
          <a:solidFill>
            <a:srgbClr val="F6F1EC"/>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0496" y="987552"/>
            <a:ext cx="1554480" cy="146304"/>
          </a:xfrm>
          <a:prstGeom prst="rect">
            <a:avLst/>
          </a:prstGeom>
          <a:noFill/>
        </p:spPr>
        <p:txBody>
          <a:bodyPr wrap="square" anchor="ctr">
            <a:spAutoFit/>
          </a:bodyPr>
          <a:lstStyle/>
          <a:p>
            <a:pPr algn="ctr">
              <a:spcAft>
                <a:spcPts val="0"/>
              </a:spcAft>
            </a:pPr>
            <a:r>
              <a:rPr sz="860" b="1">
                <a:solidFill>
                  <a:srgbClr val="A63A2B"/>
                </a:solidFill>
                <a:latin typeface="Arial"/>
              </a:rPr>
              <a:t>AI Discovery Workshop</a:t>
            </a:r>
          </a:p>
        </p:txBody>
      </p:sp>
      <p:sp>
        <p:nvSpPr>
          <p:cNvPr id="8" name="TextBox 7"/>
          <p:cNvSpPr txBox="1"/>
          <p:nvPr/>
        </p:nvSpPr>
        <p:spPr>
          <a:xfrm>
            <a:off x="3090672" y="1024128"/>
            <a:ext cx="6858000" cy="256032"/>
          </a:xfrm>
          <a:prstGeom prst="rect">
            <a:avLst/>
          </a:prstGeom>
          <a:noFill/>
        </p:spPr>
        <p:txBody>
          <a:bodyPr wrap="square" anchor="ctr">
            <a:spAutoFit/>
          </a:bodyPr>
          <a:lstStyle/>
          <a:p>
            <a:pPr algn="l">
              <a:spcAft>
                <a:spcPts val="0"/>
              </a:spcAft>
            </a:pPr>
            <a:r>
              <a:rPr sz="1050" b="0">
                <a:solidFill>
                  <a:srgbClr val="8A7D75"/>
                </a:solidFill>
                <a:latin typeface="Microsoft YaHei"/>
              </a:rPr>
              <a:t>客户：会员增长与保留运营工作台 | 行业：跨境电商 · 第2小组 · 日期 2026-05-17</a:t>
            </a:r>
          </a:p>
        </p:txBody>
      </p:sp>
      <p:sp>
        <p:nvSpPr>
          <p:cNvPr id="9" name="TextBox 8"/>
          <p:cNvSpPr txBox="1"/>
          <p:nvPr/>
        </p:nvSpPr>
        <p:spPr>
          <a:xfrm>
            <a:off x="3090672" y="1389888"/>
            <a:ext cx="6812280" cy="1207008"/>
          </a:xfrm>
          <a:prstGeom prst="rect">
            <a:avLst/>
          </a:prstGeom>
          <a:noFill/>
        </p:spPr>
        <p:txBody>
          <a:bodyPr wrap="square" anchor="t">
            <a:spAutoFit/>
          </a:bodyPr>
          <a:lstStyle/>
          <a:p>
            <a:pPr algn="l">
              <a:spcAft>
                <a:spcPts val="0"/>
              </a:spcAft>
            </a:pPr>
            <a:r>
              <a:rPr sz="3000" b="1">
                <a:solidFill>
                  <a:srgbClr val="A63A2B"/>
                </a:solidFill>
                <a:latin typeface="Microsoft YaHei"/>
              </a:rPr>
              <a:t>会员增长与保留运营工作台</a:t>
            </a:r>
          </a:p>
        </p:txBody>
      </p:sp>
      <p:sp>
        <p:nvSpPr>
          <p:cNvPr id="10" name="TextBox 9"/>
          <p:cNvSpPr txBox="1"/>
          <p:nvPr/>
        </p:nvSpPr>
        <p:spPr>
          <a:xfrm>
            <a:off x="3108960" y="2523744"/>
            <a:ext cx="5852160" cy="310896"/>
          </a:xfrm>
          <a:prstGeom prst="rect">
            <a:avLst/>
          </a:prstGeom>
          <a:noFill/>
        </p:spPr>
        <p:txBody>
          <a:bodyPr wrap="square" anchor="ctr">
            <a:spAutoFit/>
          </a:bodyPr>
          <a:lstStyle/>
          <a:p>
            <a:pPr algn="l">
              <a:spcAft>
                <a:spcPts val="600"/>
              </a:spcAft>
            </a:pPr>
            <a:r>
              <a:rPr sz="1150" b="0">
                <a:solidFill>
                  <a:srgbClr val="8A7D75"/>
                </a:solidFill>
                <a:latin typeface="Microsoft YaHei"/>
              </a:rPr>
              <a:t>AI Discovery Workshop 商机与原型方案</a:t>
            </a:r>
          </a:p>
        </p:txBody>
      </p:sp>
      <p:sp>
        <p:nvSpPr>
          <p:cNvPr id="11" name="Rounded Rectangle 10"/>
          <p:cNvSpPr/>
          <p:nvPr/>
        </p:nvSpPr>
        <p:spPr>
          <a:xfrm>
            <a:off x="3090672" y="2926080"/>
            <a:ext cx="6894576" cy="896112"/>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10128" y="3163824"/>
            <a:ext cx="6446520" cy="329184"/>
          </a:xfrm>
          <a:prstGeom prst="rect">
            <a:avLst/>
          </a:prstGeom>
          <a:noFill/>
        </p:spPr>
        <p:txBody>
          <a:bodyPr wrap="square" anchor="ctr">
            <a:spAutoFit/>
          </a:bodyPr>
          <a:lstStyle/>
          <a:p>
            <a:pPr algn="l">
              <a:spcAft>
                <a:spcPts val="0"/>
              </a:spcAft>
            </a:pPr>
            <a:r>
              <a:rPr sz="1400" b="0">
                <a:solidFill>
                  <a:srgbClr val="4E433D"/>
                </a:solidFill>
                <a:latin typeface="Microsoft YaHei"/>
              </a:rPr>
              <a:t>先用前端壳子把会员洞察、内容生产和保留动作联动价值讲清楚，再决定是否扩展到真实系统对接。</a:t>
            </a:r>
          </a:p>
        </p:txBody>
      </p:sp>
      <p:sp>
        <p:nvSpPr>
          <p:cNvPr id="13" name="Rounded Rectangle 12"/>
          <p:cNvSpPr/>
          <p:nvPr/>
        </p:nvSpPr>
        <p:spPr>
          <a:xfrm>
            <a:off x="3090672" y="4133087"/>
            <a:ext cx="3840480" cy="658368"/>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55264" y="4215383"/>
            <a:ext cx="3511296" cy="128016"/>
          </a:xfrm>
          <a:prstGeom prst="rect">
            <a:avLst/>
          </a:prstGeom>
          <a:noFill/>
        </p:spPr>
        <p:txBody>
          <a:bodyPr wrap="square" anchor="ctr">
            <a:spAutoFit/>
          </a:bodyPr>
          <a:lstStyle/>
          <a:p>
            <a:pPr algn="l">
              <a:spcAft>
                <a:spcPts val="0"/>
              </a:spcAft>
            </a:pPr>
            <a:r>
              <a:rPr sz="850" b="0">
                <a:solidFill>
                  <a:srgbClr val="8A7D75"/>
                </a:solidFill>
                <a:latin typeface="Arial"/>
              </a:rPr>
              <a:t>客户与行业</a:t>
            </a:r>
          </a:p>
        </p:txBody>
      </p:sp>
      <p:sp>
        <p:nvSpPr>
          <p:cNvPr id="15" name="TextBox 14"/>
          <p:cNvSpPr txBox="1"/>
          <p:nvPr/>
        </p:nvSpPr>
        <p:spPr>
          <a:xfrm>
            <a:off x="3255264" y="4379975"/>
            <a:ext cx="3511296" cy="237744"/>
          </a:xfrm>
          <a:prstGeom prst="rect">
            <a:avLst/>
          </a:prstGeom>
          <a:noFill/>
        </p:spPr>
        <p:txBody>
          <a:bodyPr wrap="square" anchor="ctr">
            <a:spAutoFit/>
          </a:bodyPr>
          <a:lstStyle/>
          <a:p>
            <a:pPr algn="l">
              <a:spcAft>
                <a:spcPts val="0"/>
              </a:spcAft>
            </a:pPr>
            <a:r>
              <a:rPr sz="1000" b="0">
                <a:solidFill>
                  <a:srgbClr val="4E433D"/>
                </a:solidFill>
                <a:latin typeface="Microsoft YaHei"/>
              </a:rPr>
              <a:t>客户：会员增长与保留运营工作台 | 行业：跨境电商</a:t>
            </a:r>
          </a:p>
        </p:txBody>
      </p:sp>
      <p:sp>
        <p:nvSpPr>
          <p:cNvPr id="16" name="Rounded Rectangle 15"/>
          <p:cNvSpPr/>
          <p:nvPr/>
        </p:nvSpPr>
        <p:spPr>
          <a:xfrm>
            <a:off x="7114032" y="4133087"/>
            <a:ext cx="2633472" cy="658368"/>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78624" y="4215383"/>
            <a:ext cx="2304288" cy="128016"/>
          </a:xfrm>
          <a:prstGeom prst="rect">
            <a:avLst/>
          </a:prstGeom>
          <a:noFill/>
        </p:spPr>
        <p:txBody>
          <a:bodyPr wrap="square" anchor="ctr">
            <a:spAutoFit/>
          </a:bodyPr>
          <a:lstStyle/>
          <a:p>
            <a:pPr algn="l">
              <a:spcAft>
                <a:spcPts val="0"/>
              </a:spcAft>
            </a:pPr>
            <a:r>
              <a:rPr sz="850" b="0">
                <a:solidFill>
                  <a:srgbClr val="8A7D75"/>
                </a:solidFill>
                <a:latin typeface="Arial"/>
              </a:rPr>
              <a:t>小组与日期</a:t>
            </a:r>
          </a:p>
        </p:txBody>
      </p:sp>
      <p:sp>
        <p:nvSpPr>
          <p:cNvPr id="18" name="TextBox 17"/>
          <p:cNvSpPr txBox="1"/>
          <p:nvPr/>
        </p:nvSpPr>
        <p:spPr>
          <a:xfrm>
            <a:off x="7278624" y="4379975"/>
            <a:ext cx="2304288" cy="237744"/>
          </a:xfrm>
          <a:prstGeom prst="rect">
            <a:avLst/>
          </a:prstGeom>
          <a:noFill/>
        </p:spPr>
        <p:txBody>
          <a:bodyPr wrap="square" anchor="ctr">
            <a:spAutoFit/>
          </a:bodyPr>
          <a:lstStyle/>
          <a:p>
            <a:pPr algn="l">
              <a:spcAft>
                <a:spcPts val="0"/>
              </a:spcAft>
            </a:pPr>
            <a:r>
              <a:rPr sz="1000" b="0">
                <a:solidFill>
                  <a:srgbClr val="4E433D"/>
                </a:solidFill>
                <a:latin typeface="Microsoft YaHei"/>
              </a:rPr>
              <a:t>小组：第2小组 · 日期：2026-05-17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1EC"/>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A63A2B"/>
                </a:solidFill>
                <a:latin typeface="Microsoft YaHei"/>
              </a:rPr>
              <a:t>当前差距与优先痛点</a:t>
            </a:r>
          </a:p>
        </p:txBody>
      </p:sp>
      <p:sp>
        <p:nvSpPr>
          <p:cNvPr id="4" name="Rectangle 3"/>
          <p:cNvSpPr/>
          <p:nvPr/>
        </p:nvSpPr>
        <p:spPr>
          <a:xfrm>
            <a:off x="822960" y="1325880"/>
            <a:ext cx="10515600" cy="27432"/>
          </a:xfrm>
          <a:prstGeom prst="rect">
            <a:avLst/>
          </a:prstGeom>
          <a:solidFill>
            <a:srgbClr val="F3E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5074920" cy="4389120"/>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965960"/>
            <a:ext cx="4434840" cy="274320"/>
          </a:xfrm>
          <a:prstGeom prst="rect">
            <a:avLst/>
          </a:prstGeom>
          <a:noFill/>
        </p:spPr>
        <p:txBody>
          <a:bodyPr wrap="square" anchor="t">
            <a:spAutoFit/>
          </a:bodyPr>
          <a:lstStyle/>
          <a:p>
            <a:pPr algn="l">
              <a:spcAft>
                <a:spcPts val="0"/>
              </a:spcAft>
            </a:pPr>
            <a:r>
              <a:rPr sz="1650" b="1">
                <a:solidFill>
                  <a:srgbClr val="A63A2B"/>
                </a:solidFill>
                <a:latin typeface="Microsoft YaHei"/>
              </a:rPr>
              <a:t>现状流程</a:t>
            </a:r>
          </a:p>
        </p:txBody>
      </p:sp>
      <p:sp>
        <p:nvSpPr>
          <p:cNvPr id="7" name="TextBox 6"/>
          <p:cNvSpPr txBox="1"/>
          <p:nvPr/>
        </p:nvSpPr>
        <p:spPr>
          <a:xfrm>
            <a:off x="1097280" y="2468880"/>
            <a:ext cx="4526280" cy="3154680"/>
          </a:xfrm>
          <a:prstGeom prst="rect">
            <a:avLst/>
          </a:prstGeom>
          <a:noFill/>
        </p:spPr>
        <p:txBody>
          <a:bodyPr wrap="square" anchor="t">
            <a:spAutoFit/>
          </a:bodyPr>
          <a:lstStyle/>
          <a:p>
            <a:pPr algn="l">
              <a:spcAft>
                <a:spcPts val="800"/>
              </a:spcAft>
            </a:pPr>
            <a:r>
              <a:rPr sz="1450" b="0">
                <a:solidFill>
                  <a:srgbClr val="4E433D"/>
                </a:solidFill>
                <a:latin typeface="Microsoft YaHei"/>
              </a:rPr>
              <a:t>1. 制定会员增长或保留活动目标</a:t>
            </a:r>
          </a:p>
          <a:p>
            <a:pPr algn="l">
              <a:spcAft>
                <a:spcPts val="800"/>
              </a:spcAft>
            </a:pPr>
            <a:r>
              <a:rPr sz="1450" b="0">
                <a:solidFill>
                  <a:srgbClr val="4E433D"/>
                </a:solidFill>
                <a:latin typeface="Microsoft YaHei"/>
              </a:rPr>
              <a:t>2. 人工汇总客户画像、活动数据和渠道反馈</a:t>
            </a:r>
          </a:p>
          <a:p>
            <a:pPr algn="l">
              <a:spcAft>
                <a:spcPts val="800"/>
              </a:spcAft>
            </a:pPr>
            <a:r>
              <a:rPr sz="1450" b="0">
                <a:solidFill>
                  <a:srgbClr val="4E433D"/>
                </a:solidFill>
                <a:latin typeface="Microsoft YaHei"/>
              </a:rPr>
              <a:t>3. 运营团队手动完成会员分层和机会判断</a:t>
            </a:r>
          </a:p>
          <a:p>
            <a:pPr algn="l">
              <a:spcAft>
                <a:spcPts val="800"/>
              </a:spcAft>
            </a:pPr>
            <a:r>
              <a:rPr sz="1450" b="0">
                <a:solidFill>
                  <a:srgbClr val="4E433D"/>
                </a:solidFill>
                <a:latin typeface="Microsoft YaHei"/>
              </a:rPr>
              <a:t>4. 内容团队分别产出文案、页面素材和触达内容</a:t>
            </a:r>
          </a:p>
        </p:txBody>
      </p:sp>
      <p:sp>
        <p:nvSpPr>
          <p:cNvPr id="8" name="Rounded Rectangle 7"/>
          <p:cNvSpPr/>
          <p:nvPr/>
        </p:nvSpPr>
        <p:spPr>
          <a:xfrm>
            <a:off x="6172200" y="1737360"/>
            <a:ext cx="5120640" cy="3017520"/>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965960"/>
            <a:ext cx="4480560" cy="274320"/>
          </a:xfrm>
          <a:prstGeom prst="rect">
            <a:avLst/>
          </a:prstGeom>
          <a:noFill/>
        </p:spPr>
        <p:txBody>
          <a:bodyPr wrap="square" anchor="t">
            <a:spAutoFit/>
          </a:bodyPr>
          <a:lstStyle/>
          <a:p>
            <a:pPr algn="l">
              <a:spcAft>
                <a:spcPts val="0"/>
              </a:spcAft>
            </a:pPr>
            <a:r>
              <a:rPr sz="1650" b="1">
                <a:solidFill>
                  <a:srgbClr val="A63A2B"/>
                </a:solidFill>
                <a:latin typeface="Microsoft YaHei"/>
              </a:rPr>
              <a:t>关键痛点</a:t>
            </a:r>
          </a:p>
        </p:txBody>
      </p:sp>
      <p:sp>
        <p:nvSpPr>
          <p:cNvPr id="10" name="TextBox 9"/>
          <p:cNvSpPr txBox="1"/>
          <p:nvPr/>
        </p:nvSpPr>
        <p:spPr>
          <a:xfrm>
            <a:off x="6400800" y="2450592"/>
            <a:ext cx="4572000" cy="1783080"/>
          </a:xfrm>
          <a:prstGeom prst="rect">
            <a:avLst/>
          </a:prstGeom>
          <a:noFill/>
        </p:spPr>
        <p:txBody>
          <a:bodyPr wrap="square" anchor="t">
            <a:spAutoFit/>
          </a:bodyPr>
          <a:lstStyle/>
          <a:p>
            <a:pPr algn="l">
              <a:spcAft>
                <a:spcPts val="800"/>
              </a:spcAft>
            </a:pPr>
            <a:r>
              <a:rPr sz="1450" b="0">
                <a:solidFill>
                  <a:srgbClr val="4E433D"/>
                </a:solidFill>
                <a:latin typeface="Microsoft YaHei"/>
              </a:rPr>
              <a:t>1. 会员分层与高价值客群识别依赖人工分析，判断慢且口径不统一。</a:t>
            </a:r>
          </a:p>
          <a:p>
            <a:pPr algn="l">
              <a:spcAft>
                <a:spcPts val="800"/>
              </a:spcAft>
            </a:pPr>
            <a:r>
              <a:rPr sz="1450" b="0">
                <a:solidFill>
                  <a:srgbClr val="4E433D"/>
                </a:solidFill>
                <a:latin typeface="Microsoft YaHei"/>
              </a:rPr>
              <a:t>2. 营销文案、页面内容和触达素材分散生产，活动准备周期长。</a:t>
            </a:r>
          </a:p>
          <a:p>
            <a:pPr algn="l">
              <a:spcAft>
                <a:spcPts val="800"/>
              </a:spcAft>
            </a:pPr>
            <a:r>
              <a:rPr sz="1450" b="0">
                <a:solidFill>
                  <a:srgbClr val="4E433D"/>
                </a:solidFill>
                <a:latin typeface="Microsoft YaHei"/>
              </a:rPr>
              <a:t>3. 活动结果复盘滞后，无法及时把高风险会员识别和保留动作串起来。</a:t>
            </a:r>
          </a:p>
        </p:txBody>
      </p:sp>
      <p:sp>
        <p:nvSpPr>
          <p:cNvPr id="11" name="Rounded Rectangle 10"/>
          <p:cNvSpPr/>
          <p:nvPr/>
        </p:nvSpPr>
        <p:spPr>
          <a:xfrm>
            <a:off x="6172200" y="4983480"/>
            <a:ext cx="5120640" cy="1143000"/>
          </a:xfrm>
          <a:prstGeom prst="roundRect">
            <a:avLst>
              <a:gd name="adj" fmla="val 10000"/>
            </a:avLst>
          </a:prstGeom>
          <a:solidFill>
            <a:srgbClr val="A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5266944"/>
            <a:ext cx="4480560" cy="384048"/>
          </a:xfrm>
          <a:prstGeom prst="rect">
            <a:avLst/>
          </a:prstGeom>
          <a:noFill/>
        </p:spPr>
        <p:txBody>
          <a:bodyPr wrap="square" anchor="ctr">
            <a:spAutoFit/>
          </a:bodyPr>
          <a:lstStyle/>
          <a:p>
            <a:pPr algn="l">
              <a:spcAft>
                <a:spcPts val="0"/>
              </a:spcAft>
            </a:pPr>
            <a:r>
              <a:rPr sz="1520" b="1">
                <a:solidFill>
                  <a:srgbClr val="FFFFFF"/>
                </a:solidFill>
                <a:latin typeface="Microsoft YaHei"/>
              </a:rPr>
              <a:t>优先切口：会员分层与高价值客群识别依赖人工分析，判断慢且口径不统一。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1EC"/>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A63A2B"/>
                </a:solidFill>
                <a:latin typeface="Microsoft YaHei"/>
              </a:rPr>
              <a:t>业务机会与 Why Now</a:t>
            </a:r>
          </a:p>
        </p:txBody>
      </p:sp>
      <p:sp>
        <p:nvSpPr>
          <p:cNvPr id="4" name="Rectangle 3"/>
          <p:cNvSpPr/>
          <p:nvPr/>
        </p:nvSpPr>
        <p:spPr>
          <a:xfrm>
            <a:off x="822960" y="1325880"/>
            <a:ext cx="10515600" cy="27432"/>
          </a:xfrm>
          <a:prstGeom prst="rect">
            <a:avLst/>
          </a:prstGeom>
          <a:solidFill>
            <a:srgbClr val="F3E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7909560" cy="1234440"/>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947672"/>
            <a:ext cx="7507224" cy="274320"/>
          </a:xfrm>
          <a:prstGeom prst="rect">
            <a:avLst/>
          </a:prstGeom>
          <a:noFill/>
        </p:spPr>
        <p:txBody>
          <a:bodyPr wrap="square" anchor="t">
            <a:spAutoFit/>
          </a:bodyPr>
          <a:lstStyle/>
          <a:p>
            <a:pPr algn="l">
              <a:spcAft>
                <a:spcPts val="0"/>
              </a:spcAft>
            </a:pPr>
            <a:r>
              <a:rPr sz="1650" b="1">
                <a:solidFill>
                  <a:srgbClr val="A63A2B"/>
                </a:solidFill>
                <a:latin typeface="Microsoft YaHei"/>
              </a:rPr>
              <a:t>机会判断</a:t>
            </a:r>
          </a:p>
        </p:txBody>
      </p:sp>
      <p:sp>
        <p:nvSpPr>
          <p:cNvPr id="7" name="TextBox 6"/>
          <p:cNvSpPr txBox="1"/>
          <p:nvPr/>
        </p:nvSpPr>
        <p:spPr>
          <a:xfrm>
            <a:off x="1024128" y="2258568"/>
            <a:ext cx="7507224" cy="502920"/>
          </a:xfrm>
          <a:prstGeom prst="rect">
            <a:avLst/>
          </a:prstGeom>
          <a:noFill/>
        </p:spPr>
        <p:txBody>
          <a:bodyPr wrap="square" anchor="ctr">
            <a:spAutoFit/>
          </a:bodyPr>
          <a:lstStyle/>
          <a:p>
            <a:pPr algn="l">
              <a:spcAft>
                <a:spcPts val="800"/>
              </a:spcAft>
            </a:pPr>
            <a:r>
              <a:rPr sz="1340" b="0">
                <a:solidFill>
                  <a:srgbClr val="4E433D"/>
                </a:solidFill>
                <a:latin typeface="Microsoft YaHei"/>
              </a:rPr>
              <a:t>会员生命周期运营具备明确数据基础和高频业务动作，适合优先验证 AI 驱动的增长与保留一体化工作台。</a:t>
            </a:r>
          </a:p>
        </p:txBody>
      </p:sp>
      <p:sp>
        <p:nvSpPr>
          <p:cNvPr id="8" name="Rounded Rectangle 7"/>
          <p:cNvSpPr/>
          <p:nvPr/>
        </p:nvSpPr>
        <p:spPr>
          <a:xfrm>
            <a:off x="822960" y="3246120"/>
            <a:ext cx="7909560" cy="1234440"/>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3410712"/>
            <a:ext cx="7507224" cy="274320"/>
          </a:xfrm>
          <a:prstGeom prst="rect">
            <a:avLst/>
          </a:prstGeom>
          <a:noFill/>
        </p:spPr>
        <p:txBody>
          <a:bodyPr wrap="square" anchor="t">
            <a:spAutoFit/>
          </a:bodyPr>
          <a:lstStyle/>
          <a:p>
            <a:pPr algn="l">
              <a:spcAft>
                <a:spcPts val="0"/>
              </a:spcAft>
            </a:pPr>
            <a:r>
              <a:rPr sz="1650" b="1">
                <a:solidFill>
                  <a:srgbClr val="A63A2B"/>
                </a:solidFill>
                <a:latin typeface="Microsoft YaHei"/>
              </a:rPr>
              <a:t>为什么是现在</a:t>
            </a:r>
          </a:p>
        </p:txBody>
      </p:sp>
      <p:sp>
        <p:nvSpPr>
          <p:cNvPr id="10" name="TextBox 9"/>
          <p:cNvSpPr txBox="1"/>
          <p:nvPr/>
        </p:nvSpPr>
        <p:spPr>
          <a:xfrm>
            <a:off x="1024128" y="3721608"/>
            <a:ext cx="7507224" cy="502920"/>
          </a:xfrm>
          <a:prstGeom prst="rect">
            <a:avLst/>
          </a:prstGeom>
          <a:noFill/>
        </p:spPr>
        <p:txBody>
          <a:bodyPr wrap="square" anchor="ctr">
            <a:spAutoFit/>
          </a:bodyPr>
          <a:lstStyle/>
          <a:p>
            <a:pPr algn="l">
              <a:spcAft>
                <a:spcPts val="800"/>
              </a:spcAft>
            </a:pPr>
            <a:r>
              <a:rPr sz="1340" b="0">
                <a:solidFill>
                  <a:srgbClr val="4E433D"/>
                </a:solidFill>
                <a:latin typeface="Microsoft YaHei"/>
              </a:rPr>
              <a:t>当前增长压力与留存压力同时存在，客户又明确希望先看可演示原型，现在是用轻量工作台快速验证价值的合适时点。</a:t>
            </a:r>
          </a:p>
        </p:txBody>
      </p:sp>
      <p:sp>
        <p:nvSpPr>
          <p:cNvPr id="11" name="Rounded Rectangle 10"/>
          <p:cNvSpPr/>
          <p:nvPr/>
        </p:nvSpPr>
        <p:spPr>
          <a:xfrm>
            <a:off x="822960" y="4709160"/>
            <a:ext cx="7909560" cy="1234440"/>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4873752"/>
            <a:ext cx="7507224" cy="274320"/>
          </a:xfrm>
          <a:prstGeom prst="rect">
            <a:avLst/>
          </a:prstGeom>
          <a:noFill/>
        </p:spPr>
        <p:txBody>
          <a:bodyPr wrap="square" anchor="t">
            <a:spAutoFit/>
          </a:bodyPr>
          <a:lstStyle/>
          <a:p>
            <a:pPr algn="l">
              <a:spcAft>
                <a:spcPts val="0"/>
              </a:spcAft>
            </a:pPr>
            <a:r>
              <a:rPr sz="1650" b="1">
                <a:solidFill>
                  <a:srgbClr val="A63A2B"/>
                </a:solidFill>
                <a:latin typeface="Microsoft YaHei"/>
              </a:rPr>
              <a:t>价值支撑</a:t>
            </a:r>
          </a:p>
        </p:txBody>
      </p:sp>
      <p:sp>
        <p:nvSpPr>
          <p:cNvPr id="13" name="TextBox 12"/>
          <p:cNvSpPr txBox="1"/>
          <p:nvPr/>
        </p:nvSpPr>
        <p:spPr>
          <a:xfrm>
            <a:off x="1024128" y="5184648"/>
            <a:ext cx="7507224" cy="502920"/>
          </a:xfrm>
          <a:prstGeom prst="rect">
            <a:avLst/>
          </a:prstGeom>
          <a:noFill/>
        </p:spPr>
        <p:txBody>
          <a:bodyPr wrap="square" anchor="ctr">
            <a:spAutoFit/>
          </a:bodyPr>
          <a:lstStyle/>
          <a:p>
            <a:pPr algn="l">
              <a:spcAft>
                <a:spcPts val="800"/>
              </a:spcAft>
            </a:pPr>
            <a:r>
              <a:rPr sz="1340" b="0">
                <a:solidFill>
                  <a:srgbClr val="4E433D"/>
                </a:solidFill>
                <a:latin typeface="Microsoft YaHei"/>
              </a:rPr>
              <a:t>会员分层、活动执行、内容生产和流失预警已形成稳定业务链路，适合串成闭环验证。</a:t>
            </a:r>
          </a:p>
        </p:txBody>
      </p:sp>
      <p:pic>
        <p:nvPicPr>
          <p:cNvPr id="14" name="Picture 13" descr="image.png"/>
          <p:cNvPicPr>
            <a:picLocks noChangeAspect="1"/>
          </p:cNvPicPr>
          <p:nvPr/>
        </p:nvPicPr>
        <p:blipFill>
          <a:blip r:embed="rId2"/>
          <a:stretch>
            <a:fillRect/>
          </a:stretch>
        </p:blipFill>
        <p:spPr>
          <a:xfrm>
            <a:off x="9144000" y="1828800"/>
            <a:ext cx="1920240" cy="42976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1EC"/>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A63A2B"/>
                </a:solidFill>
                <a:latin typeface="Microsoft YaHei"/>
              </a:rPr>
              <a:t>客户现场卡片流程</a:t>
            </a:r>
          </a:p>
        </p:txBody>
      </p:sp>
      <p:sp>
        <p:nvSpPr>
          <p:cNvPr id="4" name="Rectangle 3"/>
          <p:cNvSpPr/>
          <p:nvPr/>
        </p:nvSpPr>
        <p:spPr>
          <a:xfrm>
            <a:off x="822960" y="1325880"/>
            <a:ext cx="10515600" cy="27432"/>
          </a:xfrm>
          <a:prstGeom prst="rect">
            <a:avLst/>
          </a:prstGeom>
          <a:solidFill>
            <a:srgbClr val="F3E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55648"/>
            <a:ext cx="10469880" cy="4526280"/>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993392"/>
            <a:ext cx="1051560" cy="658368"/>
          </a:xfrm>
          <a:prstGeom prst="roundRect">
            <a:avLst>
              <a:gd name="adj" fmla="val 10000"/>
            </a:avLst>
          </a:prstGeom>
          <a:solidFill>
            <a:srgbClr val="A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93976"/>
            <a:ext cx="749808" cy="420624"/>
          </a:xfrm>
          <a:prstGeom prst="rect">
            <a:avLst/>
          </a:prstGeom>
          <a:noFill/>
        </p:spPr>
        <p:txBody>
          <a:bodyPr wrap="square" anchor="ctr">
            <a:spAutoFit/>
          </a:bodyPr>
          <a:lstStyle/>
          <a:p>
            <a:pPr algn="ctr">
              <a:spcAft>
                <a:spcPts val="0"/>
              </a:spcAft>
            </a:pPr>
            <a:r>
              <a:rPr sz="1200" b="1">
                <a:solidFill>
                  <a:srgbClr val="FFFFFF"/>
                </a:solidFill>
                <a:latin typeface="Microsoft YaHei"/>
              </a:rPr>
              <a:t>业务场景 / 输入感知</a:t>
            </a:r>
          </a:p>
        </p:txBody>
      </p:sp>
      <p:sp>
        <p:nvSpPr>
          <p:cNvPr id="8" name="Rounded Rectangle 7"/>
          <p:cNvSpPr/>
          <p:nvPr/>
        </p:nvSpPr>
        <p:spPr>
          <a:xfrm>
            <a:off x="2103120" y="1993392"/>
            <a:ext cx="1572768"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31136" y="2103120"/>
            <a:ext cx="1316736" cy="384048"/>
          </a:xfrm>
          <a:prstGeom prst="rect">
            <a:avLst/>
          </a:prstGeom>
          <a:noFill/>
        </p:spPr>
        <p:txBody>
          <a:bodyPr wrap="square" anchor="ctr">
            <a:spAutoFit/>
          </a:bodyPr>
          <a:lstStyle/>
          <a:p>
            <a:pPr algn="l">
              <a:spcAft>
                <a:spcPts val="0"/>
              </a:spcAft>
            </a:pPr>
            <a:r>
              <a:rPr sz="1150" b="0">
                <a:solidFill>
                  <a:srgbClr val="4E433D"/>
                </a:solidFill>
                <a:latin typeface="Microsoft YaHei"/>
              </a:rPr>
              <a:t>内容生成中偏营销、网页、内容生产的卡片</a:t>
            </a:r>
          </a:p>
        </p:txBody>
      </p:sp>
      <p:sp>
        <p:nvSpPr>
          <p:cNvPr id="10" name="Right Arrow 9"/>
          <p:cNvSpPr/>
          <p:nvPr/>
        </p:nvSpPr>
        <p:spPr>
          <a:xfrm>
            <a:off x="3703320" y="2176272"/>
            <a:ext cx="237744" cy="237744"/>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877056" y="1993392"/>
            <a:ext cx="1572768"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05072" y="2103120"/>
            <a:ext cx="1316736" cy="384048"/>
          </a:xfrm>
          <a:prstGeom prst="rect">
            <a:avLst/>
          </a:prstGeom>
          <a:noFill/>
        </p:spPr>
        <p:txBody>
          <a:bodyPr wrap="square" anchor="ctr">
            <a:spAutoFit/>
          </a:bodyPr>
          <a:lstStyle/>
          <a:p>
            <a:pPr algn="l">
              <a:spcAft>
                <a:spcPts val="0"/>
              </a:spcAft>
            </a:pPr>
            <a:r>
              <a:rPr sz="1150" b="0">
                <a:solidFill>
                  <a:srgbClr val="4E433D"/>
                </a:solidFill>
                <a:latin typeface="Microsoft YaHei"/>
              </a:rPr>
              <a:t>表单理解</a:t>
            </a:r>
          </a:p>
        </p:txBody>
      </p:sp>
      <p:sp>
        <p:nvSpPr>
          <p:cNvPr id="13" name="Rounded Rectangle 12"/>
          <p:cNvSpPr/>
          <p:nvPr/>
        </p:nvSpPr>
        <p:spPr>
          <a:xfrm>
            <a:off x="868680" y="3310128"/>
            <a:ext cx="1051560" cy="658368"/>
          </a:xfrm>
          <a:prstGeom prst="roundRect">
            <a:avLst>
              <a:gd name="adj" fmla="val 10000"/>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410712"/>
            <a:ext cx="749808" cy="420624"/>
          </a:xfrm>
          <a:prstGeom prst="rect">
            <a:avLst/>
          </a:prstGeom>
          <a:noFill/>
        </p:spPr>
        <p:txBody>
          <a:bodyPr wrap="square" anchor="ctr">
            <a:spAutoFit/>
          </a:bodyPr>
          <a:lstStyle/>
          <a:p>
            <a:pPr algn="ctr">
              <a:spcAft>
                <a:spcPts val="0"/>
              </a:spcAft>
            </a:pPr>
            <a:r>
              <a:rPr sz="1200" b="1">
                <a:solidFill>
                  <a:srgbClr val="FFFFFF"/>
                </a:solidFill>
                <a:latin typeface="Microsoft YaHei"/>
              </a:rPr>
              <a:t>理解分析</a:t>
            </a:r>
          </a:p>
        </p:txBody>
      </p:sp>
      <p:sp>
        <p:nvSpPr>
          <p:cNvPr id="15" name="Rounded Rectangle 14"/>
          <p:cNvSpPr/>
          <p:nvPr/>
        </p:nvSpPr>
        <p:spPr>
          <a:xfrm>
            <a:off x="2103120" y="3310128"/>
            <a:ext cx="1572768"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31136" y="3419856"/>
            <a:ext cx="1316736" cy="384048"/>
          </a:xfrm>
          <a:prstGeom prst="rect">
            <a:avLst/>
          </a:prstGeom>
          <a:noFill/>
        </p:spPr>
        <p:txBody>
          <a:bodyPr wrap="square" anchor="ctr">
            <a:spAutoFit/>
          </a:bodyPr>
          <a:lstStyle/>
          <a:p>
            <a:pPr algn="l">
              <a:spcAft>
                <a:spcPts val="0"/>
              </a:spcAft>
            </a:pPr>
            <a:r>
              <a:rPr sz="1150" b="0">
                <a:solidFill>
                  <a:srgbClr val="4E433D"/>
                </a:solidFill>
                <a:latin typeface="Microsoft YaHei"/>
              </a:rPr>
              <a:t>客户洞察</a:t>
            </a:r>
          </a:p>
        </p:txBody>
      </p:sp>
      <p:sp>
        <p:nvSpPr>
          <p:cNvPr id="17" name="Right Arrow 16"/>
          <p:cNvSpPr/>
          <p:nvPr/>
        </p:nvSpPr>
        <p:spPr>
          <a:xfrm>
            <a:off x="3703320" y="3493008"/>
            <a:ext cx="237744" cy="237744"/>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877056" y="3310128"/>
            <a:ext cx="1572768"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05072" y="3419856"/>
            <a:ext cx="1316736" cy="384048"/>
          </a:xfrm>
          <a:prstGeom prst="rect">
            <a:avLst/>
          </a:prstGeom>
          <a:noFill/>
        </p:spPr>
        <p:txBody>
          <a:bodyPr wrap="square" anchor="ctr">
            <a:spAutoFit/>
          </a:bodyPr>
          <a:lstStyle/>
          <a:p>
            <a:pPr algn="l">
              <a:spcAft>
                <a:spcPts val="0"/>
              </a:spcAft>
            </a:pPr>
            <a:r>
              <a:rPr sz="1150" b="0">
                <a:solidFill>
                  <a:srgbClr val="4E433D"/>
                </a:solidFill>
                <a:latin typeface="Microsoft YaHei"/>
              </a:rPr>
              <a:t>数据分析</a:t>
            </a:r>
          </a:p>
        </p:txBody>
      </p:sp>
      <p:sp>
        <p:nvSpPr>
          <p:cNvPr id="20" name="Right Arrow 19"/>
          <p:cNvSpPr/>
          <p:nvPr/>
        </p:nvSpPr>
        <p:spPr>
          <a:xfrm>
            <a:off x="5477256" y="3493008"/>
            <a:ext cx="237744" cy="237744"/>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650992" y="3310128"/>
            <a:ext cx="1572768"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79007" y="3419856"/>
            <a:ext cx="1316736" cy="384048"/>
          </a:xfrm>
          <a:prstGeom prst="rect">
            <a:avLst/>
          </a:prstGeom>
          <a:noFill/>
        </p:spPr>
        <p:txBody>
          <a:bodyPr wrap="square" anchor="ctr">
            <a:spAutoFit/>
          </a:bodyPr>
          <a:lstStyle/>
          <a:p>
            <a:pPr algn="l">
              <a:spcAft>
                <a:spcPts val="0"/>
              </a:spcAft>
            </a:pPr>
            <a:r>
              <a:rPr sz="1150" b="0">
                <a:solidFill>
                  <a:srgbClr val="4E433D"/>
                </a:solidFill>
                <a:latin typeface="Microsoft YaHei"/>
              </a:rPr>
              <a:t>风险预测</a:t>
            </a:r>
          </a:p>
        </p:txBody>
      </p:sp>
      <p:sp>
        <p:nvSpPr>
          <p:cNvPr id="23" name="Rounded Rectangle 22"/>
          <p:cNvSpPr/>
          <p:nvPr/>
        </p:nvSpPr>
        <p:spPr>
          <a:xfrm>
            <a:off x="868680" y="4626864"/>
            <a:ext cx="1051560" cy="658368"/>
          </a:xfrm>
          <a:prstGeom prst="roundRect">
            <a:avLst>
              <a:gd name="adj" fmla="val 10000"/>
            </a:avLst>
          </a:prstGeom>
          <a:solidFill>
            <a:srgbClr val="A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727448"/>
            <a:ext cx="749808" cy="420624"/>
          </a:xfrm>
          <a:prstGeom prst="rect">
            <a:avLst/>
          </a:prstGeom>
          <a:noFill/>
        </p:spPr>
        <p:txBody>
          <a:bodyPr wrap="square" anchor="ctr">
            <a:spAutoFit/>
          </a:bodyPr>
          <a:lstStyle/>
          <a:p>
            <a:pPr algn="ctr">
              <a:spcAft>
                <a:spcPts val="0"/>
              </a:spcAft>
            </a:pPr>
            <a:r>
              <a:rPr sz="1200" b="1">
                <a:solidFill>
                  <a:srgbClr val="FFFFFF"/>
                </a:solidFill>
                <a:latin typeface="Microsoft YaHei"/>
              </a:rPr>
              <a:t>生成交互 / 执行闭环</a:t>
            </a:r>
          </a:p>
        </p:txBody>
      </p:sp>
      <p:sp>
        <p:nvSpPr>
          <p:cNvPr id="25" name="Rounded Rectangle 24"/>
          <p:cNvSpPr/>
          <p:nvPr/>
        </p:nvSpPr>
        <p:spPr>
          <a:xfrm>
            <a:off x="2103120" y="4626864"/>
            <a:ext cx="1333500"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31136" y="4736592"/>
            <a:ext cx="1077468" cy="384048"/>
          </a:xfrm>
          <a:prstGeom prst="rect">
            <a:avLst/>
          </a:prstGeom>
          <a:noFill/>
        </p:spPr>
        <p:txBody>
          <a:bodyPr wrap="square" anchor="ctr">
            <a:spAutoFit/>
          </a:bodyPr>
          <a:lstStyle/>
          <a:p>
            <a:pPr algn="l">
              <a:spcAft>
                <a:spcPts val="0"/>
              </a:spcAft>
            </a:pPr>
            <a:r>
              <a:rPr sz="1150" b="0">
                <a:solidFill>
                  <a:srgbClr val="4E433D"/>
                </a:solidFill>
                <a:latin typeface="Microsoft YaHei"/>
              </a:rPr>
              <a:t>文本生成</a:t>
            </a:r>
          </a:p>
        </p:txBody>
      </p:sp>
      <p:sp>
        <p:nvSpPr>
          <p:cNvPr id="27" name="Right Arrow 26"/>
          <p:cNvSpPr/>
          <p:nvPr/>
        </p:nvSpPr>
        <p:spPr>
          <a:xfrm>
            <a:off x="3464051" y="4809744"/>
            <a:ext cx="237744" cy="237744"/>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637787" y="4626864"/>
            <a:ext cx="1333500"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65804" y="4736592"/>
            <a:ext cx="1077468" cy="384048"/>
          </a:xfrm>
          <a:prstGeom prst="rect">
            <a:avLst/>
          </a:prstGeom>
          <a:noFill/>
        </p:spPr>
        <p:txBody>
          <a:bodyPr wrap="square" anchor="ctr">
            <a:spAutoFit/>
          </a:bodyPr>
          <a:lstStyle/>
          <a:p>
            <a:pPr algn="l">
              <a:spcAft>
                <a:spcPts val="0"/>
              </a:spcAft>
            </a:pPr>
            <a:r>
              <a:rPr sz="1150" b="0">
                <a:solidFill>
                  <a:srgbClr val="4E433D"/>
                </a:solidFill>
                <a:latin typeface="Microsoft YaHei"/>
              </a:rPr>
              <a:t>网页生成</a:t>
            </a:r>
          </a:p>
        </p:txBody>
      </p:sp>
      <p:sp>
        <p:nvSpPr>
          <p:cNvPr id="30" name="Right Arrow 29"/>
          <p:cNvSpPr/>
          <p:nvPr/>
        </p:nvSpPr>
        <p:spPr>
          <a:xfrm>
            <a:off x="4998720" y="4809744"/>
            <a:ext cx="237744" cy="237744"/>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172456" y="4626864"/>
            <a:ext cx="1333500"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00471" y="4736592"/>
            <a:ext cx="1077468" cy="384048"/>
          </a:xfrm>
          <a:prstGeom prst="rect">
            <a:avLst/>
          </a:prstGeom>
          <a:noFill/>
        </p:spPr>
        <p:txBody>
          <a:bodyPr wrap="square" anchor="ctr">
            <a:spAutoFit/>
          </a:bodyPr>
          <a:lstStyle/>
          <a:p>
            <a:pPr algn="l">
              <a:spcAft>
                <a:spcPts val="0"/>
              </a:spcAft>
            </a:pPr>
            <a:r>
              <a:rPr sz="1150" b="0">
                <a:solidFill>
                  <a:srgbClr val="4E433D"/>
                </a:solidFill>
                <a:latin typeface="Microsoft YaHei"/>
              </a:rPr>
              <a:t>营销内容生成</a:t>
            </a:r>
          </a:p>
        </p:txBody>
      </p:sp>
      <p:sp>
        <p:nvSpPr>
          <p:cNvPr id="33" name="Right Arrow 32"/>
          <p:cNvSpPr/>
          <p:nvPr/>
        </p:nvSpPr>
        <p:spPr>
          <a:xfrm>
            <a:off x="6533388" y="4809744"/>
            <a:ext cx="237744" cy="237744"/>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707124" y="4626864"/>
            <a:ext cx="1333500"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35140" y="4736592"/>
            <a:ext cx="1077468" cy="384048"/>
          </a:xfrm>
          <a:prstGeom prst="rect">
            <a:avLst/>
          </a:prstGeom>
          <a:noFill/>
        </p:spPr>
        <p:txBody>
          <a:bodyPr wrap="square" anchor="ctr">
            <a:spAutoFit/>
          </a:bodyPr>
          <a:lstStyle/>
          <a:p>
            <a:pPr algn="l">
              <a:spcAft>
                <a:spcPts val="0"/>
              </a:spcAft>
            </a:pPr>
            <a:r>
              <a:rPr sz="1150" b="0">
                <a:solidFill>
                  <a:srgbClr val="4E433D"/>
                </a:solidFill>
                <a:latin typeface="Microsoft YaHei"/>
              </a:rPr>
              <a:t>流程优化</a:t>
            </a:r>
          </a:p>
        </p:txBody>
      </p:sp>
      <p:sp>
        <p:nvSpPr>
          <p:cNvPr id="36" name="Right Arrow 35"/>
          <p:cNvSpPr/>
          <p:nvPr/>
        </p:nvSpPr>
        <p:spPr>
          <a:xfrm>
            <a:off x="8068055" y="4809744"/>
            <a:ext cx="237744" cy="237744"/>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241791" y="4626864"/>
            <a:ext cx="1333500"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69807" y="4736592"/>
            <a:ext cx="1077468" cy="384048"/>
          </a:xfrm>
          <a:prstGeom prst="rect">
            <a:avLst/>
          </a:prstGeom>
          <a:noFill/>
        </p:spPr>
        <p:txBody>
          <a:bodyPr wrap="square" anchor="ctr">
            <a:spAutoFit/>
          </a:bodyPr>
          <a:lstStyle/>
          <a:p>
            <a:pPr algn="l">
              <a:spcAft>
                <a:spcPts val="0"/>
              </a:spcAft>
            </a:pPr>
            <a:r>
              <a:rPr sz="1150" b="0">
                <a:solidFill>
                  <a:srgbClr val="4E433D"/>
                </a:solidFill>
                <a:latin typeface="Microsoft YaHei"/>
              </a:rPr>
              <a:t>自动履行</a:t>
            </a:r>
          </a:p>
        </p:txBody>
      </p:sp>
      <p:sp>
        <p:nvSpPr>
          <p:cNvPr id="39" name="Right Arrow 38"/>
          <p:cNvSpPr/>
          <p:nvPr/>
        </p:nvSpPr>
        <p:spPr>
          <a:xfrm>
            <a:off x="9602723" y="4809744"/>
            <a:ext cx="237744" cy="237744"/>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776460" y="4626864"/>
            <a:ext cx="1333500"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904476" y="4736592"/>
            <a:ext cx="1077468" cy="384048"/>
          </a:xfrm>
          <a:prstGeom prst="rect">
            <a:avLst/>
          </a:prstGeom>
          <a:noFill/>
        </p:spPr>
        <p:txBody>
          <a:bodyPr wrap="square" anchor="ctr">
            <a:spAutoFit/>
          </a:bodyPr>
          <a:lstStyle/>
          <a:p>
            <a:pPr algn="l">
              <a:spcAft>
                <a:spcPts val="0"/>
              </a:spcAft>
            </a:pPr>
            <a:r>
              <a:rPr sz="1150" b="0">
                <a:solidFill>
                  <a:srgbClr val="4E433D"/>
                </a:solidFill>
                <a:latin typeface="Microsoft YaHei"/>
              </a:rPr>
              <a:t>决策制定</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1EC"/>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A63A2B"/>
                </a:solidFill>
                <a:latin typeface="Microsoft YaHei"/>
              </a:rPr>
              <a:t>目标业务闭环</a:t>
            </a:r>
          </a:p>
        </p:txBody>
      </p:sp>
      <p:sp>
        <p:nvSpPr>
          <p:cNvPr id="4" name="Rectangle 3"/>
          <p:cNvSpPr/>
          <p:nvPr/>
        </p:nvSpPr>
        <p:spPr>
          <a:xfrm>
            <a:off x="822960" y="1325880"/>
            <a:ext cx="10515600" cy="27432"/>
          </a:xfrm>
          <a:prstGeom prst="rect">
            <a:avLst/>
          </a:prstGeom>
          <a:solidFill>
            <a:srgbClr val="F3E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10469880" cy="731520"/>
          </a:xfrm>
          <a:prstGeom prst="roundRect">
            <a:avLst>
              <a:gd name="adj" fmla="val 10000"/>
            </a:avLst>
          </a:prstGeom>
          <a:solidFill>
            <a:srgbClr val="A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83664"/>
            <a:ext cx="1234440" cy="274320"/>
          </a:xfrm>
          <a:prstGeom prst="rect">
            <a:avLst/>
          </a:prstGeom>
          <a:noFill/>
        </p:spPr>
        <p:txBody>
          <a:bodyPr wrap="square" anchor="t">
            <a:spAutoFit/>
          </a:bodyPr>
          <a:lstStyle/>
          <a:p>
            <a:pPr algn="l">
              <a:spcAft>
                <a:spcPts val="0"/>
              </a:spcAft>
            </a:pPr>
            <a:r>
              <a:rPr sz="1650" b="1">
                <a:solidFill>
                  <a:srgbClr val="FFFFFF"/>
                </a:solidFill>
                <a:latin typeface="Microsoft YaHei"/>
              </a:rPr>
              <a:t>业务触发</a:t>
            </a:r>
          </a:p>
        </p:txBody>
      </p:sp>
      <p:sp>
        <p:nvSpPr>
          <p:cNvPr id="7" name="TextBox 6"/>
          <p:cNvSpPr txBox="1"/>
          <p:nvPr/>
        </p:nvSpPr>
        <p:spPr>
          <a:xfrm>
            <a:off x="2103120" y="1874519"/>
            <a:ext cx="8138160" cy="384048"/>
          </a:xfrm>
          <a:prstGeom prst="rect">
            <a:avLst/>
          </a:prstGeom>
          <a:noFill/>
        </p:spPr>
        <p:txBody>
          <a:bodyPr wrap="square" anchor="ctr">
            <a:spAutoFit/>
          </a:bodyPr>
          <a:lstStyle/>
          <a:p>
            <a:pPr algn="l">
              <a:spcAft>
                <a:spcPts val="0"/>
              </a:spcAft>
            </a:pPr>
            <a:r>
              <a:rPr sz="1550" b="1">
                <a:solidFill>
                  <a:srgbClr val="FFFFFF"/>
                </a:solidFill>
                <a:latin typeface="Microsoft YaHei"/>
              </a:rPr>
              <a:t>启动新一轮会员增长或保留活动</a:t>
            </a:r>
          </a:p>
        </p:txBody>
      </p:sp>
      <p:sp>
        <p:nvSpPr>
          <p:cNvPr id="8" name="Rounded Rectangle 7"/>
          <p:cNvSpPr/>
          <p:nvPr/>
        </p:nvSpPr>
        <p:spPr>
          <a:xfrm>
            <a:off x="822960" y="2788920"/>
            <a:ext cx="10469880" cy="2697480"/>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971800"/>
            <a:ext cx="1828800" cy="274320"/>
          </a:xfrm>
          <a:prstGeom prst="rect">
            <a:avLst/>
          </a:prstGeom>
          <a:noFill/>
        </p:spPr>
        <p:txBody>
          <a:bodyPr wrap="square" anchor="t">
            <a:spAutoFit/>
          </a:bodyPr>
          <a:lstStyle/>
          <a:p>
            <a:pPr algn="l">
              <a:spcAft>
                <a:spcPts val="0"/>
              </a:spcAft>
            </a:pPr>
            <a:r>
              <a:rPr sz="1650" b="1">
                <a:solidFill>
                  <a:srgbClr val="A63A2B"/>
                </a:solidFill>
                <a:latin typeface="Microsoft YaHei"/>
              </a:rPr>
              <a:t>核心流程</a:t>
            </a:r>
          </a:p>
        </p:txBody>
      </p:sp>
      <p:sp>
        <p:nvSpPr>
          <p:cNvPr id="10" name="Rounded Rectangle 9"/>
          <p:cNvSpPr/>
          <p:nvPr/>
        </p:nvSpPr>
        <p:spPr>
          <a:xfrm>
            <a:off x="1051560" y="3401568"/>
            <a:ext cx="1739188" cy="1536192"/>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79576" y="3511296"/>
            <a:ext cx="493776" cy="310896"/>
          </a:xfrm>
          <a:prstGeom prst="roundRect">
            <a:avLst>
              <a:gd name="adj" fmla="val 5000"/>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3566160"/>
            <a:ext cx="365760" cy="91440"/>
          </a:xfrm>
          <a:prstGeom prst="rect">
            <a:avLst/>
          </a:prstGeom>
          <a:noFill/>
        </p:spPr>
        <p:txBody>
          <a:bodyPr wrap="square" anchor="ctr">
            <a:spAutoFit/>
          </a:bodyPr>
          <a:lstStyle/>
          <a:p>
            <a:pPr algn="ctr">
              <a:spcAft>
                <a:spcPts val="0"/>
              </a:spcAft>
            </a:pPr>
            <a:r>
              <a:rPr sz="950" b="1">
                <a:solidFill>
                  <a:srgbClr val="FFFFFF"/>
                </a:solidFill>
                <a:latin typeface="Arial"/>
              </a:rPr>
              <a:t>01</a:t>
            </a:r>
          </a:p>
        </p:txBody>
      </p:sp>
      <p:sp>
        <p:nvSpPr>
          <p:cNvPr id="13" name="TextBox 12"/>
          <p:cNvSpPr txBox="1"/>
          <p:nvPr/>
        </p:nvSpPr>
        <p:spPr>
          <a:xfrm>
            <a:off x="1197863" y="3931920"/>
            <a:ext cx="1483156" cy="841248"/>
          </a:xfrm>
          <a:prstGeom prst="rect">
            <a:avLst/>
          </a:prstGeom>
          <a:noFill/>
        </p:spPr>
        <p:txBody>
          <a:bodyPr wrap="square" anchor="t">
            <a:spAutoFit/>
          </a:bodyPr>
          <a:lstStyle/>
          <a:p>
            <a:pPr algn="l">
              <a:spcAft>
                <a:spcPts val="0"/>
              </a:spcAft>
            </a:pPr>
            <a:r>
              <a:rPr sz="1019" b="0">
                <a:solidFill>
                  <a:srgbClr val="4E433D"/>
                </a:solidFill>
                <a:latin typeface="Microsoft YaHei"/>
              </a:rPr>
              <a:t>1. 汇总会员画像、历史活动表现、渠道反馈和行为标签</a:t>
            </a:r>
          </a:p>
        </p:txBody>
      </p:sp>
      <p:sp>
        <p:nvSpPr>
          <p:cNvPr id="14" name="Right Arrow 13"/>
          <p:cNvSpPr/>
          <p:nvPr/>
        </p:nvSpPr>
        <p:spPr>
          <a:xfrm>
            <a:off x="2900476" y="3886200"/>
            <a:ext cx="219456" cy="201168"/>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119932" y="3401568"/>
            <a:ext cx="1739188" cy="1536192"/>
          </a:xfrm>
          <a:prstGeom prst="roundRect">
            <a:avLst>
              <a:gd name="adj" fmla="val 10000"/>
            </a:avLst>
          </a:prstGeom>
          <a:solidFill>
            <a:srgbClr val="F6F1EC"/>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247948" y="3511296"/>
            <a:ext cx="493776" cy="310896"/>
          </a:xfrm>
          <a:prstGeom prst="roundRect">
            <a:avLst>
              <a:gd name="adj" fmla="val 5000"/>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11956" y="3566160"/>
            <a:ext cx="365760" cy="91440"/>
          </a:xfrm>
          <a:prstGeom prst="rect">
            <a:avLst/>
          </a:prstGeom>
          <a:noFill/>
        </p:spPr>
        <p:txBody>
          <a:bodyPr wrap="square" anchor="ctr">
            <a:spAutoFit/>
          </a:bodyPr>
          <a:lstStyle/>
          <a:p>
            <a:pPr algn="ctr">
              <a:spcAft>
                <a:spcPts val="0"/>
              </a:spcAft>
            </a:pPr>
            <a:r>
              <a:rPr sz="950" b="1">
                <a:solidFill>
                  <a:srgbClr val="FFFFFF"/>
                </a:solidFill>
                <a:latin typeface="Arial"/>
              </a:rPr>
              <a:t>02</a:t>
            </a:r>
          </a:p>
        </p:txBody>
      </p:sp>
      <p:sp>
        <p:nvSpPr>
          <p:cNvPr id="18" name="TextBox 17"/>
          <p:cNvSpPr txBox="1"/>
          <p:nvPr/>
        </p:nvSpPr>
        <p:spPr>
          <a:xfrm>
            <a:off x="3266236" y="3931920"/>
            <a:ext cx="1483156" cy="841248"/>
          </a:xfrm>
          <a:prstGeom prst="rect">
            <a:avLst/>
          </a:prstGeom>
          <a:noFill/>
        </p:spPr>
        <p:txBody>
          <a:bodyPr wrap="square" anchor="t">
            <a:spAutoFit/>
          </a:bodyPr>
          <a:lstStyle/>
          <a:p>
            <a:pPr algn="l">
              <a:spcAft>
                <a:spcPts val="0"/>
              </a:spcAft>
            </a:pPr>
            <a:r>
              <a:rPr sz="1019" b="0">
                <a:solidFill>
                  <a:srgbClr val="4E433D"/>
                </a:solidFill>
                <a:latin typeface="Microsoft YaHei"/>
              </a:rPr>
              <a:t>2. AI 识别高价值会员、潜力客群和流失风险会员</a:t>
            </a:r>
          </a:p>
        </p:txBody>
      </p:sp>
      <p:sp>
        <p:nvSpPr>
          <p:cNvPr id="19" name="Right Arrow 18"/>
          <p:cNvSpPr/>
          <p:nvPr/>
        </p:nvSpPr>
        <p:spPr>
          <a:xfrm>
            <a:off x="4968849" y="3886200"/>
            <a:ext cx="219456" cy="201168"/>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88305" y="3401568"/>
            <a:ext cx="1739188" cy="1536192"/>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316321" y="3511296"/>
            <a:ext cx="493776" cy="310896"/>
          </a:xfrm>
          <a:prstGeom prst="roundRect">
            <a:avLst>
              <a:gd name="adj" fmla="val 5000"/>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80329" y="3566160"/>
            <a:ext cx="365760" cy="91440"/>
          </a:xfrm>
          <a:prstGeom prst="rect">
            <a:avLst/>
          </a:prstGeom>
          <a:noFill/>
        </p:spPr>
        <p:txBody>
          <a:bodyPr wrap="square" anchor="ctr">
            <a:spAutoFit/>
          </a:bodyPr>
          <a:lstStyle/>
          <a:p>
            <a:pPr algn="ctr">
              <a:spcAft>
                <a:spcPts val="0"/>
              </a:spcAft>
            </a:pPr>
            <a:r>
              <a:rPr sz="950" b="1">
                <a:solidFill>
                  <a:srgbClr val="FFFFFF"/>
                </a:solidFill>
                <a:latin typeface="Arial"/>
              </a:rPr>
              <a:t>03</a:t>
            </a:r>
          </a:p>
        </p:txBody>
      </p:sp>
      <p:sp>
        <p:nvSpPr>
          <p:cNvPr id="23" name="TextBox 22"/>
          <p:cNvSpPr txBox="1"/>
          <p:nvPr/>
        </p:nvSpPr>
        <p:spPr>
          <a:xfrm>
            <a:off x="5334609" y="3931920"/>
            <a:ext cx="1483156" cy="841248"/>
          </a:xfrm>
          <a:prstGeom prst="rect">
            <a:avLst/>
          </a:prstGeom>
          <a:noFill/>
        </p:spPr>
        <p:txBody>
          <a:bodyPr wrap="square" anchor="t">
            <a:spAutoFit/>
          </a:bodyPr>
          <a:lstStyle/>
          <a:p>
            <a:pPr algn="l">
              <a:spcAft>
                <a:spcPts val="0"/>
              </a:spcAft>
            </a:pPr>
            <a:r>
              <a:rPr sz="1019" b="0">
                <a:solidFill>
                  <a:srgbClr val="4E433D"/>
                </a:solidFill>
                <a:latin typeface="Microsoft YaHei"/>
              </a:rPr>
              <a:t>3. AI 生成分层运营建议、营销文案和活动页面内容</a:t>
            </a:r>
          </a:p>
        </p:txBody>
      </p:sp>
      <p:sp>
        <p:nvSpPr>
          <p:cNvPr id="24" name="Right Arrow 23"/>
          <p:cNvSpPr/>
          <p:nvPr/>
        </p:nvSpPr>
        <p:spPr>
          <a:xfrm>
            <a:off x="7037222" y="3886200"/>
            <a:ext cx="219456" cy="201168"/>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56678" y="3401568"/>
            <a:ext cx="1739188" cy="1536192"/>
          </a:xfrm>
          <a:prstGeom prst="roundRect">
            <a:avLst>
              <a:gd name="adj" fmla="val 10000"/>
            </a:avLst>
          </a:prstGeom>
          <a:solidFill>
            <a:srgbClr val="F6F1EC"/>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84694" y="3511296"/>
            <a:ext cx="493776" cy="310896"/>
          </a:xfrm>
          <a:prstGeom prst="roundRect">
            <a:avLst>
              <a:gd name="adj" fmla="val 5000"/>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48702" y="3566160"/>
            <a:ext cx="365760" cy="91440"/>
          </a:xfrm>
          <a:prstGeom prst="rect">
            <a:avLst/>
          </a:prstGeom>
          <a:noFill/>
        </p:spPr>
        <p:txBody>
          <a:bodyPr wrap="square" anchor="ctr">
            <a:spAutoFit/>
          </a:bodyPr>
          <a:lstStyle/>
          <a:p>
            <a:pPr algn="ctr">
              <a:spcAft>
                <a:spcPts val="0"/>
              </a:spcAft>
            </a:pPr>
            <a:r>
              <a:rPr sz="950" b="1">
                <a:solidFill>
                  <a:srgbClr val="FFFFFF"/>
                </a:solidFill>
                <a:latin typeface="Arial"/>
              </a:rPr>
              <a:t>04</a:t>
            </a:r>
          </a:p>
        </p:txBody>
      </p:sp>
      <p:sp>
        <p:nvSpPr>
          <p:cNvPr id="28" name="TextBox 27"/>
          <p:cNvSpPr txBox="1"/>
          <p:nvPr/>
        </p:nvSpPr>
        <p:spPr>
          <a:xfrm>
            <a:off x="7402982" y="3931920"/>
            <a:ext cx="1483156" cy="841248"/>
          </a:xfrm>
          <a:prstGeom prst="rect">
            <a:avLst/>
          </a:prstGeom>
          <a:noFill/>
        </p:spPr>
        <p:txBody>
          <a:bodyPr wrap="square" anchor="t">
            <a:spAutoFit/>
          </a:bodyPr>
          <a:lstStyle/>
          <a:p>
            <a:pPr algn="l">
              <a:spcAft>
                <a:spcPts val="0"/>
              </a:spcAft>
            </a:pPr>
            <a:r>
              <a:rPr sz="1019" b="0">
                <a:solidFill>
                  <a:srgbClr val="4E433D"/>
                </a:solidFill>
                <a:latin typeface="Microsoft YaHei"/>
              </a:rPr>
              <a:t>4. 运营在工作台内确认策略并下发对应渠道触达动作</a:t>
            </a:r>
          </a:p>
        </p:txBody>
      </p:sp>
      <p:sp>
        <p:nvSpPr>
          <p:cNvPr id="29" name="Right Arrow 28"/>
          <p:cNvSpPr/>
          <p:nvPr/>
        </p:nvSpPr>
        <p:spPr>
          <a:xfrm>
            <a:off x="9105595" y="3886200"/>
            <a:ext cx="219456" cy="201168"/>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325051" y="3401568"/>
            <a:ext cx="1739188" cy="1536192"/>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453067" y="3511296"/>
            <a:ext cx="493776" cy="310896"/>
          </a:xfrm>
          <a:prstGeom prst="roundRect">
            <a:avLst>
              <a:gd name="adj" fmla="val 5000"/>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17075" y="3566160"/>
            <a:ext cx="365760" cy="91440"/>
          </a:xfrm>
          <a:prstGeom prst="rect">
            <a:avLst/>
          </a:prstGeom>
          <a:noFill/>
        </p:spPr>
        <p:txBody>
          <a:bodyPr wrap="square" anchor="ctr">
            <a:spAutoFit/>
          </a:bodyPr>
          <a:lstStyle/>
          <a:p>
            <a:pPr algn="ctr">
              <a:spcAft>
                <a:spcPts val="0"/>
              </a:spcAft>
            </a:pPr>
            <a:r>
              <a:rPr sz="950" b="1">
                <a:solidFill>
                  <a:srgbClr val="FFFFFF"/>
                </a:solidFill>
                <a:latin typeface="Arial"/>
              </a:rPr>
              <a:t>05</a:t>
            </a:r>
          </a:p>
        </p:txBody>
      </p:sp>
      <p:sp>
        <p:nvSpPr>
          <p:cNvPr id="33" name="TextBox 32"/>
          <p:cNvSpPr txBox="1"/>
          <p:nvPr/>
        </p:nvSpPr>
        <p:spPr>
          <a:xfrm>
            <a:off x="9471355" y="3931920"/>
            <a:ext cx="1483156" cy="841248"/>
          </a:xfrm>
          <a:prstGeom prst="rect">
            <a:avLst/>
          </a:prstGeom>
          <a:noFill/>
        </p:spPr>
        <p:txBody>
          <a:bodyPr wrap="square" anchor="t">
            <a:spAutoFit/>
          </a:bodyPr>
          <a:lstStyle/>
          <a:p>
            <a:pPr algn="l">
              <a:spcAft>
                <a:spcPts val="0"/>
              </a:spcAft>
            </a:pPr>
            <a:r>
              <a:rPr sz="1019" b="0">
                <a:solidFill>
                  <a:srgbClr val="4E433D"/>
                </a:solidFill>
                <a:latin typeface="Microsoft YaHei"/>
              </a:rPr>
              <a:t>5. 系统跟踪活动反馈并对重点会员自动推荐保留动作</a:t>
            </a:r>
          </a:p>
        </p:txBody>
      </p:sp>
      <p:sp>
        <p:nvSpPr>
          <p:cNvPr id="34" name="Rounded Rectangle 33"/>
          <p:cNvSpPr/>
          <p:nvPr/>
        </p:nvSpPr>
        <p:spPr>
          <a:xfrm>
            <a:off x="822960" y="5596128"/>
            <a:ext cx="10469880" cy="658368"/>
          </a:xfrm>
          <a:prstGeom prst="roundRect">
            <a:avLst>
              <a:gd name="adj" fmla="val 10000"/>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5742432"/>
            <a:ext cx="1463040" cy="274320"/>
          </a:xfrm>
          <a:prstGeom prst="rect">
            <a:avLst/>
          </a:prstGeom>
          <a:noFill/>
        </p:spPr>
        <p:txBody>
          <a:bodyPr wrap="square" anchor="t">
            <a:spAutoFit/>
          </a:bodyPr>
          <a:lstStyle/>
          <a:p>
            <a:pPr algn="l">
              <a:spcAft>
                <a:spcPts val="0"/>
              </a:spcAft>
            </a:pPr>
            <a:r>
              <a:rPr sz="1650" b="1">
                <a:solidFill>
                  <a:srgbClr val="FFFFFF"/>
                </a:solidFill>
                <a:latin typeface="Microsoft YaHei"/>
              </a:rPr>
              <a:t>闭环结果</a:t>
            </a:r>
          </a:p>
        </p:txBody>
      </p:sp>
      <p:sp>
        <p:nvSpPr>
          <p:cNvPr id="36" name="TextBox 35"/>
          <p:cNvSpPr txBox="1"/>
          <p:nvPr/>
        </p:nvSpPr>
        <p:spPr>
          <a:xfrm>
            <a:off x="2240280" y="5715000"/>
            <a:ext cx="8183879" cy="201168"/>
          </a:xfrm>
          <a:prstGeom prst="rect">
            <a:avLst/>
          </a:prstGeom>
          <a:noFill/>
        </p:spPr>
        <p:txBody>
          <a:bodyPr wrap="square" anchor="ctr">
            <a:spAutoFit/>
          </a:bodyPr>
          <a:lstStyle/>
          <a:p>
            <a:pPr algn="l">
              <a:spcAft>
                <a:spcPts val="0"/>
              </a:spcAft>
            </a:pPr>
            <a:r>
              <a:rPr sz="1360" b="1">
                <a:solidFill>
                  <a:srgbClr val="FFFFFF"/>
                </a:solidFill>
                <a:latin typeface="Microsoft YaHei"/>
              </a:rPr>
              <a:t>形成会员洞察、内容生成、活动执行、保留干预和复盘分析的一体化增长闭环</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1EC"/>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A63A2B"/>
                </a:solidFill>
                <a:latin typeface="Microsoft YaHei"/>
              </a:rPr>
              <a:t>解决方案架构</a:t>
            </a:r>
          </a:p>
        </p:txBody>
      </p:sp>
      <p:sp>
        <p:nvSpPr>
          <p:cNvPr id="4" name="Rectangle 3"/>
          <p:cNvSpPr/>
          <p:nvPr/>
        </p:nvSpPr>
        <p:spPr>
          <a:xfrm>
            <a:off x="822960" y="1325880"/>
            <a:ext cx="10515600" cy="27432"/>
          </a:xfrm>
          <a:prstGeom prst="rect">
            <a:avLst/>
          </a:prstGeom>
          <a:solidFill>
            <a:srgbClr val="F3E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00784"/>
            <a:ext cx="10469880" cy="749808"/>
          </a:xfrm>
          <a:prstGeom prst="roundRect">
            <a:avLst>
              <a:gd name="adj" fmla="val 10000"/>
            </a:avLst>
          </a:prstGeom>
          <a:solidFill>
            <a:srgbClr val="A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83664"/>
            <a:ext cx="9966960" cy="274320"/>
          </a:xfrm>
          <a:prstGeom prst="rect">
            <a:avLst/>
          </a:prstGeom>
          <a:noFill/>
        </p:spPr>
        <p:txBody>
          <a:bodyPr wrap="square" anchor="ctr">
            <a:spAutoFit/>
          </a:bodyPr>
          <a:lstStyle/>
          <a:p>
            <a:pPr algn="l">
              <a:spcAft>
                <a:spcPts val="0"/>
              </a:spcAft>
            </a:pPr>
            <a:r>
              <a:rPr sz="1480" b="1">
                <a:solidFill>
                  <a:srgbClr val="FFFFFF"/>
                </a:solidFill>
                <a:latin typeface="Microsoft YaHei"/>
              </a:rPr>
              <a:t>闭环目标：形成会员洞察、内容生成、活动执行、保留干预和复盘分析的一体化增长闭环</a:t>
            </a:r>
          </a:p>
        </p:txBody>
      </p:sp>
      <p:sp>
        <p:nvSpPr>
          <p:cNvPr id="7" name="Rounded Rectangle 6"/>
          <p:cNvSpPr/>
          <p:nvPr/>
        </p:nvSpPr>
        <p:spPr>
          <a:xfrm>
            <a:off x="822960" y="2697480"/>
            <a:ext cx="10469880" cy="3822191"/>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889504"/>
            <a:ext cx="6217920" cy="274320"/>
          </a:xfrm>
          <a:prstGeom prst="rect">
            <a:avLst/>
          </a:prstGeom>
          <a:noFill/>
        </p:spPr>
        <p:txBody>
          <a:bodyPr wrap="square" anchor="t">
            <a:spAutoFit/>
          </a:bodyPr>
          <a:lstStyle/>
          <a:p>
            <a:pPr algn="l">
              <a:spcAft>
                <a:spcPts val="0"/>
              </a:spcAft>
            </a:pPr>
            <a:r>
              <a:rPr sz="1650" b="1">
                <a:solidFill>
                  <a:srgbClr val="A63A2B"/>
                </a:solidFill>
                <a:latin typeface="Microsoft YaHei"/>
              </a:rPr>
              <a:t>会员增长与保留运营工作台</a:t>
            </a:r>
          </a:p>
        </p:txBody>
      </p:sp>
      <p:sp>
        <p:nvSpPr>
          <p:cNvPr id="9" name="Rounded Rectangle 8"/>
          <p:cNvSpPr/>
          <p:nvPr/>
        </p:nvSpPr>
        <p:spPr>
          <a:xfrm>
            <a:off x="1078992" y="3310128"/>
            <a:ext cx="2249424" cy="2231136"/>
          </a:xfrm>
          <a:prstGeom prst="roundRect">
            <a:avLst>
              <a:gd name="adj" fmla="val 10000"/>
            </a:avLst>
          </a:prstGeom>
          <a:solidFill>
            <a:srgbClr val="F6F1EC"/>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78992" y="3310128"/>
            <a:ext cx="2249424" cy="438912"/>
          </a:xfrm>
          <a:prstGeom prst="roundRect">
            <a:avLst>
              <a:gd name="adj" fmla="val 10000"/>
            </a:avLst>
          </a:prstGeom>
          <a:solidFill>
            <a:srgbClr val="A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19" y="3419856"/>
            <a:ext cx="2029967" cy="128016"/>
          </a:xfrm>
          <a:prstGeom prst="rect">
            <a:avLst/>
          </a:prstGeom>
          <a:noFill/>
        </p:spPr>
        <p:txBody>
          <a:bodyPr wrap="square" anchor="ctr">
            <a:spAutoFit/>
          </a:bodyPr>
          <a:lstStyle/>
          <a:p>
            <a:pPr algn="l">
              <a:spcAft>
                <a:spcPts val="0"/>
              </a:spcAft>
            </a:pPr>
            <a:r>
              <a:rPr sz="919" b="1">
                <a:solidFill>
                  <a:srgbClr val="FFFFFF"/>
                </a:solidFill>
                <a:latin typeface="Arial"/>
              </a:rPr>
              <a:t>01</a:t>
            </a:r>
          </a:p>
        </p:txBody>
      </p:sp>
      <p:sp>
        <p:nvSpPr>
          <p:cNvPr id="12" name="TextBox 11"/>
          <p:cNvSpPr txBox="1"/>
          <p:nvPr/>
        </p:nvSpPr>
        <p:spPr>
          <a:xfrm>
            <a:off x="1225295" y="3913632"/>
            <a:ext cx="1956816" cy="256032"/>
          </a:xfrm>
          <a:prstGeom prst="rect">
            <a:avLst/>
          </a:prstGeom>
          <a:noFill/>
        </p:spPr>
        <p:txBody>
          <a:bodyPr wrap="square" anchor="ctr">
            <a:spAutoFit/>
          </a:bodyPr>
          <a:lstStyle/>
          <a:p>
            <a:pPr algn="l">
              <a:spcAft>
                <a:spcPts val="0"/>
              </a:spcAft>
            </a:pPr>
            <a:r>
              <a:rPr sz="1620" b="1">
                <a:solidFill>
                  <a:srgbClr val="4E433D"/>
                </a:solidFill>
                <a:latin typeface="Arial"/>
              </a:rPr>
              <a:t>场景输入</a:t>
            </a:r>
          </a:p>
        </p:txBody>
      </p:sp>
      <p:sp>
        <p:nvSpPr>
          <p:cNvPr id="13" name="TextBox 12"/>
          <p:cNvSpPr txBox="1"/>
          <p:nvPr/>
        </p:nvSpPr>
        <p:spPr>
          <a:xfrm>
            <a:off x="1225295" y="4315968"/>
            <a:ext cx="1956816" cy="877824"/>
          </a:xfrm>
          <a:prstGeom prst="rect">
            <a:avLst/>
          </a:prstGeom>
          <a:noFill/>
        </p:spPr>
        <p:txBody>
          <a:bodyPr wrap="square" anchor="t">
            <a:spAutoFit/>
          </a:bodyPr>
          <a:lstStyle/>
          <a:p>
            <a:pPr algn="l">
              <a:spcAft>
                <a:spcPts val="0"/>
              </a:spcAft>
            </a:pPr>
            <a:r>
              <a:rPr sz="1120" b="0">
                <a:solidFill>
                  <a:srgbClr val="4E433D"/>
                </a:solidFill>
                <a:latin typeface="Microsoft YaHei"/>
              </a:rPr>
              <a:t>内容生成中偏营销、网页、内容生产的卡片 / 表单理解</a:t>
            </a:r>
          </a:p>
        </p:txBody>
      </p:sp>
      <p:sp>
        <p:nvSpPr>
          <p:cNvPr id="14" name="Right Arrow 13"/>
          <p:cNvSpPr/>
          <p:nvPr/>
        </p:nvSpPr>
        <p:spPr>
          <a:xfrm>
            <a:off x="3383279" y="4297680"/>
            <a:ext cx="146304" cy="182880"/>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84448" y="3310128"/>
            <a:ext cx="2249424" cy="2231136"/>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584448" y="3310128"/>
            <a:ext cx="2249424" cy="438912"/>
          </a:xfrm>
          <a:prstGeom prst="roundRect">
            <a:avLst>
              <a:gd name="adj" fmla="val 10000"/>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4176" y="3419856"/>
            <a:ext cx="2029967" cy="128016"/>
          </a:xfrm>
          <a:prstGeom prst="rect">
            <a:avLst/>
          </a:prstGeom>
          <a:noFill/>
        </p:spPr>
        <p:txBody>
          <a:bodyPr wrap="square" anchor="ctr">
            <a:spAutoFit/>
          </a:bodyPr>
          <a:lstStyle/>
          <a:p>
            <a:pPr algn="l">
              <a:spcAft>
                <a:spcPts val="0"/>
              </a:spcAft>
            </a:pPr>
            <a:r>
              <a:rPr sz="919" b="1">
                <a:solidFill>
                  <a:srgbClr val="FFFFFF"/>
                </a:solidFill>
                <a:latin typeface="Arial"/>
              </a:rPr>
              <a:t>02</a:t>
            </a:r>
          </a:p>
        </p:txBody>
      </p:sp>
      <p:sp>
        <p:nvSpPr>
          <p:cNvPr id="18" name="TextBox 17"/>
          <p:cNvSpPr txBox="1"/>
          <p:nvPr/>
        </p:nvSpPr>
        <p:spPr>
          <a:xfrm>
            <a:off x="3730752" y="3913632"/>
            <a:ext cx="1956816" cy="256032"/>
          </a:xfrm>
          <a:prstGeom prst="rect">
            <a:avLst/>
          </a:prstGeom>
          <a:noFill/>
        </p:spPr>
        <p:txBody>
          <a:bodyPr wrap="square" anchor="ctr">
            <a:spAutoFit/>
          </a:bodyPr>
          <a:lstStyle/>
          <a:p>
            <a:pPr algn="l">
              <a:spcAft>
                <a:spcPts val="0"/>
              </a:spcAft>
            </a:pPr>
            <a:r>
              <a:rPr sz="1620" b="1">
                <a:solidFill>
                  <a:srgbClr val="4E433D"/>
                </a:solidFill>
                <a:latin typeface="Arial"/>
              </a:rPr>
              <a:t>智能分析</a:t>
            </a:r>
          </a:p>
        </p:txBody>
      </p:sp>
      <p:sp>
        <p:nvSpPr>
          <p:cNvPr id="19" name="TextBox 18"/>
          <p:cNvSpPr txBox="1"/>
          <p:nvPr/>
        </p:nvSpPr>
        <p:spPr>
          <a:xfrm>
            <a:off x="3730752" y="4315968"/>
            <a:ext cx="1956816" cy="877824"/>
          </a:xfrm>
          <a:prstGeom prst="rect">
            <a:avLst/>
          </a:prstGeom>
          <a:noFill/>
        </p:spPr>
        <p:txBody>
          <a:bodyPr wrap="square" anchor="t">
            <a:spAutoFit/>
          </a:bodyPr>
          <a:lstStyle/>
          <a:p>
            <a:pPr algn="l">
              <a:spcAft>
                <a:spcPts val="0"/>
              </a:spcAft>
            </a:pPr>
            <a:r>
              <a:rPr sz="1120" b="0">
                <a:solidFill>
                  <a:srgbClr val="4E433D"/>
                </a:solidFill>
                <a:latin typeface="Microsoft YaHei"/>
              </a:rPr>
              <a:t>客户洞察 / 数据分析 / 风险预测</a:t>
            </a:r>
          </a:p>
        </p:txBody>
      </p:sp>
      <p:sp>
        <p:nvSpPr>
          <p:cNvPr id="20" name="Right Arrow 19"/>
          <p:cNvSpPr/>
          <p:nvPr/>
        </p:nvSpPr>
        <p:spPr>
          <a:xfrm>
            <a:off x="5888736" y="4297680"/>
            <a:ext cx="146304" cy="182880"/>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089904" y="3310128"/>
            <a:ext cx="2249424" cy="2231136"/>
          </a:xfrm>
          <a:prstGeom prst="roundRect">
            <a:avLst>
              <a:gd name="adj" fmla="val 10000"/>
            </a:avLst>
          </a:prstGeom>
          <a:solidFill>
            <a:srgbClr val="F6F1EC"/>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089904" y="3310128"/>
            <a:ext cx="2249424" cy="438912"/>
          </a:xfrm>
          <a:prstGeom prst="roundRect">
            <a:avLst>
              <a:gd name="adj" fmla="val 10000"/>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99632" y="3419856"/>
            <a:ext cx="2029967" cy="128016"/>
          </a:xfrm>
          <a:prstGeom prst="rect">
            <a:avLst/>
          </a:prstGeom>
          <a:noFill/>
        </p:spPr>
        <p:txBody>
          <a:bodyPr wrap="square" anchor="ctr">
            <a:spAutoFit/>
          </a:bodyPr>
          <a:lstStyle/>
          <a:p>
            <a:pPr algn="l">
              <a:spcAft>
                <a:spcPts val="0"/>
              </a:spcAft>
            </a:pPr>
            <a:r>
              <a:rPr sz="919" b="1">
                <a:solidFill>
                  <a:srgbClr val="FFFFFF"/>
                </a:solidFill>
                <a:latin typeface="Arial"/>
              </a:rPr>
              <a:t>03</a:t>
            </a:r>
          </a:p>
        </p:txBody>
      </p:sp>
      <p:sp>
        <p:nvSpPr>
          <p:cNvPr id="24" name="TextBox 23"/>
          <p:cNvSpPr txBox="1"/>
          <p:nvPr/>
        </p:nvSpPr>
        <p:spPr>
          <a:xfrm>
            <a:off x="6236208" y="3913632"/>
            <a:ext cx="1956816" cy="256032"/>
          </a:xfrm>
          <a:prstGeom prst="rect">
            <a:avLst/>
          </a:prstGeom>
          <a:noFill/>
        </p:spPr>
        <p:txBody>
          <a:bodyPr wrap="square" anchor="ctr">
            <a:spAutoFit/>
          </a:bodyPr>
          <a:lstStyle/>
          <a:p>
            <a:pPr algn="l">
              <a:spcAft>
                <a:spcPts val="0"/>
              </a:spcAft>
            </a:pPr>
            <a:r>
              <a:rPr sz="1620" b="1">
                <a:solidFill>
                  <a:srgbClr val="4E433D"/>
                </a:solidFill>
                <a:latin typeface="Arial"/>
              </a:rPr>
              <a:t>业务工作台</a:t>
            </a:r>
          </a:p>
        </p:txBody>
      </p:sp>
      <p:sp>
        <p:nvSpPr>
          <p:cNvPr id="25" name="TextBox 24"/>
          <p:cNvSpPr txBox="1"/>
          <p:nvPr/>
        </p:nvSpPr>
        <p:spPr>
          <a:xfrm>
            <a:off x="6236208" y="4315968"/>
            <a:ext cx="1956816" cy="877824"/>
          </a:xfrm>
          <a:prstGeom prst="rect">
            <a:avLst/>
          </a:prstGeom>
          <a:noFill/>
        </p:spPr>
        <p:txBody>
          <a:bodyPr wrap="square" anchor="t">
            <a:spAutoFit/>
          </a:bodyPr>
          <a:lstStyle/>
          <a:p>
            <a:pPr algn="l">
              <a:spcAft>
                <a:spcPts val="0"/>
              </a:spcAft>
            </a:pPr>
            <a:r>
              <a:rPr sz="1120" b="0">
                <a:solidFill>
                  <a:srgbClr val="4E433D"/>
                </a:solidFill>
                <a:latin typeface="Microsoft YaHei"/>
              </a:rPr>
              <a:t>会员增长与保留运营工作台，覆盖运营首页、会员洞察页</a:t>
            </a:r>
          </a:p>
        </p:txBody>
      </p:sp>
      <p:sp>
        <p:nvSpPr>
          <p:cNvPr id="26" name="Right Arrow 25"/>
          <p:cNvSpPr/>
          <p:nvPr/>
        </p:nvSpPr>
        <p:spPr>
          <a:xfrm>
            <a:off x="8394192" y="4297680"/>
            <a:ext cx="146304" cy="182880"/>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595360" y="3310128"/>
            <a:ext cx="2249424" cy="2231136"/>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595360" y="3310128"/>
            <a:ext cx="2249424" cy="438912"/>
          </a:xfrm>
          <a:prstGeom prst="roundRect">
            <a:avLst>
              <a:gd name="adj" fmla="val 10000"/>
            </a:avLst>
          </a:prstGeom>
          <a:solidFill>
            <a:srgbClr val="A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05088" y="3419856"/>
            <a:ext cx="2029967" cy="128016"/>
          </a:xfrm>
          <a:prstGeom prst="rect">
            <a:avLst/>
          </a:prstGeom>
          <a:noFill/>
        </p:spPr>
        <p:txBody>
          <a:bodyPr wrap="square" anchor="ctr">
            <a:spAutoFit/>
          </a:bodyPr>
          <a:lstStyle/>
          <a:p>
            <a:pPr algn="l">
              <a:spcAft>
                <a:spcPts val="0"/>
              </a:spcAft>
            </a:pPr>
            <a:r>
              <a:rPr sz="919" b="1">
                <a:solidFill>
                  <a:srgbClr val="FFFFFF"/>
                </a:solidFill>
                <a:latin typeface="Arial"/>
              </a:rPr>
              <a:t>04</a:t>
            </a:r>
          </a:p>
        </p:txBody>
      </p:sp>
      <p:sp>
        <p:nvSpPr>
          <p:cNvPr id="30" name="TextBox 29"/>
          <p:cNvSpPr txBox="1"/>
          <p:nvPr/>
        </p:nvSpPr>
        <p:spPr>
          <a:xfrm>
            <a:off x="8741664" y="3913632"/>
            <a:ext cx="1956816" cy="256032"/>
          </a:xfrm>
          <a:prstGeom prst="rect">
            <a:avLst/>
          </a:prstGeom>
          <a:noFill/>
        </p:spPr>
        <p:txBody>
          <a:bodyPr wrap="square" anchor="ctr">
            <a:spAutoFit/>
          </a:bodyPr>
          <a:lstStyle/>
          <a:p>
            <a:pPr algn="l">
              <a:spcAft>
                <a:spcPts val="0"/>
              </a:spcAft>
            </a:pPr>
            <a:r>
              <a:rPr sz="1620" b="1">
                <a:solidFill>
                  <a:srgbClr val="4E433D"/>
                </a:solidFill>
                <a:latin typeface="Arial"/>
              </a:rPr>
              <a:t>闭环反馈</a:t>
            </a:r>
          </a:p>
        </p:txBody>
      </p:sp>
      <p:sp>
        <p:nvSpPr>
          <p:cNvPr id="31" name="TextBox 30"/>
          <p:cNvSpPr txBox="1"/>
          <p:nvPr/>
        </p:nvSpPr>
        <p:spPr>
          <a:xfrm>
            <a:off x="8741664" y="4315968"/>
            <a:ext cx="1956816" cy="877824"/>
          </a:xfrm>
          <a:prstGeom prst="rect">
            <a:avLst/>
          </a:prstGeom>
          <a:noFill/>
        </p:spPr>
        <p:txBody>
          <a:bodyPr wrap="square" anchor="t">
            <a:spAutoFit/>
          </a:bodyPr>
          <a:lstStyle/>
          <a:p>
            <a:pPr algn="l">
              <a:spcAft>
                <a:spcPts val="0"/>
              </a:spcAft>
            </a:pPr>
            <a:r>
              <a:rPr sz="1120" b="0">
                <a:solidFill>
                  <a:srgbClr val="4E433D"/>
                </a:solidFill>
                <a:latin typeface="Microsoft YaHei"/>
              </a:rPr>
              <a:t>流程优化 / 自动履行</a:t>
            </a:r>
          </a:p>
        </p:txBody>
      </p:sp>
      <p:sp>
        <p:nvSpPr>
          <p:cNvPr id="32" name="Rounded Rectangle 31"/>
          <p:cNvSpPr/>
          <p:nvPr/>
        </p:nvSpPr>
        <p:spPr>
          <a:xfrm>
            <a:off x="822960" y="6656832"/>
            <a:ext cx="10469880" cy="548640"/>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78992" y="6793992"/>
            <a:ext cx="1828800" cy="274320"/>
          </a:xfrm>
          <a:prstGeom prst="rect">
            <a:avLst/>
          </a:prstGeom>
          <a:noFill/>
        </p:spPr>
        <p:txBody>
          <a:bodyPr wrap="square" anchor="t">
            <a:spAutoFit/>
          </a:bodyPr>
          <a:lstStyle/>
          <a:p>
            <a:pPr algn="l">
              <a:spcAft>
                <a:spcPts val="0"/>
              </a:spcAft>
            </a:pPr>
            <a:r>
              <a:rPr sz="1650" b="1">
                <a:solidFill>
                  <a:srgbClr val="A63A2B"/>
                </a:solidFill>
                <a:latin typeface="Microsoft YaHei"/>
              </a:rPr>
              <a:t>落地能力与产品支撑</a:t>
            </a:r>
          </a:p>
        </p:txBody>
      </p:sp>
      <p:sp>
        <p:nvSpPr>
          <p:cNvPr id="34" name="TextBox 33"/>
          <p:cNvSpPr txBox="1"/>
          <p:nvPr/>
        </p:nvSpPr>
        <p:spPr>
          <a:xfrm>
            <a:off x="2788920" y="6711696"/>
            <a:ext cx="4773168" cy="146304"/>
          </a:xfrm>
          <a:prstGeom prst="rect">
            <a:avLst/>
          </a:prstGeom>
          <a:noFill/>
        </p:spPr>
        <p:txBody>
          <a:bodyPr wrap="square" anchor="ctr">
            <a:spAutoFit/>
          </a:bodyPr>
          <a:lstStyle/>
          <a:p>
            <a:pPr algn="l">
              <a:spcAft>
                <a:spcPts val="0"/>
              </a:spcAft>
            </a:pPr>
            <a:r>
              <a:rPr sz="1040" b="0">
                <a:solidFill>
                  <a:srgbClr val="4E433D"/>
                </a:solidFill>
                <a:latin typeface="Microsoft YaHei"/>
              </a:rPr>
              <a:t>会员洞察与客群分层：会员分层、价值识别与风险评分能力</a:t>
            </a:r>
          </a:p>
        </p:txBody>
      </p:sp>
      <p:sp>
        <p:nvSpPr>
          <p:cNvPr id="35" name="TextBox 34"/>
          <p:cNvSpPr txBox="1"/>
          <p:nvPr/>
        </p:nvSpPr>
        <p:spPr>
          <a:xfrm>
            <a:off x="2788920" y="6885432"/>
            <a:ext cx="4773168" cy="146304"/>
          </a:xfrm>
          <a:prstGeom prst="rect">
            <a:avLst/>
          </a:prstGeom>
          <a:noFill/>
        </p:spPr>
        <p:txBody>
          <a:bodyPr wrap="square" anchor="ctr">
            <a:spAutoFit/>
          </a:bodyPr>
          <a:lstStyle/>
          <a:p>
            <a:pPr algn="l">
              <a:spcAft>
                <a:spcPts val="0"/>
              </a:spcAft>
            </a:pPr>
            <a:r>
              <a:rPr sz="1040" b="0">
                <a:solidFill>
                  <a:srgbClr val="4E433D"/>
                </a:solidFill>
                <a:latin typeface="Microsoft YaHei"/>
              </a:rPr>
              <a:t>营销内容与页面生成：营销文案、页面草案与多版本内容生成</a:t>
            </a:r>
          </a:p>
        </p:txBody>
      </p:sp>
      <p:sp>
        <p:nvSpPr>
          <p:cNvPr id="36" name="Rounded Rectangle 35"/>
          <p:cNvSpPr/>
          <p:nvPr/>
        </p:nvSpPr>
        <p:spPr>
          <a:xfrm>
            <a:off x="7882127" y="6729984"/>
            <a:ext cx="1170432" cy="310896"/>
          </a:xfrm>
          <a:prstGeom prst="roundRect">
            <a:avLst>
              <a:gd name="adj" fmla="val 8000"/>
            </a:avLst>
          </a:prstGeom>
          <a:solidFill>
            <a:srgbClr val="F6F1EC"/>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55279" y="6812280"/>
            <a:ext cx="1024128" cy="91440"/>
          </a:xfrm>
          <a:prstGeom prst="rect">
            <a:avLst/>
          </a:prstGeom>
          <a:noFill/>
        </p:spPr>
        <p:txBody>
          <a:bodyPr wrap="square" anchor="ctr">
            <a:spAutoFit/>
          </a:bodyPr>
          <a:lstStyle/>
          <a:p>
            <a:pPr algn="ctr">
              <a:spcAft>
                <a:spcPts val="0"/>
              </a:spcAft>
            </a:pPr>
            <a:r>
              <a:rPr sz="860" b="0">
                <a:solidFill>
                  <a:srgbClr val="4E433D"/>
                </a:solidFill>
                <a:latin typeface="Microsoft YaHei"/>
              </a:rPr>
              <a:t>会员洞察与客群分层</a:t>
            </a:r>
          </a:p>
        </p:txBody>
      </p:sp>
      <p:sp>
        <p:nvSpPr>
          <p:cNvPr id="38" name="Rounded Rectangle 37"/>
          <p:cNvSpPr/>
          <p:nvPr/>
        </p:nvSpPr>
        <p:spPr>
          <a:xfrm>
            <a:off x="9144000" y="6729984"/>
            <a:ext cx="1170432" cy="310896"/>
          </a:xfrm>
          <a:prstGeom prst="roundRect">
            <a:avLst>
              <a:gd name="adj" fmla="val 8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17152" y="6812280"/>
            <a:ext cx="1024128" cy="91440"/>
          </a:xfrm>
          <a:prstGeom prst="rect">
            <a:avLst/>
          </a:prstGeom>
          <a:noFill/>
        </p:spPr>
        <p:txBody>
          <a:bodyPr wrap="square" anchor="ctr">
            <a:spAutoFit/>
          </a:bodyPr>
          <a:lstStyle/>
          <a:p>
            <a:pPr algn="ctr">
              <a:spcAft>
                <a:spcPts val="0"/>
              </a:spcAft>
            </a:pPr>
            <a:r>
              <a:rPr sz="860" b="0">
                <a:solidFill>
                  <a:srgbClr val="4E433D"/>
                </a:solidFill>
                <a:latin typeface="Microsoft YaHei"/>
              </a:rPr>
              <a:t>Microsoft Fabric</a:t>
            </a:r>
          </a:p>
        </p:txBody>
      </p:sp>
      <p:sp>
        <p:nvSpPr>
          <p:cNvPr id="40" name="Rounded Rectangle 39"/>
          <p:cNvSpPr/>
          <p:nvPr/>
        </p:nvSpPr>
        <p:spPr>
          <a:xfrm>
            <a:off x="10405872" y="6729984"/>
            <a:ext cx="1170432" cy="310896"/>
          </a:xfrm>
          <a:prstGeom prst="roundRect">
            <a:avLst>
              <a:gd name="adj" fmla="val 8000"/>
            </a:avLst>
          </a:prstGeom>
          <a:solidFill>
            <a:srgbClr val="F6F1EC"/>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479024" y="6812280"/>
            <a:ext cx="1024128" cy="91440"/>
          </a:xfrm>
          <a:prstGeom prst="rect">
            <a:avLst/>
          </a:prstGeom>
          <a:noFill/>
        </p:spPr>
        <p:txBody>
          <a:bodyPr wrap="square" anchor="ctr">
            <a:spAutoFit/>
          </a:bodyPr>
          <a:lstStyle/>
          <a:p>
            <a:pPr algn="ctr">
              <a:spcAft>
                <a:spcPts val="0"/>
              </a:spcAft>
            </a:pPr>
            <a:r>
              <a:rPr sz="860" b="0">
                <a:solidFill>
                  <a:srgbClr val="4E433D"/>
                </a:solidFill>
                <a:latin typeface="Microsoft YaHei"/>
              </a:rPr>
              <a:t>Azure Machine Learning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1EC"/>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A63A2B"/>
                </a:solidFill>
                <a:latin typeface="Microsoft YaHei"/>
              </a:rPr>
              <a:t>能力映射与交付物</a:t>
            </a:r>
          </a:p>
        </p:txBody>
      </p:sp>
      <p:sp>
        <p:nvSpPr>
          <p:cNvPr id="4" name="Rectangle 3"/>
          <p:cNvSpPr/>
          <p:nvPr/>
        </p:nvSpPr>
        <p:spPr>
          <a:xfrm>
            <a:off x="822960" y="1325880"/>
            <a:ext cx="10515600" cy="27432"/>
          </a:xfrm>
          <a:prstGeom prst="rect">
            <a:avLst/>
          </a:prstGeom>
          <a:solidFill>
            <a:srgbClr val="F3E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6812280" cy="4480560"/>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65960"/>
            <a:ext cx="6263640" cy="274320"/>
          </a:xfrm>
          <a:prstGeom prst="rect">
            <a:avLst/>
          </a:prstGeom>
          <a:noFill/>
        </p:spPr>
        <p:txBody>
          <a:bodyPr wrap="square" anchor="t">
            <a:spAutoFit/>
          </a:bodyPr>
          <a:lstStyle/>
          <a:p>
            <a:pPr algn="l">
              <a:spcAft>
                <a:spcPts val="0"/>
              </a:spcAft>
            </a:pPr>
            <a:r>
              <a:rPr sz="1650" b="1">
                <a:solidFill>
                  <a:srgbClr val="A63A2B"/>
                </a:solidFill>
                <a:latin typeface="Microsoft YaHei"/>
              </a:rPr>
              <a:t>能力卡与产品映射</a:t>
            </a:r>
          </a:p>
        </p:txBody>
      </p:sp>
      <p:sp>
        <p:nvSpPr>
          <p:cNvPr id="7" name="TextBox 6"/>
          <p:cNvSpPr txBox="1"/>
          <p:nvPr/>
        </p:nvSpPr>
        <p:spPr>
          <a:xfrm>
            <a:off x="1051560" y="2487168"/>
            <a:ext cx="6355080" cy="3154680"/>
          </a:xfrm>
          <a:prstGeom prst="rect">
            <a:avLst/>
          </a:prstGeom>
          <a:noFill/>
        </p:spPr>
        <p:txBody>
          <a:bodyPr wrap="square" anchor="t">
            <a:spAutoFit/>
          </a:bodyPr>
          <a:lstStyle/>
          <a:p>
            <a:pPr algn="l">
              <a:spcAft>
                <a:spcPts val="800"/>
              </a:spcAft>
            </a:pPr>
            <a:r>
              <a:rPr sz="1380" b="0">
                <a:solidFill>
                  <a:srgbClr val="4E433D"/>
                </a:solidFill>
                <a:latin typeface="Microsoft YaHei"/>
              </a:rPr>
              <a:t>会员洞察与客群分层 -&gt; Microsoft Fabric, Azure Machine Learning, Azure OpenAI | 交付：会员分层、价值识别与风险评分能力</a:t>
            </a:r>
          </a:p>
          <a:p>
            <a:pPr algn="l">
              <a:spcAft>
                <a:spcPts val="800"/>
              </a:spcAft>
            </a:pPr>
            <a:r>
              <a:rPr sz="1380" b="0">
                <a:solidFill>
                  <a:srgbClr val="4E433D"/>
                </a:solidFill>
                <a:latin typeface="Microsoft YaHei"/>
              </a:rPr>
              <a:t>营销内容与页面生成 -&gt; Azure OpenAI, Azure AI Content Understanding | 交付：营销文案、页面草案与多版本内容生成</a:t>
            </a:r>
          </a:p>
          <a:p>
            <a:pPr algn="l">
              <a:spcAft>
                <a:spcPts val="800"/>
              </a:spcAft>
            </a:pPr>
            <a:r>
              <a:rPr sz="1380" b="0">
                <a:solidFill>
                  <a:srgbClr val="4E433D"/>
                </a:solidFill>
                <a:latin typeface="Microsoft YaHei"/>
              </a:rPr>
              <a:t>工作流协同与动作执行 -&gt; Power Automate, Dynamics 365 Customer Insights | 交付：活动触发、保留任务编排与结果回写闭环</a:t>
            </a:r>
          </a:p>
        </p:txBody>
      </p:sp>
      <p:sp>
        <p:nvSpPr>
          <p:cNvPr id="8" name="Rounded Rectangle 7"/>
          <p:cNvSpPr/>
          <p:nvPr/>
        </p:nvSpPr>
        <p:spPr>
          <a:xfrm>
            <a:off x="7955279" y="1737360"/>
            <a:ext cx="3337560" cy="1920240"/>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956816"/>
            <a:ext cx="2788920" cy="274320"/>
          </a:xfrm>
          <a:prstGeom prst="rect">
            <a:avLst/>
          </a:prstGeom>
          <a:noFill/>
        </p:spPr>
        <p:txBody>
          <a:bodyPr wrap="square" anchor="t">
            <a:spAutoFit/>
          </a:bodyPr>
          <a:lstStyle/>
          <a:p>
            <a:pPr algn="l">
              <a:spcAft>
                <a:spcPts val="0"/>
              </a:spcAft>
            </a:pPr>
            <a:r>
              <a:rPr sz="1650" b="1">
                <a:solidFill>
                  <a:srgbClr val="A63A2B"/>
                </a:solidFill>
                <a:latin typeface="Microsoft YaHei"/>
              </a:rPr>
              <a:t>推荐产品栈</a:t>
            </a:r>
          </a:p>
        </p:txBody>
      </p:sp>
      <p:sp>
        <p:nvSpPr>
          <p:cNvPr id="10" name="TextBox 9"/>
          <p:cNvSpPr txBox="1"/>
          <p:nvPr/>
        </p:nvSpPr>
        <p:spPr>
          <a:xfrm>
            <a:off x="8229600" y="2359152"/>
            <a:ext cx="2788920" cy="932688"/>
          </a:xfrm>
          <a:prstGeom prst="rect">
            <a:avLst/>
          </a:prstGeom>
          <a:noFill/>
        </p:spPr>
        <p:txBody>
          <a:bodyPr wrap="square" anchor="t">
            <a:spAutoFit/>
          </a:bodyPr>
          <a:lstStyle/>
          <a:p>
            <a:pPr algn="l">
              <a:spcAft>
                <a:spcPts val="0"/>
              </a:spcAft>
            </a:pPr>
            <a:r>
              <a:rPr sz="1350" b="0">
                <a:solidFill>
                  <a:srgbClr val="4E433D"/>
                </a:solidFill>
                <a:latin typeface="Microsoft YaHei"/>
              </a:rPr>
              <a:t>优先产品栈：Microsoft Fabric / Azure Machine Learning / Azure OpenAI / Azure AI Content Understanding</a:t>
            </a:r>
          </a:p>
        </p:txBody>
      </p:sp>
      <p:sp>
        <p:nvSpPr>
          <p:cNvPr id="11" name="Rounded Rectangle 10"/>
          <p:cNvSpPr/>
          <p:nvPr/>
        </p:nvSpPr>
        <p:spPr>
          <a:xfrm>
            <a:off x="7955279" y="3977639"/>
            <a:ext cx="3337560" cy="2240280"/>
          </a:xfrm>
          <a:prstGeom prst="roundRect">
            <a:avLst>
              <a:gd name="adj" fmla="val 10000"/>
            </a:avLst>
          </a:prstGeom>
          <a:solidFill>
            <a:srgbClr val="A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4224528"/>
            <a:ext cx="2788920" cy="274320"/>
          </a:xfrm>
          <a:prstGeom prst="rect">
            <a:avLst/>
          </a:prstGeom>
          <a:noFill/>
        </p:spPr>
        <p:txBody>
          <a:bodyPr wrap="square" anchor="t">
            <a:spAutoFit/>
          </a:bodyPr>
          <a:lstStyle/>
          <a:p>
            <a:pPr algn="l">
              <a:spcAft>
                <a:spcPts val="0"/>
              </a:spcAft>
            </a:pPr>
            <a:r>
              <a:rPr sz="1650" b="1">
                <a:solidFill>
                  <a:srgbClr val="FFFFFF"/>
                </a:solidFill>
                <a:latin typeface="Microsoft YaHei"/>
              </a:rPr>
              <a:t>现场交付物</a:t>
            </a:r>
          </a:p>
        </p:txBody>
      </p:sp>
      <p:sp>
        <p:nvSpPr>
          <p:cNvPr id="13" name="TextBox 12"/>
          <p:cNvSpPr txBox="1"/>
          <p:nvPr/>
        </p:nvSpPr>
        <p:spPr>
          <a:xfrm>
            <a:off x="8229600" y="4590288"/>
            <a:ext cx="2788920" cy="1188720"/>
          </a:xfrm>
          <a:prstGeom prst="rect">
            <a:avLst/>
          </a:prstGeom>
          <a:noFill/>
        </p:spPr>
        <p:txBody>
          <a:bodyPr wrap="square" anchor="t">
            <a:spAutoFit/>
          </a:bodyPr>
          <a:lstStyle/>
          <a:p>
            <a:pPr algn="l">
              <a:spcAft>
                <a:spcPts val="0"/>
              </a:spcAft>
            </a:pPr>
            <a:r>
              <a:rPr sz="1350" b="0">
                <a:solidFill>
                  <a:srgbClr val="FFFFFF"/>
                </a:solidFill>
                <a:latin typeface="Microsoft YaHei"/>
              </a:rPr>
              <a:t>现场交付物：会员增长与保留运营工作台方案 PPT / 目标 AI Flow 讲解页 / 轻量原型规格文档与 POC 范围建议</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1EC"/>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A63A2B"/>
                </a:solidFill>
                <a:latin typeface="Microsoft YaHei"/>
              </a:rPr>
              <a:t>业务价值与验证假设</a:t>
            </a:r>
          </a:p>
        </p:txBody>
      </p:sp>
      <p:sp>
        <p:nvSpPr>
          <p:cNvPr id="4" name="Rectangle 3"/>
          <p:cNvSpPr/>
          <p:nvPr/>
        </p:nvSpPr>
        <p:spPr>
          <a:xfrm>
            <a:off x="822960" y="1325880"/>
            <a:ext cx="10515600" cy="27432"/>
          </a:xfrm>
          <a:prstGeom prst="rect">
            <a:avLst/>
          </a:prstGeom>
          <a:solidFill>
            <a:srgbClr val="F3E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3246120" cy="4480560"/>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993392"/>
            <a:ext cx="2834640" cy="274320"/>
          </a:xfrm>
          <a:prstGeom prst="rect">
            <a:avLst/>
          </a:prstGeom>
          <a:noFill/>
        </p:spPr>
        <p:txBody>
          <a:bodyPr wrap="square" anchor="t">
            <a:spAutoFit/>
          </a:bodyPr>
          <a:lstStyle/>
          <a:p>
            <a:pPr algn="l">
              <a:spcAft>
                <a:spcPts val="0"/>
              </a:spcAft>
            </a:pPr>
            <a:r>
              <a:rPr sz="1650" b="1">
                <a:solidFill>
                  <a:srgbClr val="A63A2B"/>
                </a:solidFill>
                <a:latin typeface="Microsoft YaHei"/>
              </a:rPr>
              <a:t>业务价值</a:t>
            </a:r>
          </a:p>
        </p:txBody>
      </p:sp>
      <p:sp>
        <p:nvSpPr>
          <p:cNvPr id="7" name="TextBox 6"/>
          <p:cNvSpPr txBox="1"/>
          <p:nvPr/>
        </p:nvSpPr>
        <p:spPr>
          <a:xfrm>
            <a:off x="1024128" y="2468880"/>
            <a:ext cx="2834640" cy="3246120"/>
          </a:xfrm>
          <a:prstGeom prst="rect">
            <a:avLst/>
          </a:prstGeom>
          <a:noFill/>
        </p:spPr>
        <p:txBody>
          <a:bodyPr wrap="square" anchor="t">
            <a:spAutoFit/>
          </a:bodyPr>
          <a:lstStyle/>
          <a:p>
            <a:pPr algn="l">
              <a:spcAft>
                <a:spcPts val="800"/>
              </a:spcAft>
            </a:pPr>
            <a:r>
              <a:rPr sz="1400" b="0">
                <a:solidFill>
                  <a:srgbClr val="4E433D"/>
                </a:solidFill>
                <a:latin typeface="Microsoft YaHei"/>
              </a:rPr>
              <a:t>缩短会员运营从分析到活动落地的准备周期</a:t>
            </a:r>
          </a:p>
          <a:p>
            <a:pPr algn="l">
              <a:spcAft>
                <a:spcPts val="800"/>
              </a:spcAft>
            </a:pPr>
            <a:r>
              <a:rPr sz="1400" b="0">
                <a:solidFill>
                  <a:srgbClr val="4E433D"/>
                </a:solidFill>
                <a:latin typeface="Microsoft YaHei"/>
              </a:rPr>
              <a:t>提升高价值会员识别和高风险会员干预的及时性</a:t>
            </a:r>
          </a:p>
          <a:p>
            <a:pPr algn="l">
              <a:spcAft>
                <a:spcPts val="800"/>
              </a:spcAft>
            </a:pPr>
            <a:r>
              <a:rPr sz="1400" b="0">
                <a:solidFill>
                  <a:srgbClr val="4E433D"/>
                </a:solidFill>
                <a:latin typeface="Microsoft YaHei"/>
              </a:rPr>
              <a:t>把内容生产、活动执行和复盘分析整合为统一工作台</a:t>
            </a:r>
          </a:p>
        </p:txBody>
      </p:sp>
      <p:sp>
        <p:nvSpPr>
          <p:cNvPr id="8" name="Rounded Rectangle 7"/>
          <p:cNvSpPr/>
          <p:nvPr/>
        </p:nvSpPr>
        <p:spPr>
          <a:xfrm>
            <a:off x="4462272" y="1783080"/>
            <a:ext cx="3246120" cy="4480560"/>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993392"/>
            <a:ext cx="2834640" cy="274320"/>
          </a:xfrm>
          <a:prstGeom prst="rect">
            <a:avLst/>
          </a:prstGeom>
          <a:noFill/>
        </p:spPr>
        <p:txBody>
          <a:bodyPr wrap="square" anchor="t">
            <a:spAutoFit/>
          </a:bodyPr>
          <a:lstStyle/>
          <a:p>
            <a:pPr algn="l">
              <a:spcAft>
                <a:spcPts val="0"/>
              </a:spcAft>
            </a:pPr>
            <a:r>
              <a:rPr sz="1650" b="1">
                <a:solidFill>
                  <a:srgbClr val="A63A2B"/>
                </a:solidFill>
                <a:latin typeface="Microsoft YaHei"/>
              </a:rPr>
              <a:t>关键指标</a:t>
            </a:r>
          </a:p>
        </p:txBody>
      </p:sp>
      <p:sp>
        <p:nvSpPr>
          <p:cNvPr id="10" name="TextBox 9"/>
          <p:cNvSpPr txBox="1"/>
          <p:nvPr/>
        </p:nvSpPr>
        <p:spPr>
          <a:xfrm>
            <a:off x="4663440" y="2468880"/>
            <a:ext cx="2834640" cy="3246120"/>
          </a:xfrm>
          <a:prstGeom prst="rect">
            <a:avLst/>
          </a:prstGeom>
          <a:noFill/>
        </p:spPr>
        <p:txBody>
          <a:bodyPr wrap="square" anchor="t">
            <a:spAutoFit/>
          </a:bodyPr>
          <a:lstStyle/>
          <a:p>
            <a:pPr algn="l">
              <a:spcAft>
                <a:spcPts val="800"/>
              </a:spcAft>
            </a:pPr>
            <a:r>
              <a:rPr sz="1400" b="0">
                <a:solidFill>
                  <a:srgbClr val="4E433D"/>
                </a:solidFill>
                <a:latin typeface="Microsoft YaHei"/>
              </a:rPr>
              <a:t>活动准备周期缩短 30%</a:t>
            </a:r>
          </a:p>
          <a:p>
            <a:pPr algn="l">
              <a:spcAft>
                <a:spcPts val="800"/>
              </a:spcAft>
            </a:pPr>
            <a:r>
              <a:rPr sz="1400" b="0">
                <a:solidFill>
                  <a:srgbClr val="4E433D"/>
                </a:solidFill>
                <a:latin typeface="Microsoft YaHei"/>
              </a:rPr>
              <a:t>高风险会员识别时效提升 50%</a:t>
            </a:r>
          </a:p>
          <a:p>
            <a:pPr algn="l">
              <a:spcAft>
                <a:spcPts val="800"/>
              </a:spcAft>
            </a:pPr>
            <a:r>
              <a:rPr sz="1400" b="0">
                <a:solidFill>
                  <a:srgbClr val="4E433D"/>
                </a:solidFill>
                <a:latin typeface="Microsoft YaHei"/>
              </a:rPr>
              <a:t>重点活动个性化内容生成覆盖率达到 70%</a:t>
            </a:r>
          </a:p>
        </p:txBody>
      </p:sp>
      <p:sp>
        <p:nvSpPr>
          <p:cNvPr id="11" name="Rounded Rectangle 10"/>
          <p:cNvSpPr/>
          <p:nvPr/>
        </p:nvSpPr>
        <p:spPr>
          <a:xfrm>
            <a:off x="8101583" y="1783080"/>
            <a:ext cx="3246120" cy="4480560"/>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1993392"/>
            <a:ext cx="2834640" cy="274320"/>
          </a:xfrm>
          <a:prstGeom prst="rect">
            <a:avLst/>
          </a:prstGeom>
          <a:noFill/>
        </p:spPr>
        <p:txBody>
          <a:bodyPr wrap="square" anchor="t">
            <a:spAutoFit/>
          </a:bodyPr>
          <a:lstStyle/>
          <a:p>
            <a:pPr algn="l">
              <a:spcAft>
                <a:spcPts val="0"/>
              </a:spcAft>
            </a:pPr>
            <a:r>
              <a:rPr sz="1650" b="1">
                <a:solidFill>
                  <a:srgbClr val="A63A2B"/>
                </a:solidFill>
                <a:latin typeface="Microsoft YaHei"/>
              </a:rPr>
              <a:t>POC 验证点</a:t>
            </a:r>
          </a:p>
        </p:txBody>
      </p:sp>
      <p:sp>
        <p:nvSpPr>
          <p:cNvPr id="13" name="TextBox 12"/>
          <p:cNvSpPr txBox="1"/>
          <p:nvPr/>
        </p:nvSpPr>
        <p:spPr>
          <a:xfrm>
            <a:off x="8302752" y="2468880"/>
            <a:ext cx="2834640" cy="3246120"/>
          </a:xfrm>
          <a:prstGeom prst="rect">
            <a:avLst/>
          </a:prstGeom>
          <a:noFill/>
        </p:spPr>
        <p:txBody>
          <a:bodyPr wrap="square" anchor="t">
            <a:spAutoFit/>
          </a:bodyPr>
          <a:lstStyle/>
          <a:p>
            <a:pPr algn="l">
              <a:spcAft>
                <a:spcPts val="800"/>
              </a:spcAft>
            </a:pPr>
            <a:r>
              <a:rPr sz="1400" b="0">
                <a:solidFill>
                  <a:srgbClr val="4E433D"/>
                </a:solidFill>
                <a:latin typeface="Microsoft YaHei"/>
              </a:rPr>
              <a:t>1. 会员分层和流失风险识别结果是否能支持运营决策</a:t>
            </a:r>
          </a:p>
          <a:p>
            <a:pPr algn="l">
              <a:spcAft>
                <a:spcPts val="800"/>
              </a:spcAft>
            </a:pPr>
            <a:r>
              <a:rPr sz="1400" b="0">
                <a:solidFill>
                  <a:srgbClr val="4E433D"/>
                </a:solidFill>
                <a:latin typeface="Microsoft YaHei"/>
              </a:rPr>
              <a:t>2. 营销内容生成是否能明显缩短活动准备时间</a:t>
            </a:r>
          </a:p>
          <a:p>
            <a:pPr algn="l">
              <a:spcAft>
                <a:spcPts val="800"/>
              </a:spcAft>
            </a:pPr>
            <a:r>
              <a:rPr sz="1400" b="0">
                <a:solidFill>
                  <a:srgbClr val="4E433D"/>
                </a:solidFill>
                <a:latin typeface="Microsoft YaHei"/>
              </a:rPr>
              <a:t>3. 保留动作推荐是否能支撑重点会员跟进和复盘分析</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1EC"/>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A63A2B"/>
                </a:solidFill>
                <a:latin typeface="Microsoft YaHei"/>
              </a:rPr>
              <a:t>原型与 MVP 设计</a:t>
            </a:r>
          </a:p>
        </p:txBody>
      </p:sp>
      <p:sp>
        <p:nvSpPr>
          <p:cNvPr id="4" name="Rectangle 3"/>
          <p:cNvSpPr/>
          <p:nvPr/>
        </p:nvSpPr>
        <p:spPr>
          <a:xfrm>
            <a:off x="822960" y="1325880"/>
            <a:ext cx="10515600" cy="27432"/>
          </a:xfrm>
          <a:prstGeom prst="rect">
            <a:avLst/>
          </a:prstGeom>
          <a:solidFill>
            <a:srgbClr val="F3E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7909560" cy="1691640"/>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75104"/>
            <a:ext cx="7223760" cy="274320"/>
          </a:xfrm>
          <a:prstGeom prst="rect">
            <a:avLst/>
          </a:prstGeom>
          <a:noFill/>
        </p:spPr>
        <p:txBody>
          <a:bodyPr wrap="square" anchor="t">
            <a:spAutoFit/>
          </a:bodyPr>
          <a:lstStyle/>
          <a:p>
            <a:pPr algn="l">
              <a:spcAft>
                <a:spcPts val="0"/>
              </a:spcAft>
            </a:pPr>
            <a:r>
              <a:rPr sz="1650" b="1">
                <a:solidFill>
                  <a:srgbClr val="A63A2B"/>
                </a:solidFill>
                <a:latin typeface="Microsoft YaHei"/>
              </a:rPr>
              <a:t>原型摘要</a:t>
            </a:r>
          </a:p>
        </p:txBody>
      </p:sp>
      <p:sp>
        <p:nvSpPr>
          <p:cNvPr id="7" name="TextBox 6"/>
          <p:cNvSpPr txBox="1"/>
          <p:nvPr/>
        </p:nvSpPr>
        <p:spPr>
          <a:xfrm>
            <a:off x="1097280" y="2359152"/>
            <a:ext cx="7269480" cy="896112"/>
          </a:xfrm>
          <a:prstGeom prst="rect">
            <a:avLst/>
          </a:prstGeom>
          <a:noFill/>
        </p:spPr>
        <p:txBody>
          <a:bodyPr wrap="square" anchor="t">
            <a:spAutoFit/>
          </a:bodyPr>
          <a:lstStyle/>
          <a:p>
            <a:pPr algn="l">
              <a:spcAft>
                <a:spcPts val="600"/>
              </a:spcAft>
            </a:pPr>
            <a:r>
              <a:rPr sz="1220" b="0">
                <a:solidFill>
                  <a:srgbClr val="4E433D"/>
                </a:solidFill>
                <a:latin typeface="Microsoft YaHei"/>
              </a:rPr>
              <a:t>会员增长与保留运营工作台；目标用户：会员运营负责人</a:t>
            </a:r>
          </a:p>
          <a:p>
            <a:pPr algn="l">
              <a:spcAft>
                <a:spcPts val="600"/>
              </a:spcAft>
            </a:pPr>
            <a:r>
              <a:rPr sz="1220" b="0">
                <a:solidFill>
                  <a:srgbClr val="4E433D"/>
                </a:solidFill>
                <a:latin typeface="Microsoft YaHei"/>
              </a:rPr>
              <a:t>工作台；目标：让会员运营负责人在一个可视化工作台内完成客群识别、内容生成、活动联动和流失干预演示。</a:t>
            </a:r>
          </a:p>
          <a:p>
            <a:pPr algn="l">
              <a:spcAft>
                <a:spcPts val="600"/>
              </a:spcAft>
            </a:pPr>
            <a:r>
              <a:rPr sz="1220" b="0">
                <a:solidFill>
                  <a:srgbClr val="4E433D"/>
                </a:solidFill>
                <a:latin typeface="Microsoft YaHei"/>
              </a:rPr>
              <a:t>前端壳子优先；核心任务：围绕会员增长与保留活动，快速完成客群识别、内容生成和保留动作联动演示。；技术栈：Next.js + Tailwind CSS</a:t>
            </a:r>
          </a:p>
        </p:txBody>
      </p:sp>
      <p:sp>
        <p:nvSpPr>
          <p:cNvPr id="8" name="Rounded Rectangle 7"/>
          <p:cNvSpPr/>
          <p:nvPr/>
        </p:nvSpPr>
        <p:spPr>
          <a:xfrm>
            <a:off x="822960" y="3767328"/>
            <a:ext cx="3822191" cy="2331720"/>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995928"/>
            <a:ext cx="3291840" cy="274320"/>
          </a:xfrm>
          <a:prstGeom prst="rect">
            <a:avLst/>
          </a:prstGeom>
          <a:noFill/>
        </p:spPr>
        <p:txBody>
          <a:bodyPr wrap="square" anchor="t">
            <a:spAutoFit/>
          </a:bodyPr>
          <a:lstStyle/>
          <a:p>
            <a:pPr algn="l">
              <a:spcAft>
                <a:spcPts val="0"/>
              </a:spcAft>
            </a:pPr>
            <a:r>
              <a:rPr sz="1650" b="1">
                <a:solidFill>
                  <a:srgbClr val="A63A2B"/>
                </a:solidFill>
                <a:latin typeface="Microsoft YaHei"/>
              </a:rPr>
              <a:t>MVP 页面范围</a:t>
            </a:r>
          </a:p>
        </p:txBody>
      </p:sp>
      <p:sp>
        <p:nvSpPr>
          <p:cNvPr id="10" name="TextBox 9"/>
          <p:cNvSpPr txBox="1"/>
          <p:nvPr/>
        </p:nvSpPr>
        <p:spPr>
          <a:xfrm>
            <a:off x="1051560" y="4389120"/>
            <a:ext cx="3291840" cy="1417320"/>
          </a:xfrm>
          <a:prstGeom prst="rect">
            <a:avLst/>
          </a:prstGeom>
          <a:noFill/>
        </p:spPr>
        <p:txBody>
          <a:bodyPr wrap="square" anchor="t">
            <a:spAutoFit/>
          </a:bodyPr>
          <a:lstStyle/>
          <a:p>
            <a:pPr algn="l">
              <a:spcAft>
                <a:spcPts val="600"/>
              </a:spcAft>
            </a:pPr>
            <a:r>
              <a:rPr sz="1290" b="0">
                <a:solidFill>
                  <a:srgbClr val="4E433D"/>
                </a:solidFill>
                <a:latin typeface="Microsoft YaHei"/>
              </a:rPr>
              <a:t>1. 运营首页</a:t>
            </a:r>
          </a:p>
          <a:p>
            <a:pPr algn="l">
              <a:spcAft>
                <a:spcPts val="600"/>
              </a:spcAft>
            </a:pPr>
            <a:r>
              <a:rPr sz="1290" b="0">
                <a:solidFill>
                  <a:srgbClr val="4E433D"/>
                </a:solidFill>
                <a:latin typeface="Microsoft YaHei"/>
              </a:rPr>
              <a:t>2. 会员洞察页</a:t>
            </a:r>
          </a:p>
          <a:p>
            <a:pPr algn="l">
              <a:spcAft>
                <a:spcPts val="600"/>
              </a:spcAft>
            </a:pPr>
            <a:r>
              <a:rPr sz="1290" b="0">
                <a:solidFill>
                  <a:srgbClr val="4E433D"/>
                </a:solidFill>
                <a:latin typeface="Microsoft YaHei"/>
              </a:rPr>
              <a:t>3. 内容生成页</a:t>
            </a:r>
          </a:p>
          <a:p>
            <a:pPr algn="l">
              <a:spcAft>
                <a:spcPts val="600"/>
              </a:spcAft>
            </a:pPr>
            <a:r>
              <a:rPr sz="1290" b="0">
                <a:solidFill>
                  <a:srgbClr val="4E433D"/>
                </a:solidFill>
                <a:latin typeface="Microsoft YaHei"/>
              </a:rPr>
              <a:t>4. 保留动作与复盘页</a:t>
            </a:r>
          </a:p>
        </p:txBody>
      </p:sp>
      <p:sp>
        <p:nvSpPr>
          <p:cNvPr id="11" name="Rounded Rectangle 10"/>
          <p:cNvSpPr/>
          <p:nvPr/>
        </p:nvSpPr>
        <p:spPr>
          <a:xfrm>
            <a:off x="4910328" y="3767328"/>
            <a:ext cx="3822191" cy="2331720"/>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38928" y="3995928"/>
            <a:ext cx="3291840" cy="274320"/>
          </a:xfrm>
          <a:prstGeom prst="rect">
            <a:avLst/>
          </a:prstGeom>
          <a:noFill/>
        </p:spPr>
        <p:txBody>
          <a:bodyPr wrap="square" anchor="t">
            <a:spAutoFit/>
          </a:bodyPr>
          <a:lstStyle/>
          <a:p>
            <a:pPr algn="l">
              <a:spcAft>
                <a:spcPts val="0"/>
              </a:spcAft>
            </a:pPr>
            <a:r>
              <a:rPr sz="1650" b="1">
                <a:solidFill>
                  <a:srgbClr val="A63A2B"/>
                </a:solidFill>
                <a:latin typeface="Microsoft YaHei"/>
              </a:rPr>
              <a:t>快速开发路径</a:t>
            </a:r>
          </a:p>
        </p:txBody>
      </p:sp>
      <p:sp>
        <p:nvSpPr>
          <p:cNvPr id="13" name="TextBox 12"/>
          <p:cNvSpPr txBox="1"/>
          <p:nvPr/>
        </p:nvSpPr>
        <p:spPr>
          <a:xfrm>
            <a:off x="5138928" y="4389120"/>
            <a:ext cx="3291840" cy="1417320"/>
          </a:xfrm>
          <a:prstGeom prst="rect">
            <a:avLst/>
          </a:prstGeom>
          <a:noFill/>
        </p:spPr>
        <p:txBody>
          <a:bodyPr wrap="square" anchor="t">
            <a:spAutoFit/>
          </a:bodyPr>
          <a:lstStyle/>
          <a:p>
            <a:pPr algn="l">
              <a:spcAft>
                <a:spcPts val="600"/>
              </a:spcAft>
            </a:pPr>
            <a:r>
              <a:rPr sz="1290" b="0">
                <a:solidFill>
                  <a:srgbClr val="4E433D"/>
                </a:solidFill>
                <a:latin typeface="Microsoft YaHei"/>
              </a:rPr>
              <a:t>1. 明确首批会员数据与活动样例范围</a:t>
            </a:r>
          </a:p>
          <a:p>
            <a:pPr algn="l">
              <a:spcAft>
                <a:spcPts val="600"/>
              </a:spcAft>
            </a:pPr>
            <a:r>
              <a:rPr sz="1290" b="0">
                <a:solidFill>
                  <a:srgbClr val="4E433D"/>
                </a:solidFill>
                <a:latin typeface="Microsoft YaHei"/>
              </a:rPr>
              <a:t>2. 确定 MVP 页面结构与演示样例数据</a:t>
            </a:r>
          </a:p>
          <a:p>
            <a:pPr algn="l">
              <a:spcAft>
                <a:spcPts val="600"/>
              </a:spcAft>
            </a:pPr>
            <a:r>
              <a:rPr sz="1290" b="0">
                <a:solidFill>
                  <a:srgbClr val="4E433D"/>
                </a:solidFill>
                <a:latin typeface="Microsoft YaHei"/>
              </a:rPr>
              <a:t>3. 启动 2 到 4 周 POC，验证洞察、生成与保留联动效果</a:t>
            </a:r>
          </a:p>
          <a:p>
            <a:pPr algn="l">
              <a:spcAft>
                <a:spcPts val="600"/>
              </a:spcAft>
            </a:pPr>
            <a:r>
              <a:rPr sz="1290" b="0">
                <a:solidFill>
                  <a:srgbClr val="4E433D"/>
                </a:solidFill>
                <a:latin typeface="Microsoft YaHei"/>
              </a:rPr>
              <a:t>4. 基于方案设计文档快速搭建静态页面和样例数据</a:t>
            </a:r>
          </a:p>
        </p:txBody>
      </p:sp>
      <p:pic>
        <p:nvPicPr>
          <p:cNvPr id="14" name="Picture 13" descr="image.png"/>
          <p:cNvPicPr>
            <a:picLocks noChangeAspect="1"/>
          </p:cNvPicPr>
          <p:nvPr/>
        </p:nvPicPr>
        <p:blipFill>
          <a:blip r:embed="rId2"/>
          <a:stretch>
            <a:fillRect/>
          </a:stretch>
        </p:blipFill>
        <p:spPr>
          <a:xfrm>
            <a:off x="8961120" y="1828800"/>
            <a:ext cx="2103120" cy="42976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1EC"/>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A63A2B"/>
                </a:solidFill>
                <a:latin typeface="Microsoft YaHei"/>
              </a:rPr>
              <a:t>POC 与下一步</a:t>
            </a:r>
          </a:p>
        </p:txBody>
      </p:sp>
      <p:sp>
        <p:nvSpPr>
          <p:cNvPr id="4" name="Rectangle 3"/>
          <p:cNvSpPr/>
          <p:nvPr/>
        </p:nvSpPr>
        <p:spPr>
          <a:xfrm>
            <a:off x="822960" y="1325880"/>
            <a:ext cx="10515600" cy="27432"/>
          </a:xfrm>
          <a:prstGeom prst="rect">
            <a:avLst/>
          </a:prstGeom>
          <a:solidFill>
            <a:srgbClr val="F3E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10469880" cy="731520"/>
          </a:xfrm>
          <a:prstGeom prst="roundRect">
            <a:avLst>
              <a:gd name="adj" fmla="val 10000"/>
            </a:avLst>
          </a:prstGeom>
          <a:solidFill>
            <a:srgbClr val="A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83664"/>
            <a:ext cx="1234440" cy="274320"/>
          </a:xfrm>
          <a:prstGeom prst="rect">
            <a:avLst/>
          </a:prstGeom>
          <a:noFill/>
        </p:spPr>
        <p:txBody>
          <a:bodyPr wrap="square" anchor="t">
            <a:spAutoFit/>
          </a:bodyPr>
          <a:lstStyle/>
          <a:p>
            <a:pPr algn="l">
              <a:spcAft>
                <a:spcPts val="0"/>
              </a:spcAft>
            </a:pPr>
            <a:r>
              <a:rPr sz="1650" b="1">
                <a:solidFill>
                  <a:srgbClr val="FFFFFF"/>
                </a:solidFill>
                <a:latin typeface="Microsoft YaHei"/>
              </a:rPr>
              <a:t>POC 范围</a:t>
            </a:r>
          </a:p>
        </p:txBody>
      </p:sp>
      <p:sp>
        <p:nvSpPr>
          <p:cNvPr id="7" name="TextBox 6"/>
          <p:cNvSpPr txBox="1"/>
          <p:nvPr/>
        </p:nvSpPr>
        <p:spPr>
          <a:xfrm>
            <a:off x="2103120" y="1874519"/>
            <a:ext cx="8138160" cy="384048"/>
          </a:xfrm>
          <a:prstGeom prst="rect">
            <a:avLst/>
          </a:prstGeom>
          <a:noFill/>
        </p:spPr>
        <p:txBody>
          <a:bodyPr wrap="square" anchor="ctr">
            <a:spAutoFit/>
          </a:bodyPr>
          <a:lstStyle/>
          <a:p>
            <a:pPr algn="l">
              <a:spcAft>
                <a:spcPts val="0"/>
              </a:spcAft>
            </a:pPr>
            <a:r>
              <a:rPr sz="1520" b="1">
                <a:solidFill>
                  <a:srgbClr val="FFFFFF"/>
                </a:solidFill>
                <a:latin typeface="Microsoft YaHei"/>
              </a:rPr>
              <a:t>优先验证会员洞察、内容生成和保留动作推荐三段核心闭环</a:t>
            </a:r>
          </a:p>
        </p:txBody>
      </p:sp>
      <p:sp>
        <p:nvSpPr>
          <p:cNvPr id="8" name="Rounded Rectangle 7"/>
          <p:cNvSpPr/>
          <p:nvPr/>
        </p:nvSpPr>
        <p:spPr>
          <a:xfrm>
            <a:off x="822960" y="2743200"/>
            <a:ext cx="3886200" cy="3383280"/>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971800"/>
            <a:ext cx="3337560" cy="274320"/>
          </a:xfrm>
          <a:prstGeom prst="rect">
            <a:avLst/>
          </a:prstGeom>
          <a:noFill/>
        </p:spPr>
        <p:txBody>
          <a:bodyPr wrap="square" anchor="t">
            <a:spAutoFit/>
          </a:bodyPr>
          <a:lstStyle/>
          <a:p>
            <a:pPr algn="l">
              <a:spcAft>
                <a:spcPts val="0"/>
              </a:spcAft>
            </a:pPr>
            <a:r>
              <a:rPr sz="1650" b="1">
                <a:solidFill>
                  <a:srgbClr val="A63A2B"/>
                </a:solidFill>
                <a:latin typeface="Microsoft YaHei"/>
              </a:rPr>
              <a:t>关键角色</a:t>
            </a:r>
          </a:p>
        </p:txBody>
      </p:sp>
      <p:sp>
        <p:nvSpPr>
          <p:cNvPr id="10" name="TextBox 9"/>
          <p:cNvSpPr txBox="1"/>
          <p:nvPr/>
        </p:nvSpPr>
        <p:spPr>
          <a:xfrm>
            <a:off x="1097280" y="3474720"/>
            <a:ext cx="3337560" cy="2148840"/>
          </a:xfrm>
          <a:prstGeom prst="rect">
            <a:avLst/>
          </a:prstGeom>
          <a:noFill/>
        </p:spPr>
        <p:txBody>
          <a:bodyPr wrap="square" anchor="t">
            <a:spAutoFit/>
          </a:bodyPr>
          <a:lstStyle/>
          <a:p>
            <a:pPr algn="l">
              <a:spcAft>
                <a:spcPts val="800"/>
              </a:spcAft>
            </a:pPr>
            <a:r>
              <a:rPr sz="1350" b="0">
                <a:solidFill>
                  <a:srgbClr val="4E433D"/>
                </a:solidFill>
                <a:latin typeface="Microsoft YaHei"/>
              </a:rPr>
              <a:t>会员运营负责人</a:t>
            </a:r>
          </a:p>
          <a:p>
            <a:pPr algn="l">
              <a:spcAft>
                <a:spcPts val="800"/>
              </a:spcAft>
            </a:pPr>
            <a:r>
              <a:rPr sz="1350" b="0">
                <a:solidFill>
                  <a:srgbClr val="4E433D"/>
                </a:solidFill>
                <a:latin typeface="Microsoft YaHei"/>
              </a:rPr>
              <a:t>增长营销团队</a:t>
            </a:r>
          </a:p>
          <a:p>
            <a:pPr algn="l">
              <a:spcAft>
                <a:spcPts val="800"/>
              </a:spcAft>
            </a:pPr>
            <a:r>
              <a:rPr sz="1350" b="0">
                <a:solidFill>
                  <a:srgbClr val="4E433D"/>
                </a:solidFill>
                <a:latin typeface="Microsoft YaHei"/>
              </a:rPr>
              <a:t>CRM / 数据团队</a:t>
            </a:r>
          </a:p>
          <a:p>
            <a:pPr algn="l">
              <a:spcAft>
                <a:spcPts val="800"/>
              </a:spcAft>
            </a:pPr>
            <a:r>
              <a:rPr sz="1350" b="0">
                <a:solidFill>
                  <a:srgbClr val="4E433D"/>
                </a:solidFill>
                <a:latin typeface="Microsoft YaHei"/>
              </a:rPr>
              <a:t>数字化产品团队</a:t>
            </a:r>
          </a:p>
        </p:txBody>
      </p:sp>
      <p:sp>
        <p:nvSpPr>
          <p:cNvPr id="11" name="Rounded Rectangle 10"/>
          <p:cNvSpPr/>
          <p:nvPr/>
        </p:nvSpPr>
        <p:spPr>
          <a:xfrm>
            <a:off x="4937760" y="2743200"/>
            <a:ext cx="3886200" cy="3383280"/>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971800"/>
            <a:ext cx="3337560" cy="274320"/>
          </a:xfrm>
          <a:prstGeom prst="rect">
            <a:avLst/>
          </a:prstGeom>
          <a:noFill/>
        </p:spPr>
        <p:txBody>
          <a:bodyPr wrap="square" anchor="t">
            <a:spAutoFit/>
          </a:bodyPr>
          <a:lstStyle/>
          <a:p>
            <a:pPr algn="l">
              <a:spcAft>
                <a:spcPts val="0"/>
              </a:spcAft>
            </a:pPr>
            <a:r>
              <a:rPr sz="1650" b="1">
                <a:solidFill>
                  <a:srgbClr val="A63A2B"/>
                </a:solidFill>
                <a:latin typeface="Microsoft YaHei"/>
              </a:rPr>
              <a:t>后续动作</a:t>
            </a:r>
          </a:p>
        </p:txBody>
      </p:sp>
      <p:sp>
        <p:nvSpPr>
          <p:cNvPr id="13" name="TextBox 12"/>
          <p:cNvSpPr txBox="1"/>
          <p:nvPr/>
        </p:nvSpPr>
        <p:spPr>
          <a:xfrm>
            <a:off x="5212080" y="3474720"/>
            <a:ext cx="3337560" cy="2148840"/>
          </a:xfrm>
          <a:prstGeom prst="rect">
            <a:avLst/>
          </a:prstGeom>
          <a:noFill/>
        </p:spPr>
        <p:txBody>
          <a:bodyPr wrap="square" anchor="t">
            <a:spAutoFit/>
          </a:bodyPr>
          <a:lstStyle/>
          <a:p>
            <a:pPr algn="l">
              <a:spcAft>
                <a:spcPts val="800"/>
              </a:spcAft>
            </a:pPr>
            <a:r>
              <a:rPr sz="1350" b="0">
                <a:solidFill>
                  <a:srgbClr val="4E433D"/>
                </a:solidFill>
                <a:latin typeface="Microsoft YaHei"/>
              </a:rPr>
              <a:t>1. 明确首批会员数据与活动样例范围</a:t>
            </a:r>
          </a:p>
          <a:p>
            <a:pPr algn="l">
              <a:spcAft>
                <a:spcPts val="800"/>
              </a:spcAft>
            </a:pPr>
            <a:r>
              <a:rPr sz="1350" b="0">
                <a:solidFill>
                  <a:srgbClr val="4E433D"/>
                </a:solidFill>
                <a:latin typeface="Microsoft YaHei"/>
              </a:rPr>
              <a:t>2. 确定 MVP 页面结构与演示样例数据</a:t>
            </a:r>
          </a:p>
          <a:p>
            <a:pPr algn="l">
              <a:spcAft>
                <a:spcPts val="800"/>
              </a:spcAft>
            </a:pPr>
            <a:r>
              <a:rPr sz="1350" b="0">
                <a:solidFill>
                  <a:srgbClr val="4E433D"/>
                </a:solidFill>
                <a:latin typeface="Microsoft YaHei"/>
              </a:rPr>
              <a:t>3. 启动 2 到 4 周 POC，验证洞察、生成与保留联动效果</a:t>
            </a:r>
          </a:p>
        </p:txBody>
      </p:sp>
      <p:pic>
        <p:nvPicPr>
          <p:cNvPr id="14" name="Picture 13" descr="image.png"/>
          <p:cNvPicPr>
            <a:picLocks noChangeAspect="1"/>
          </p:cNvPicPr>
          <p:nvPr/>
        </p:nvPicPr>
        <p:blipFill>
          <a:blip r:embed="rId2"/>
          <a:stretch>
            <a:fillRect/>
          </a:stretch>
        </p:blipFill>
        <p:spPr>
          <a:xfrm>
            <a:off x="9098280" y="2743200"/>
            <a:ext cx="1965960" cy="33832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会员增长与保留运营工作台</dc:title>
  <dc:subject>AI Discovery Workshop 商机与原型方案</dc:subject>
  <dc:creator>AI Workshop Pipeline</dc:creator>
  <cp:keywords/>
  <dc:description>generated using python-pptx</dc:description>
  <cp:lastModifiedBy>AI Workshop Pipeline</cp:lastModifiedBy>
  <cp:revision>1</cp:revision>
  <dcterms:created xsi:type="dcterms:W3CDTF">2026-05-17T14:42:00Z</dcterms:created>
  <dcterms:modified xsi:type="dcterms:W3CDTF">2026-05-17T14:42:00Z</dcterms:modified>
  <cp:category/>
</cp:coreProperties>
</file>