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Title: 客户洞察驱动的营销增长与流失预警闭环</a:t>
            </a:r>
          </a:p>
          <a:p>
            <a:r>
              <a:t>- 该场景聚焦营销负责人最关心的三段链路：客群理解、内容执行和客户保留。先通过一个工作台把洞察、生成、复盘和干预串起来，能够快速验证 AI 对增长效率与留存效果的直接价值。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Title: 业务机会与 Why Now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Title: 当前差距与优先痛点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Title: 客户现场卡片流程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Title: 目标 AI Flow</a:t>
            </a:r>
          </a:p>
          <a:p>
            <a:r>
              <a:t>- 该场景聚焦营销负责人最关心的三段链路：客群理解、内容执行和客户保留。先通过一个工作台把洞察、生成、复盘和干预串起来，能够快速验证 AI 对增长效率与留存效果的直接价值。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Title: 原型方向与系统形态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Title: MVP 原型范围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Title: 原型交付与快速开发路径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Title: 能力映射与交付物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Title: 业务价值与验证假设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Title: POC 与下一步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68880" cy="6858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732520" y="502920"/>
            <a:ext cx="1920240" cy="493776"/>
          </a:xfrm>
          <a:prstGeom prst="roundRect">
            <a:avLst/>
          </a:prstGeom>
          <a:solidFill>
            <a:srgbClr val="F3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AI DISCOVERY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80760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某跨界电商品牌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804672"/>
            <a:ext cx="7863840" cy="475488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90672" y="1024128"/>
            <a:ext cx="68580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99999"/>
                </a:solidFill>
                <a:latin typeface="Microsoft YaHei"/>
              </a:rPr>
              <a:t>客户：某跨界电商品牌 | 行业：跨界电商 · 第 2 组 · 日期 2026-05-08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0672" y="1389888"/>
            <a:ext cx="681228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62828"/>
                </a:solidFill>
                <a:latin typeface="Microsoft YaHei"/>
              </a:rPr>
              <a:t>客户洞察驱动的营销增长与流失预警闭环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523744"/>
            <a:ext cx="5852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999999"/>
                </a:solidFill>
                <a:latin typeface="Microsoft YaHei"/>
              </a:rPr>
              <a:t>AI Discovery Workshop 商机与原型方案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90672" y="2926080"/>
            <a:ext cx="6894576" cy="896112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10128" y="3163824"/>
            <a:ext cx="64465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55555"/>
                </a:solidFill>
                <a:latin typeface="Microsoft YaHei"/>
              </a:rPr>
              <a:t>让营销团队从多系统切换和人工拼装，转向在一个工作台里完成洞察、生成、复盘和干预。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90672" y="4133087"/>
            <a:ext cx="3456432" cy="658368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55264" y="4215383"/>
            <a:ext cx="3127248" cy="1280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Arial"/>
              </a:rPr>
              <a:t>客户与行业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5264" y="4379975"/>
            <a:ext cx="31272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55555"/>
                </a:solidFill>
                <a:latin typeface="Microsoft YaHei"/>
              </a:rPr>
              <a:t>客户：某跨界电商品牌 | 行业：跨界电商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11696" y="4133087"/>
            <a:ext cx="2084831" cy="658368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76288" y="4215383"/>
            <a:ext cx="1755648" cy="1280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Arial"/>
              </a:rPr>
              <a:t>小组与日期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6288" y="4379975"/>
            <a:ext cx="175564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55555"/>
                </a:solidFill>
                <a:latin typeface="Microsoft YaHei"/>
              </a:rPr>
              <a:t>小组：第 2 组 · 日期：2026-05-08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4133087"/>
            <a:ext cx="1024128" cy="658368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5712" y="4215383"/>
            <a:ext cx="694944" cy="1280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Arial"/>
              </a:rPr>
              <a:t>Workshop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5712" y="4379975"/>
            <a:ext cx="694944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55555"/>
                </a:solidFill>
                <a:latin typeface="Microsoft YaHei"/>
              </a:rPr>
              <a:t>Workshop：AI Discovery Card Workshop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8046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C62828"/>
                </a:solidFill>
                <a:latin typeface="Microsoft YaHei"/>
              </a:rPr>
              <a:t>业务机会与 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0515600" cy="27432"/>
          </a:xfrm>
          <a:prstGeom prst="rect">
            <a:avLst/>
          </a:prstGeom>
          <a:solidFill>
            <a:srgbClr val="F3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3291840" cy="438912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1168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机会判断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06040"/>
            <a:ext cx="2834640" cy="3246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对跨界电商品牌来说，最有价值的切入口不是一次性重做营销系统，而是先把客户洞察、内容生产和 retention 动作串成闭环。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3128" y="1783080"/>
            <a:ext cx="3291840" cy="4389120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8" y="201168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为什么是现在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606040"/>
            <a:ext cx="2834640" cy="3246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客户画像、活动数据和内容资产已经逐步数字化，但从洞察到执行仍依赖人工衔接，正适合用 AI 在最短路径上验证增长价值。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1783080"/>
            <a:ext cx="3209544" cy="438912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1896" y="2011680"/>
            <a:ext cx="275234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价值支撑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1896" y="2606040"/>
            <a:ext cx="2752344" cy="3246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多站点、多客群、多活动并行时，人工内容生产和活动编排难以跟上增长节奏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8046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C62828"/>
                </a:solidFill>
                <a:latin typeface="Microsoft YaHei"/>
              </a:rPr>
              <a:t>当前差距与优先痛点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0515600" cy="27432"/>
          </a:xfrm>
          <a:prstGeom prst="rect">
            <a:avLst/>
          </a:prstGeom>
          <a:solidFill>
            <a:srgbClr val="F3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074920" cy="438912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965960"/>
            <a:ext cx="4434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现状流程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68880"/>
            <a:ext cx="452628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1. 汇总客户画像、活动数据和渠道反馈，识别目标客群与重点活动机会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2. 营销团队基于经验制定活动策略与个性化内容方向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3. 人工生成文案、素材和活动页面内容，并反复协调修改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4. 活动上线后再人工整理经营数据做复盘分析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37360"/>
            <a:ext cx="5120640" cy="3017520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关键痛点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450592"/>
            <a:ext cx="457200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1. 客户洞察、内容生产和活动执行之间链路长，营销准备周期难以下降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2. 活动复盘依赖人工汇总，洞察难以及时回流到下一轮增长动作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3. 流失预警不及时，客户保留动作通常发生在风险已经放大之后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983480"/>
            <a:ext cx="5120640" cy="1143000"/>
          </a:xfrm>
          <a:prstGeom prst="roundRect">
            <a:avLst>
              <a:gd name="adj" fmla="val 10000"/>
            </a:avLst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5266944"/>
            <a:ext cx="44805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20" b="1">
                <a:solidFill>
                  <a:srgbClr val="FFFFFF"/>
                </a:solidFill>
                <a:latin typeface="Microsoft YaHei"/>
              </a:rPr>
              <a:t>优先切口：客户洞察、内容生产和活动执行之间链路长，营销准备周期难以下降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8046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C62828"/>
                </a:solidFill>
                <a:latin typeface="Microsoft YaHei"/>
              </a:rPr>
              <a:t>客户现场卡片流程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0515600" cy="27432"/>
          </a:xfrm>
          <a:prstGeom prst="rect">
            <a:avLst/>
          </a:prstGeom>
          <a:solidFill>
            <a:srgbClr val="F3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55648"/>
            <a:ext cx="10469880" cy="4526280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993392"/>
            <a:ext cx="1051560" cy="658368"/>
          </a:xfrm>
          <a:prstGeom prst="roundRect">
            <a:avLst>
              <a:gd name="adj" fmla="val 10000"/>
            </a:avLst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93976"/>
            <a:ext cx="74980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业务场景 / 输入感知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1993392"/>
            <a:ext cx="1572768" cy="658368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136" y="2103120"/>
            <a:ext cx="131673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55555"/>
                </a:solidFill>
                <a:latin typeface="Microsoft YaHei"/>
              </a:rPr>
              <a:t>内容生成中偏营销、网页、内容生产的卡片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703320" y="2176272"/>
            <a:ext cx="237744" cy="237744"/>
          </a:xfrm>
          <a:prstGeom prst="rightArrow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877056" y="1993392"/>
            <a:ext cx="1572768" cy="658368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05072" y="2103120"/>
            <a:ext cx="131673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55555"/>
                </a:solidFill>
                <a:latin typeface="Microsoft YaHei"/>
              </a:rPr>
              <a:t>表单理解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310128"/>
            <a:ext cx="1051560" cy="658368"/>
          </a:xfrm>
          <a:prstGeom prst="roundRect">
            <a:avLst>
              <a:gd name="adj" fmla="val 10000"/>
            </a:avLst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410712"/>
            <a:ext cx="74980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理解分析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03120" y="3310128"/>
            <a:ext cx="1572768" cy="658368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31136" y="3419856"/>
            <a:ext cx="131673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55555"/>
                </a:solidFill>
                <a:latin typeface="Microsoft YaHei"/>
              </a:rPr>
              <a:t>客户洞察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703320" y="3493008"/>
            <a:ext cx="237744" cy="237744"/>
          </a:xfrm>
          <a:prstGeom prst="rightArrow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77056" y="3310128"/>
            <a:ext cx="1572768" cy="658368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05072" y="3419856"/>
            <a:ext cx="131673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55555"/>
                </a:solidFill>
                <a:latin typeface="Microsoft YaHei"/>
              </a:rPr>
              <a:t>数据分析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477256" y="3493008"/>
            <a:ext cx="237744" cy="237744"/>
          </a:xfrm>
          <a:prstGeom prst="rightArrow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50992" y="3310128"/>
            <a:ext cx="1572768" cy="658368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79007" y="3419856"/>
            <a:ext cx="1316736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55555"/>
                </a:solidFill>
                <a:latin typeface="Microsoft YaHei"/>
              </a:rPr>
              <a:t>风险预测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4626864"/>
            <a:ext cx="1051560" cy="658368"/>
          </a:xfrm>
          <a:prstGeom prst="roundRect">
            <a:avLst>
              <a:gd name="adj" fmla="val 10000"/>
            </a:avLst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727448"/>
            <a:ext cx="74980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生成交互 / 执行闭环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03120" y="4626864"/>
            <a:ext cx="1333500" cy="658368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31136" y="4736592"/>
            <a:ext cx="10774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55555"/>
                </a:solidFill>
                <a:latin typeface="Microsoft YaHei"/>
              </a:rPr>
              <a:t>文本生成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464051" y="4809744"/>
            <a:ext cx="237744" cy="237744"/>
          </a:xfrm>
          <a:prstGeom prst="rightArrow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637787" y="4626864"/>
            <a:ext cx="1333500" cy="658368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65804" y="4736592"/>
            <a:ext cx="10774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55555"/>
                </a:solidFill>
                <a:latin typeface="Microsoft YaHei"/>
              </a:rPr>
              <a:t>网页生成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4998720" y="4809744"/>
            <a:ext cx="237744" cy="237744"/>
          </a:xfrm>
          <a:prstGeom prst="rightArrow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172456" y="4626864"/>
            <a:ext cx="1333500" cy="658368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0471" y="4736592"/>
            <a:ext cx="10774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55555"/>
                </a:solidFill>
                <a:latin typeface="Microsoft YaHei"/>
              </a:rPr>
              <a:t>营销内容生成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6533388" y="4809744"/>
            <a:ext cx="237744" cy="237744"/>
          </a:xfrm>
          <a:prstGeom prst="rightArrow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707124" y="4626864"/>
            <a:ext cx="1333500" cy="658368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35140" y="4736592"/>
            <a:ext cx="10774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55555"/>
                </a:solidFill>
                <a:latin typeface="Microsoft YaHei"/>
              </a:rPr>
              <a:t>流程优化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8068055" y="4809744"/>
            <a:ext cx="237744" cy="237744"/>
          </a:xfrm>
          <a:prstGeom prst="rightArrow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41791" y="4626864"/>
            <a:ext cx="1333500" cy="658368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9807" y="4736592"/>
            <a:ext cx="10774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55555"/>
                </a:solidFill>
                <a:latin typeface="Microsoft YaHei"/>
              </a:rPr>
              <a:t>自动履行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9602723" y="4809744"/>
            <a:ext cx="237744" cy="237744"/>
          </a:xfrm>
          <a:prstGeom prst="rightArrow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776460" y="4626864"/>
            <a:ext cx="1333500" cy="658368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04476" y="4736592"/>
            <a:ext cx="10774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555555"/>
                </a:solidFill>
                <a:latin typeface="Microsoft YaHei"/>
              </a:rPr>
              <a:t>决策制定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8046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C62828"/>
                </a:solidFill>
                <a:latin typeface="Microsoft YaHei"/>
              </a:rPr>
              <a:t>目标业务闭环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0515600" cy="27432"/>
          </a:xfrm>
          <a:prstGeom prst="rect">
            <a:avLst/>
          </a:prstGeom>
          <a:solidFill>
            <a:srgbClr val="F3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69880" cy="731520"/>
          </a:xfrm>
          <a:prstGeom prst="roundRect">
            <a:avLst>
              <a:gd name="adj" fmla="val 10000"/>
            </a:avLst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83664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业务触发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874519"/>
            <a:ext cx="81381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</a:rPr>
              <a:t>营销团队准备针对重点客群发起新一轮增长活动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97480"/>
            <a:ext cx="10469880" cy="269748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07792"/>
            <a:ext cx="9921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闭环流程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10128"/>
            <a:ext cx="1001268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1. 系统读取客户画像、历史活动表现和渠道反馈数据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2. AI 识别高价值客群、潜在流失客群和活动切入点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3. AI 自动生成个性化营销文案、页面建议和活动执行策略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4. 系统自动汇总活动结果并输出复盘分析与下一轮优化建议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5. 对高流失风险客户触发 retention 动作和重点跟进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577840"/>
            <a:ext cx="10469880" cy="594360"/>
          </a:xfrm>
          <a:prstGeom prst="roundRect">
            <a:avLst>
              <a:gd name="adj" fmla="val 10000"/>
            </a:avLst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闭环结果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5660136"/>
            <a:ext cx="81381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20" b="1">
                <a:solidFill>
                  <a:srgbClr val="FFFFFF"/>
                </a:solidFill>
                <a:latin typeface="Microsoft YaHei"/>
              </a:rPr>
              <a:t>形成从客户洞察、内容生成、活动执行、分析复盘到流失干预的营销增长闭环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8046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C62828"/>
                </a:solidFill>
                <a:latin typeface="Microsoft YaHei"/>
              </a:rPr>
              <a:t>原型方向与系统形态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0515600" cy="27432"/>
          </a:xfrm>
          <a:prstGeom prst="rect">
            <a:avLst/>
          </a:prstGeom>
          <a:solidFill>
            <a:srgbClr val="F3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3291840" cy="201168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1168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原型名称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96312"/>
            <a:ext cx="28346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360" b="0">
                <a:solidFill>
                  <a:srgbClr val="555555"/>
                </a:solidFill>
                <a:latin typeface="Microsoft YaHei"/>
              </a:rPr>
              <a:t>营销增长与客户保留工作台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3128" y="1783080"/>
            <a:ext cx="3291840" cy="2011680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8" y="201168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系统形态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496312"/>
            <a:ext cx="28346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360" b="0">
                <a:solidFill>
                  <a:srgbClr val="555555"/>
                </a:solidFill>
                <a:latin typeface="Microsoft YaHei"/>
              </a:rPr>
              <a:t>营销增长与客户保留工作台；目标：把客户洞察、内容生产、活动分析和流失预警集中到一个可操作的工作台中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1783080"/>
            <a:ext cx="3209544" cy="201168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1896" y="2011680"/>
            <a:ext cx="275234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价值落点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1896" y="2496312"/>
            <a:ext cx="2752344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360" b="0">
                <a:solidFill>
                  <a:srgbClr val="555555"/>
                </a:solidFill>
                <a:latin typeface="Microsoft YaHei"/>
              </a:rPr>
              <a:t>让营销团队从多系统切换和人工拼装，转向在一个工作台里完成洞察、生成、复盘和干预。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096512"/>
            <a:ext cx="5212080" cy="2011680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15968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核心流程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773168"/>
            <a:ext cx="466344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1. 选择目标客群、活动目标和重点国家站点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2. 查看 AI 输出的客群洞察、营销策略和风险提示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3. 一键生成内容建议、复盘分析和客户保留动作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4096512"/>
            <a:ext cx="5212080" cy="201168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4315968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工作台范围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773168"/>
            <a:ext cx="466344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1. 客户洞察与客群分层面板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2. 营销内容与活动策略生成区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3. 活动复盘与流失预警行动区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8046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C62828"/>
                </a:solidFill>
                <a:latin typeface="Microsoft YaHei"/>
              </a:rPr>
              <a:t>MVP 原型范围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0515600" cy="27432"/>
          </a:xfrm>
          <a:prstGeom prst="rect">
            <a:avLst/>
          </a:prstGeom>
          <a:solidFill>
            <a:srgbClr val="F3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3291840" cy="201168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1168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目标用户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96312"/>
            <a:ext cx="28346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360" b="0">
                <a:solidFill>
                  <a:srgbClr val="555555"/>
                </a:solidFill>
                <a:latin typeface="Microsoft YaHei"/>
              </a:rPr>
              <a:t>营销负责人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3128" y="1783080"/>
            <a:ext cx="3291840" cy="2011680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8" y="201168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核心任务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496312"/>
            <a:ext cx="28346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360" b="0">
                <a:solidFill>
                  <a:srgbClr val="555555"/>
                </a:solidFill>
                <a:latin typeface="Microsoft YaHei"/>
              </a:rPr>
              <a:t>在一个工作台界面里完成客群洞察查看、活动内容生成、复盘分析和流失干预触发。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1783080"/>
            <a:ext cx="3209544" cy="201168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1896" y="2011680"/>
            <a:ext cx="275234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非目标范围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1896" y="2496312"/>
            <a:ext cx="2752344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360" b="0">
                <a:solidFill>
                  <a:srgbClr val="555555"/>
                </a:solidFill>
                <a:latin typeface="Microsoft YaHei"/>
              </a:rPr>
              <a:t>不接真实营销自动化平台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096512"/>
            <a:ext cx="5212080" cy="2011680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15968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页面清单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773168"/>
            <a:ext cx="466344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1. 客户洞察与客群分层总览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2. 活动策略与内容生成页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3. 活动复盘与效果分析页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4. 流失预警与干预行动页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4096512"/>
            <a:ext cx="5212080" cy="201168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4315968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关键模块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773168"/>
            <a:ext cx="466344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1. 高价值客群与风险客群卡片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2. 营销文案与页面建议面板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3. 活动效果分析图区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4. 流失预警与跟进任务面板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8046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C62828"/>
                </a:solidFill>
                <a:latin typeface="Microsoft YaHei"/>
              </a:rPr>
              <a:t>原型交付与快速开发路径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0515600" cy="27432"/>
          </a:xfrm>
          <a:prstGeom prst="rect">
            <a:avLst/>
          </a:prstGeom>
          <a:solidFill>
            <a:srgbClr val="F3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3291840" cy="201168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1168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交付方式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96312"/>
            <a:ext cx="28346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360" b="0">
                <a:solidFill>
                  <a:srgbClr val="555555"/>
                </a:solidFill>
                <a:latin typeface="Microsoft YaHei"/>
              </a:rPr>
              <a:t>前端壳子优先；推荐技术栈：Next.js + Tailwind CSS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3128" y="1783080"/>
            <a:ext cx="3291840" cy="2011680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8" y="201168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核心交付件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496312"/>
            <a:ext cx="28346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360" b="0">
                <a:solidFill>
                  <a:srgbClr val="555555"/>
                </a:solidFill>
                <a:latin typeface="Microsoft YaHei"/>
              </a:rPr>
              <a:t>方案设计：页面结构、模块布局、交互路径 / 架构设计：展示层、组件层、样例数据层 / 静态页面原型：可现场演示的前端壳子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1783080"/>
            <a:ext cx="3209544" cy="201168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1896" y="2011680"/>
            <a:ext cx="275234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架构原则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1896" y="2496312"/>
            <a:ext cx="2752344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360" b="0">
                <a:solidFill>
                  <a:srgbClr val="555555"/>
                </a:solidFill>
                <a:latin typeface="Microsoft YaHei"/>
              </a:rPr>
              <a:t>页面壳子优先，先保证关键业务路径可演示 / 模块分层组织，页面、组件、样例数据分开维护 / Mock 数据驱动，先不接真实系统接口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096512"/>
            <a:ext cx="5212080" cy="2011680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15968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方案设计与架构设计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773168"/>
            <a:ext cx="466344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1. 方案设计：页面结构、模块布局、交互路径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2. 架构设计：展示层、组件层、样例数据层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3. 静态页面原型：可现场演示的前端壳子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4. 样例数据包：支撑页面演示的 mock 数据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4096512"/>
            <a:ext cx="5212080" cy="201168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4315968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快速开发路径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773168"/>
            <a:ext cx="466344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1. 确认一个重点国家站点和一类目标客群作为试点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2. 准备客户画像、活动结果和流失样本数据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3. 两周内完成工作台原型与验证口径</a:t>
            </a:r>
          </a:p>
          <a:p>
            <a:pPr algn="l">
              <a:spcAft>
                <a:spcPts val="600"/>
              </a:spcAft>
            </a:pPr>
            <a:r>
              <a:rPr sz="1370" b="0">
                <a:solidFill>
                  <a:srgbClr val="555555"/>
                </a:solidFill>
                <a:latin typeface="Microsoft YaHei"/>
              </a:rPr>
              <a:t>4. 基于方案设计文档快速搭建静态页面和样例数据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8046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C62828"/>
                </a:solidFill>
                <a:latin typeface="Microsoft YaHei"/>
              </a:rPr>
              <a:t>能力映射与交付物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0515600" cy="27432"/>
          </a:xfrm>
          <a:prstGeom prst="rect">
            <a:avLst/>
          </a:prstGeom>
          <a:solidFill>
            <a:srgbClr val="F3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6812280" cy="448056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6263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能力卡与产品映射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635508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80" b="0">
                <a:solidFill>
                  <a:srgbClr val="555555"/>
                </a:solidFill>
                <a:latin typeface="Microsoft YaHei"/>
              </a:rPr>
              <a:t>客户画像与客群分层 -&gt; Dynamics 365 Customer Insights, Microsoft Fabric | 交付：客户分群、生命周期洞察与营销切入建议</a:t>
            </a:r>
          </a:p>
          <a:p>
            <a:pPr algn="l">
              <a:spcAft>
                <a:spcPts val="800"/>
              </a:spcAft>
            </a:pPr>
            <a:r>
              <a:rPr sz="1380" b="0">
                <a:solidFill>
                  <a:srgbClr val="555555"/>
                </a:solidFill>
                <a:latin typeface="Microsoft YaHei"/>
              </a:rPr>
              <a:t>营销内容与活动页面生成 -&gt; Azure OpenAI, Azure AI Foundry, Power Pages | 交付：多语言营销内容和活动页面原型</a:t>
            </a:r>
          </a:p>
          <a:p>
            <a:pPr algn="l">
              <a:spcAft>
                <a:spcPts val="800"/>
              </a:spcAft>
            </a:pPr>
            <a:r>
              <a:rPr sz="1380" b="0">
                <a:solidFill>
                  <a:srgbClr val="555555"/>
                </a:solidFill>
                <a:latin typeface="Microsoft YaHei"/>
              </a:rPr>
              <a:t>活动分析与流失预警 -&gt; Microsoft Fabric, Power BI, Power Automate | 交付：活动复盘分析、风险预警与自动化跟进动作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737360"/>
            <a:ext cx="3337560" cy="1920240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956816"/>
            <a:ext cx="2788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推荐产品栈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59152"/>
            <a:ext cx="278892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555555"/>
                </a:solidFill>
                <a:latin typeface="Microsoft YaHei"/>
              </a:rPr>
              <a:t>优先产品栈：Dynamics 365 Customer Insights / Microsoft Fabric / Azure OpenAI / Azure AI Foundry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3977639"/>
            <a:ext cx="3337560" cy="2240280"/>
          </a:xfrm>
          <a:prstGeom prst="roundRect">
            <a:avLst>
              <a:gd name="adj" fmla="val 10000"/>
            </a:avLst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4224528"/>
            <a:ext cx="2788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现场交付物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590288"/>
            <a:ext cx="27889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Microsoft YaHei"/>
              </a:rPr>
              <a:t>现场交付物：方案 PPT / 营销增长与客户保留工作台原型建议 / POC 验证范围与里程碑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8046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C62828"/>
                </a:solidFill>
                <a:latin typeface="Microsoft YaHei"/>
              </a:rPr>
              <a:t>业务价值与验证假设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0515600" cy="27432"/>
          </a:xfrm>
          <a:prstGeom prst="rect">
            <a:avLst/>
          </a:prstGeom>
          <a:solidFill>
            <a:srgbClr val="F3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3246120" cy="448056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93392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业务价值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68880"/>
            <a:ext cx="283464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icrosoft YaHei"/>
              </a:rPr>
              <a:t>缩短从客户洞察到活动上线的准备周期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icrosoft YaHei"/>
              </a:rPr>
              <a:t>提升个性化营销内容和页面生产效率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icrosoft YaHei"/>
              </a:rPr>
              <a:t>让活动分析结果更快回流到下一轮增长动作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icrosoft YaHei"/>
              </a:rPr>
              <a:t>更早识别高流失风险客户并启动保留干预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62272" y="1783080"/>
            <a:ext cx="3246120" cy="4480560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93392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关键指标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468880"/>
            <a:ext cx="283464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icrosoft YaHei"/>
              </a:rPr>
              <a:t>营销活动准备周期缩短 40%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icrosoft YaHei"/>
              </a:rPr>
              <a:t>内容与页面生产效率提升 50%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icrosoft YaHei"/>
              </a:rPr>
              <a:t>活动复盘出具时间缩短 60%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icrosoft YaHei"/>
              </a:rPr>
              <a:t>高流失风险客户识别准确率达到 80%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1783080"/>
            <a:ext cx="3246120" cy="448056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993392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POC 验证点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2468880"/>
            <a:ext cx="283464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icrosoft YaHei"/>
              </a:rPr>
              <a:t>1. 客户分层和流失判断的业务可解释性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icrosoft YaHei"/>
              </a:rPr>
              <a:t>2. 营销内容与页面生成结果的可用性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icrosoft YaHei"/>
              </a:rPr>
              <a:t>3. 活动复盘结果对下一轮增长动作的指导价值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8046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C62828"/>
                </a:solidFill>
                <a:latin typeface="Microsoft YaHei"/>
              </a:rPr>
              <a:t>POC 与下一步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0515600" cy="27432"/>
          </a:xfrm>
          <a:prstGeom prst="rect">
            <a:avLst/>
          </a:prstGeom>
          <a:solidFill>
            <a:srgbClr val="F3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69880" cy="731520"/>
          </a:xfrm>
          <a:prstGeom prst="roundRect">
            <a:avLst>
              <a:gd name="adj" fmla="val 10000"/>
            </a:avLst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83664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icrosoft YaHei"/>
              </a:rPr>
              <a:t>POC 范围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874519"/>
            <a:ext cx="81381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20" b="1">
                <a:solidFill>
                  <a:srgbClr val="FFFFFF"/>
                </a:solidFill>
                <a:latin typeface="Microsoft YaHei"/>
              </a:rPr>
              <a:t>优先验证客户洞察、营销内容生成、活动复盘和流失预警四段闭环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743200"/>
            <a:ext cx="4983480" cy="3383280"/>
          </a:xfrm>
          <a:prstGeom prst="roundRect">
            <a:avLst>
              <a:gd name="adj" fmla="val 10000"/>
            </a:avLst>
          </a:prstGeom>
          <a:solidFill>
            <a:srgbClr val="F8F4F4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71800"/>
            <a:ext cx="4434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关键角色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474720"/>
            <a:ext cx="4434840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营销负责人</a:t>
            </a:r>
          </a:p>
          <a:p>
            <a:pPr algn="l">
              <a:spcAft>
                <a:spcPts val="10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CRM 运营负责人</a:t>
            </a:r>
          </a:p>
          <a:p>
            <a:pPr algn="l">
              <a:spcAft>
                <a:spcPts val="10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电商业务负责人</a:t>
            </a:r>
          </a:p>
          <a:p>
            <a:pPr algn="l">
              <a:spcAft>
                <a:spcPts val="10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数据 / 数字化团队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743200"/>
            <a:ext cx="4983480" cy="3383280"/>
          </a:xfrm>
          <a:prstGeom prst="roundRect">
            <a:avLst>
              <a:gd name="adj" fmla="val 10000"/>
            </a:avLst>
          </a:prstGeom>
          <a:solidFill>
            <a:srgbClr val="F3EDED"/>
          </a:solidFill>
          <a:ln w="10160">
            <a:solidFill>
              <a:srgbClr val="E9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971800"/>
            <a:ext cx="4434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50" b="1">
                <a:solidFill>
                  <a:srgbClr val="C62828"/>
                </a:solidFill>
                <a:latin typeface="Microsoft YaHei"/>
              </a:rPr>
              <a:t>后续动作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474720"/>
            <a:ext cx="4434840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1. 确认一个重点国家站点和一类目标客群作为试点</a:t>
            </a:r>
          </a:p>
          <a:p>
            <a:pPr algn="l">
              <a:spcAft>
                <a:spcPts val="10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2. 准备客户画像、活动结果和流失样本数据</a:t>
            </a:r>
          </a:p>
          <a:p>
            <a:pPr algn="l">
              <a:spcAft>
                <a:spcPts val="1000"/>
              </a:spcAft>
            </a:pPr>
            <a:r>
              <a:rPr sz="1450" b="0">
                <a:solidFill>
                  <a:srgbClr val="555555"/>
                </a:solidFill>
                <a:latin typeface="Microsoft YaHei"/>
              </a:rPr>
              <a:t>3. 两周内完成工作台原型与验证口径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