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企业知识问答与培训助手</a:t>
            </a:r>
          </a:p>
          <a:p>
            <a:r>
              <a:t>- 该场景围绕内部知识沉淀与培训场景，连接制度文档、项目案例和常见问答，帮助员工快速获取答案和培训内容，同时把答疑过程持续沉淀为组织知识资产。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该场景围绕内部知识沉淀与培训场景，连接制度文档、项目案例和常见问答，帮助员工快速获取答案和培训内容，同时把答疑过程持续沉淀为组织知识资产。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解决方案架构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原型与 MVP 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88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94192" y="896112"/>
            <a:ext cx="1847088" cy="384048"/>
          </a:xfrm>
          <a:prstGeom prst="roundRect">
            <a:avLst>
              <a:gd name="adj" fmla="val 6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0496" y="987552"/>
            <a:ext cx="15544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A63A2B"/>
                </a:solidFill>
                <a:latin typeface="Arial"/>
              </a:rPr>
              <a:t>AI Discovery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7D75"/>
                </a:solidFill>
                <a:latin typeface="Microsoft YaHei"/>
              </a:rPr>
              <a:t>客户：企业知识问答与培训助手 | 行业：专业服务 · 现场共创组 · 日期 2026-05-17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A63A2B"/>
                </a:solidFill>
                <a:latin typeface="Microsoft YaHei"/>
              </a:rPr>
              <a:t>企业知识问答与培训助手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A7D75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让培训与知识管理负责人先在一个统一工作台里看到 AI 对知识问答、培训整理和组织沉淀的直接价值。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0672" y="4133087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4215383"/>
            <a:ext cx="351129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客户与行业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4379975"/>
            <a:ext cx="3511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客户：企业知识问答与培训助手 | 行业：专业服务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4133087"/>
            <a:ext cx="2633472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4215383"/>
            <a:ext cx="230428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小组与日期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4379975"/>
            <a:ext cx="23042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小组：现场共创组 · 日期：2026-05-17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员工在文档库、群聊和同事经验中分散查找制度与项目知识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培训负责人手动整理培训材料和常见问答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员工遇到复杂问题时重复向专家或老员工求助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4. 专家人工回答后缺少标准化沉淀与复用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知识分散在多个载体中，查找成本高且答案口径不一致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新员工培训依赖人工整理和专家带教，周期长、效率低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重复性答疑无法有效沉淀为可复用的培训资产和知识资产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优先切口：知识分散在多个载体中，查找成本高且答案口径不一致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企业知识问答与培训助手是一个适合优先验证的业务机会，因为它能同时解决知识复用效率和培训交付效率两个高频问题。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1071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2160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企业已经积累了大量制度文档、项目案例和常见问答，现在具备条件把分散知识转成可检索、可问答、可培训的统一入口。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7375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18464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新员工培训和日常答疑都依赖少数专家，边际成本高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1920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智能体类卡片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OCR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表单理解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文本理解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用户意图识别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数据分析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自动回答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自然对话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文本生成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流程优化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生产力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员工发起知识查询、培训学习或业务答疑请求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核心流程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9576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3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1. 系统接入制度文档、项目案例、FAQ 和培训资料并完成解析整理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00476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19932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7948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1956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6236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2. AI 识别用户问题意图、角色背景和所需知识范围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8849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8305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6321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0329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609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3. 系统基于统一知识库检索相关内容并生成问答结果与学习建议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7222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56678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4694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702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2982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4. AI 自动整理培训要点、推荐学习路径和可复用材料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05595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5051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53067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7075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1355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5. 用户反馈与专家补充内容回写知识库，持续优化问答与培训内容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961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4243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715000"/>
            <a:ext cx="81838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FFFFFF"/>
                </a:solidFill>
                <a:latin typeface="Microsoft YaHei"/>
              </a:rPr>
              <a:t>形成统一的知识问答、培训推荐和内容沉淀闭环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解决方案架构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Microsoft YaHei"/>
              </a:rPr>
              <a:t>闭环目标：形成统一的知识问答、培训推荐和内容沉淀闭环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3822191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89504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企业知识问答与培训助手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3310128"/>
            <a:ext cx="2249424" cy="223113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3310128"/>
            <a:ext cx="2249424" cy="438912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419856"/>
            <a:ext cx="202996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91363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1">
                <a:solidFill>
                  <a:srgbClr val="4E433D"/>
                </a:solidFill>
                <a:latin typeface="Arial"/>
              </a:rPr>
              <a:t>场景输入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4315968"/>
            <a:ext cx="1956816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4E433D"/>
                </a:solidFill>
                <a:latin typeface="Microsoft YaHei"/>
              </a:rPr>
              <a:t>智能体类卡片 / OCR / 表单理解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83279" y="4297680"/>
            <a:ext cx="146304" cy="182880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4448" y="3310128"/>
            <a:ext cx="2249424" cy="2231136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84448" y="3310128"/>
            <a:ext cx="2249424" cy="438912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3419856"/>
            <a:ext cx="202996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91363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1">
                <a:solidFill>
                  <a:srgbClr val="4E433D"/>
                </a:solidFill>
                <a:latin typeface="Arial"/>
              </a:rPr>
              <a:t>智能分析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4315968"/>
            <a:ext cx="1956816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4E433D"/>
                </a:solidFill>
                <a:latin typeface="Microsoft YaHei"/>
              </a:rPr>
              <a:t>文本理解 / 用户意图识别 / 数据分析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88736" y="4297680"/>
            <a:ext cx="146304" cy="182880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9904" y="3310128"/>
            <a:ext cx="2249424" cy="223113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9904" y="3310128"/>
            <a:ext cx="2249424" cy="438912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3419856"/>
            <a:ext cx="202996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91363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1">
                <a:solidFill>
                  <a:srgbClr val="4E433D"/>
                </a:solidFill>
                <a:latin typeface="Arial"/>
              </a:rPr>
              <a:t>业务工作台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315968"/>
            <a:ext cx="1956816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4E433D"/>
                </a:solidFill>
                <a:latin typeface="Microsoft YaHei"/>
              </a:rPr>
              <a:t>企业知识问答与培训助手工作台，覆盖知识总览页、问答检索页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94192" y="4297680"/>
            <a:ext cx="146304" cy="182880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0" y="3310128"/>
            <a:ext cx="2249424" cy="2231136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95360" y="3310128"/>
            <a:ext cx="2249424" cy="438912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3419856"/>
            <a:ext cx="202996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391363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1">
                <a:solidFill>
                  <a:srgbClr val="4E433D"/>
                </a:solidFill>
                <a:latin typeface="Arial"/>
              </a:rPr>
              <a:t>闭环反馈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4" y="4315968"/>
            <a:ext cx="1956816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4E433D"/>
                </a:solidFill>
                <a:latin typeface="Microsoft YaHei"/>
              </a:rPr>
              <a:t>流程优化 / 生产力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6656832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67939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落地能力与产品支撑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6711696"/>
            <a:ext cx="47731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E433D"/>
                </a:solidFill>
                <a:latin typeface="Microsoft YaHei"/>
              </a:rPr>
              <a:t>多源文档接入与结构化解析：文档解析与知识入库底座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6885432"/>
            <a:ext cx="47731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E433D"/>
                </a:solidFill>
                <a:latin typeface="Microsoft YaHei"/>
              </a:rPr>
              <a:t>统一检索与知识问答：RAG 问答与知识推荐助手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6729984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6812280"/>
            <a:ext cx="1024128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4E433D"/>
                </a:solidFill>
                <a:latin typeface="Microsoft YaHei"/>
              </a:rPr>
              <a:t>多源文档接入与结构化解析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6729984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7152" y="6812280"/>
            <a:ext cx="1024128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4E433D"/>
                </a:solidFill>
                <a:latin typeface="Microsoft YaHei"/>
              </a:rPr>
              <a:t>Azure AI Document Intelligence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05872" y="6729984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79024" y="6812280"/>
            <a:ext cx="1024128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4E433D"/>
                </a:solidFill>
                <a:latin typeface="Microsoft YaHei"/>
              </a:rPr>
              <a:t>Microsoft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多源文档接入与结构化解析 -&gt; Azure AI Document Intelligence, Microsoft Graph | 交付：文档解析与知识入库底座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统一检索与知识问答 -&gt; Azure AI Search, Azure OpenAI | 交付：RAG 问答与知识推荐助手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培训内容生成与工作台协同 -&gt; Azure OpenAI, Power Apps | 交付：培训工作台与内容整理原型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优先产品栈：Azure AI Document Intelligence / Microsoft Graph / Azure AI Search / Azure 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现场交付物：Workshop 定制化 PPT / 知识问答与培训 AI Flow / POC 验证范围与原型规格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缩短员工获取知识和培训内容的时间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降低专家重复答疑投入，提升知识复用率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把答疑记录和培训材料持续沉淀为可运营的企业知识资产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知识检索时间下降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重复性答疑量下降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新员工培训准备周期下降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1. 知识问答命中率和回答可用性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2. 培训内容整理与推荐是否显著降低人工整理成本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3. 专家补充与知识回写流程是否可持续运行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原型与 MVP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6916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原型摘要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7269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企业知识问答与培训助手工作台；目标用户：培训与知识管理负责人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企业知识问答与培训助手工作台；目标：把知识检索、智能问答、培训内容整理和知识回写整合到一个统一工作台中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前端壳子优先；核心任务：快速生成一版知识问答与培训方案，验证统一入口、问答推荐和培训内容整理的价值。；技术栈：Next.js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MVP 页面范围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知识总览页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智能问答页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培训内容整理页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知识回写页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0328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确认首批接入的制度文档、项目案例和 FAQ 范围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选择一个高频培训主题和一类典型答疑问题作为试点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输出工作台原型范围、样例数据和 POC 验证口径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基于方案设计文档快速搭建静态页面和样例数据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828800"/>
            <a:ext cx="2103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先验证知识接入整理、统一问答推荐和培训内容生成三段闭环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培训与知识管理负责人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业务专家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IT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1. 确认首批接入的制度文档、项目案例和 FAQ 范围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2. 选择一个高频培训主题和一类典型答疑问题作为试点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3. 输出工作台原型范围、样例数据和 POC 验证口径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743200"/>
            <a:ext cx="196596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