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设备状态驱动的主动服务闭环</a:t>
            </a:r>
          </a:p>
          <a:p>
            <a:r>
              <a:t>- 该场景把设备状态、知识检索和服务动作串成闭环，适合用于展示 IoT 企业如何从联网设备走向智能服务。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业务机会与 Why Now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当前差距与优先痛点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客户现场卡片流程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目标 AI Flow</a:t>
            </a:r>
          </a:p>
          <a:p>
            <a:r>
              <a:t>- 该场景把设备状态、知识检索和服务动作串成闭环，适合用于展示 IoT 企业如何从联网设备走向智能服务。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原型方向与系统形态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MVP 原型范围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原型交付与快速开发路径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能力映射与交付物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业务价值与验证假设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POC 与下一步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68880" cy="6858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732520" y="502920"/>
            <a:ext cx="1920240" cy="493776"/>
          </a:xfrm>
          <a:prstGeom prst="round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AI DISCOVERY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8076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</a:rPr>
              <a:t>某消费电子客户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804672"/>
            <a:ext cx="7863840" cy="47548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90672" y="1024128"/>
            <a:ext cx="6858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99999"/>
                </a:solidFill>
                <a:latin typeface="Microsoft YaHei"/>
              </a:rPr>
              <a:t>客户：某消费电子客户 | 行业：消费电子 IoT · 第 1 组 · 日期 2026-05-22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0672" y="1389888"/>
            <a:ext cx="6812280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C62828"/>
                </a:solidFill>
                <a:latin typeface="Microsoft YaHei"/>
              </a:rPr>
              <a:t>设备状态驱动的主动服务闭环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523744"/>
            <a:ext cx="5852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999999"/>
                </a:solidFill>
                <a:latin typeface="Microsoft YaHei"/>
              </a:rPr>
              <a:t>AI Discovery Workshop 商机与原型方案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90672" y="2926080"/>
            <a:ext cx="6894576" cy="896112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0128" y="3163824"/>
            <a:ext cx="64465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让客服从人工翻资料和找专家，转向在一个工作台里完成理解、回复和动作触发。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90672" y="4133087"/>
            <a:ext cx="3456432" cy="658368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55264" y="4215383"/>
            <a:ext cx="3127248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99999"/>
                </a:solidFill>
                <a:latin typeface="Arial"/>
              </a:rPr>
              <a:t>客户与行业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55264" y="4379975"/>
            <a:ext cx="31272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  <a:latin typeface="Microsoft YaHei"/>
              </a:rPr>
              <a:t>客户：某消费电子客户 | 行业：消费电子 IoT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11696" y="4133087"/>
            <a:ext cx="2084831" cy="658368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76288" y="4215383"/>
            <a:ext cx="1755648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99999"/>
                </a:solidFill>
                <a:latin typeface="Arial"/>
              </a:rPr>
              <a:t>小组与日期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4379975"/>
            <a:ext cx="17556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  <a:latin typeface="Microsoft YaHei"/>
              </a:rPr>
              <a:t>小组：第 1 组 · 日期：2026-05-22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4133087"/>
            <a:ext cx="1024128" cy="658368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25712" y="4215383"/>
            <a:ext cx="694944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99999"/>
                </a:solidFill>
                <a:latin typeface="Arial"/>
              </a:rPr>
              <a:t>Workshop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2" y="4379975"/>
            <a:ext cx="694944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55555"/>
                </a:solidFill>
                <a:latin typeface="Microsoft YaHei"/>
              </a:rPr>
              <a:t>Workshop：AI Discovery Card Workshop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业务机会与 Why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91840" cy="438912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机会判断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06040"/>
            <a:ext cx="2834640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从传统被动售后走向设备状态驱动的主动服务，是消费电子 IoT 企业从卖设备升级到卖持续服务的重要切口。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783080"/>
            <a:ext cx="3291840" cy="438912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为什么是现在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606040"/>
            <a:ext cx="2834640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客户已经具备联网设备、基础遥测或 App 服务能力，现在缺的是把数据、知识和服务动作真正串起来的 AI 闭环。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783080"/>
            <a:ext cx="3209544" cy="438912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6" y="2011680"/>
            <a:ext cx="27523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价值支撑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2606040"/>
            <a:ext cx="2752344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服务体验正在成为消费电子品牌的差异化关键点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当前差距与优先痛点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438912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6596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现状流程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526280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用户反馈问题或客服收到报修请求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客服人工确认设备型号、状态和历史记录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人工搜索 FAQ、维修手册或类似工单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4. 复杂问题转交专家或售后工程师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120640" cy="301752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关键痛点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50592"/>
            <a:ext cx="457200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客服定位问题慢，复杂问题需要频繁升级专家。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设备状态、错误码和知识库内容分散，诊断慢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客服培训和经验依赖高，回答质量不稳定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983480"/>
            <a:ext cx="5120640" cy="114300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5266944"/>
            <a:ext cx="4480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Microsoft YaHei"/>
              </a:rPr>
              <a:t>优先切口：客服定位问题慢，复杂问题需要频繁升级专家。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客户现场卡片流程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55648"/>
            <a:ext cx="10469880" cy="45262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993392"/>
            <a:ext cx="1051560" cy="658368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93976"/>
            <a:ext cx="7498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业务场景 / 输入感知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1993392"/>
            <a:ext cx="1333500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31136" y="2103120"/>
            <a:ext cx="10774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智能体类卡片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464051" y="2176272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37787" y="1993392"/>
            <a:ext cx="1333500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65804" y="2103120"/>
            <a:ext cx="10774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了解客户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998720" y="2176272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72456" y="1993392"/>
            <a:ext cx="1333500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0471" y="2103120"/>
            <a:ext cx="10774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语音识别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533388" y="2176272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07124" y="1993392"/>
            <a:ext cx="1333500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5140" y="2103120"/>
            <a:ext cx="10774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OCR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068055" y="2176272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41791" y="1993392"/>
            <a:ext cx="1333500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9807" y="2103120"/>
            <a:ext cx="10774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设备状态数据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602723" y="2176272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776460" y="1993392"/>
            <a:ext cx="1333500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04476" y="2103120"/>
            <a:ext cx="10774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文本输入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3310128"/>
            <a:ext cx="1051560" cy="658368"/>
          </a:xfrm>
          <a:prstGeom prst="roundRect">
            <a:avLst>
              <a:gd name="adj" fmla="val 1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410712"/>
            <a:ext cx="7498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理解分析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03120" y="3310128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31136" y="3419856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异常检测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3703320" y="3493008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877056" y="3310128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05072" y="3419856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用户意图识别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477256" y="3493008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650992" y="3310128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79007" y="3419856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识别客户意图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7251192" y="3493008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424928" y="3310128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3419856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风险预测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" y="4626864"/>
            <a:ext cx="1051560" cy="658368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4727448"/>
            <a:ext cx="7498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生成交互 / 执行闭环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103120" y="4626864"/>
            <a:ext cx="1333500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31136" y="4736592"/>
            <a:ext cx="10774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自动回答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3464051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637787" y="4626864"/>
            <a:ext cx="1333500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65804" y="4736592"/>
            <a:ext cx="10774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自然对话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4998720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172456" y="4626864"/>
            <a:ext cx="1333500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00471" y="4736592"/>
            <a:ext cx="10774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文本生成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6533388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707124" y="4626864"/>
            <a:ext cx="1333500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35140" y="4736592"/>
            <a:ext cx="10774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流程优化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8068055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241791" y="4626864"/>
            <a:ext cx="1333500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69807" y="4736592"/>
            <a:ext cx="10774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自动履行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9602723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776460" y="4626864"/>
            <a:ext cx="1333500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904476" y="4736592"/>
            <a:ext cx="107746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人机交互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目标业务闭环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469880" cy="73152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8366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业务触发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874519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</a:rPr>
              <a:t>用户发起售后咨询或系统识别到设备异常趋势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97480"/>
            <a:ext cx="10469880" cy="26974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07792"/>
            <a:ext cx="9921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闭环流程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310128"/>
            <a:ext cx="1001268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系统读取设备实时状态、历史工单和知识库内容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AI 识别问题类型并判断故障风险和优先级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AI 生成处理建议、回复话术或自助排障步骤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4. 复杂问题自动升级人工或创建售后任务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5. 系统回写处理结果并沉淀为后续主动服务依据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577840"/>
            <a:ext cx="10469880" cy="594360"/>
          </a:xfrm>
          <a:prstGeom prst="roundRect">
            <a:avLst>
              <a:gd name="adj" fmla="val 1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669280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闭环结果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5660136"/>
            <a:ext cx="8138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20" b="1">
                <a:solidFill>
                  <a:srgbClr val="FFFFFF"/>
                </a:solidFill>
                <a:latin typeface="Microsoft YaHei"/>
              </a:rPr>
              <a:t>形成从问题识别、服务响应到经验沉淀的售后闭环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原型方向与系统形态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原型名称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智能售后服务工作台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系统形态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智能售后服务工作台；目标：为客服和售后人员提供一个结合设备状态、知识库和工单的统一诊断与响应入口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783080"/>
            <a:ext cx="3209544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6" y="2011680"/>
            <a:ext cx="27523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价值落点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2496312"/>
            <a:ext cx="2752344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让客服从人工翻资料和找专家，转向在一个工作台里完成理解、回复和动作触发。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核心流程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输入设备编号或自动读取设备上下文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展示设备状态、历史工单和推荐诊断结果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一键生成客户回复、排障建议和升级动作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工作台范围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设备状态面板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知识问答区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处理建议与工单动作区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MVP 原型范围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目标用户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售后负责人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核心任务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希望提升首响效率，并形成主动服务闭环。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783080"/>
            <a:ext cx="3209544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6" y="2011680"/>
            <a:ext cx="27523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非目标范围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2496312"/>
            <a:ext cx="2752344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不接真实后端接口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页面清单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设备状态面板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知识问答区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处理建议与工单动作区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关键模块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设备状态面板 模块区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知识问答区 模块区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处理建议与工单动作区 模块区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4. 系统读取设备实时状态、历史工单和知识库内容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原型交付与快速开发路径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交付方式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前端壳子优先；推荐技术栈：Next.js + Tailwind CSS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核心交付件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方案设计：页面结构、模块布局、交互路径 / 架构设计：展示层、组件层、样例数据层 / 静态页面原型：可现场演示的前端壳子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783080"/>
            <a:ext cx="3209544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6" y="2011680"/>
            <a:ext cx="27523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架构原则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2496312"/>
            <a:ext cx="2752344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页面壳子优先，先保证关键业务路径可演示 / 模块分层组织，页面、组件、样例数据分开维护 / Mock 数据驱动，先不接真实系统接口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方案设计与架构设计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方案设计：页面结构、模块布局、交互路径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架构设计：展示层、组件层、样例数据层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静态页面原型：可现场演示的前端壳子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4. 样例数据包：支撑页面演示的 mock 数据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快速开发路径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确认目标设备范围和工单样本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选择一个售后流程作为试点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两周内形成工作台原型和验证清单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4. 基于方案设计文档快速搭建静态页面和样例数据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能力映射与交付物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6812280" cy="448056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6263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能力卡与产品映射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87168"/>
            <a:ext cx="6355080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80" b="0">
                <a:solidFill>
                  <a:srgbClr val="555555"/>
                </a:solidFill>
                <a:latin typeface="Microsoft YaHei"/>
              </a:rPr>
              <a:t>设备状态与消息接入 -&gt; EMQX, DataLayers | 交付：设备连接与状态底座</a:t>
            </a:r>
          </a:p>
          <a:p>
            <a:pPr algn="l">
              <a:spcAft>
                <a:spcPts val="800"/>
              </a:spcAft>
            </a:pPr>
            <a:r>
              <a:rPr sz="1380" b="0">
                <a:solidFill>
                  <a:srgbClr val="555555"/>
                </a:solidFill>
                <a:latin typeface="Microsoft YaHei"/>
              </a:rPr>
              <a:t>知识问答与诊断建议 -&gt; Azure AI Foundry, Azure AI Search | 交付：RAG 问答与诊断助手</a:t>
            </a:r>
          </a:p>
          <a:p>
            <a:pPr algn="l">
              <a:spcAft>
                <a:spcPts val="800"/>
              </a:spcAft>
            </a:pPr>
            <a:r>
              <a:rPr sz="1380" b="0">
                <a:solidFill>
                  <a:srgbClr val="555555"/>
                </a:solidFill>
                <a:latin typeface="Microsoft YaHei"/>
              </a:rPr>
              <a:t>服务流程与工单联动 -&gt; Dynamics 365 Customer Service, Power Automate | 交付：服务闭环与任务流转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737360"/>
            <a:ext cx="3337560" cy="192024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56816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推荐产品栈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359152"/>
            <a:ext cx="278892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5555"/>
                </a:solidFill>
                <a:latin typeface="Microsoft YaHei"/>
              </a:rPr>
              <a:t>优先产品栈：EMQX / DataLayers / Azure AI Foundry / Azure AI 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3977639"/>
            <a:ext cx="3337560" cy="224028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224528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现场交付物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590288"/>
            <a:ext cx="2788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Microsoft YaHei"/>
              </a:rPr>
              <a:t>现场交付物：场景设计图 / 技术参考架构 / 原型方向建议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业务价值与验证假设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业务价值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468880"/>
            <a:ext cx="283464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希望提升首响效率，并形成主动服务闭环。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缩短售后问题定位时间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提升首响效率与客服标准化水平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为主动服务和会员运营打基础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2272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933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关键指标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468880"/>
            <a:ext cx="283464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首响时间下降 30%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知识检索与诊断时间下降 50%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复杂问题升级效率提升 25%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9933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POC 验证点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468880"/>
            <a:ext cx="283464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1. 故障识别与知识召回准确度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2. 客服回复建议的可用性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3. 工单或升级动作的可执行性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POC 与下一步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469880" cy="73152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8366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POC 范围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874519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Microsoft YaHei"/>
              </a:rPr>
              <a:t>先验证设备状态读取、知识问答和服务动作联动三段闭环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43200"/>
            <a:ext cx="4983480" cy="33832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关键角色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74720"/>
            <a:ext cx="443484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售后负责人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客服主管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IoT / 数字化平台主管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743200"/>
            <a:ext cx="4983480" cy="33832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97180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后续动作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474720"/>
            <a:ext cx="443484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确认目标设备范围和工单样本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选择一个售后流程作为试点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两周内形成工作台原型和验证清单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