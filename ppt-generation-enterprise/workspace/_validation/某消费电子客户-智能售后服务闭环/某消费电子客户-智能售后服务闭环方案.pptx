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智能售后服务闭环</a:t>
            </a:r>
          </a:p>
          <a:p>
            <a:r>
              <a:t>- 这个场景聚焦客服与售后协同最典型的高频链路，用一个工作台把数据读取、问题识别、回复生成与服务动作联动起来，便于快速验证 AI 的直接业务价值。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业务机会与 Why Now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当前差距与优先痛点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客户现场卡片流程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目标 AI Flow</a:t>
            </a:r>
          </a:p>
          <a:p>
            <a:r>
              <a:t>- 这个场景聚焦客服与售后协同最典型的高频链路，用一个工作台把数据读取、问题识别、回复生成与服务动作联动起来，便于快速验证 AI 的直接业务价值。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原型方向与系统形态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MVP 原型范围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原型交付与快速开发路径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能力映射与交付物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业务价值与验证假设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POC 与下一步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68880" cy="6858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732520" y="502920"/>
            <a:ext cx="1920240" cy="493776"/>
          </a:xfrm>
          <a:prstGeom prst="round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AI DISCOVERY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8076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</a:rPr>
              <a:t>某消费电子客户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804672"/>
            <a:ext cx="7863840" cy="47548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90672" y="1024128"/>
            <a:ext cx="6858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99999"/>
                </a:solidFill>
                <a:latin typeface="Microsoft YaHei"/>
              </a:rPr>
              <a:t>客户：某消费电子客户 | 行业：消费电子 IoT · 第 1 组 · 日期 2026-05-08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0672" y="1389888"/>
            <a:ext cx="6812280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C62828"/>
                </a:solidFill>
                <a:latin typeface="Microsoft YaHei"/>
              </a:rPr>
              <a:t>智能售后服务闭环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523744"/>
            <a:ext cx="5852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999999"/>
                </a:solidFill>
                <a:latin typeface="Microsoft YaHei"/>
              </a:rPr>
              <a:t>AI Discovery Workshop 商机与原型方案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90672" y="2926080"/>
            <a:ext cx="6894576" cy="896112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0128" y="3163824"/>
            <a:ext cx="64465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让客服从人工翻资料、人工找专家，转向在一个工作台里完成识别、回复、排障和动作触发。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90672" y="4133087"/>
            <a:ext cx="3456432" cy="658368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55264" y="4215383"/>
            <a:ext cx="3127248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99999"/>
                </a:solidFill>
                <a:latin typeface="Arial"/>
              </a:rPr>
              <a:t>客户与行业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55264" y="4379975"/>
            <a:ext cx="31272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55555"/>
                </a:solidFill>
                <a:latin typeface="Microsoft YaHei"/>
              </a:rPr>
              <a:t>客户：某消费电子客户 | 行业：消费电子 IoT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11696" y="4133087"/>
            <a:ext cx="2084831" cy="658368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76288" y="4215383"/>
            <a:ext cx="1755648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99999"/>
                </a:solidFill>
                <a:latin typeface="Arial"/>
              </a:rPr>
              <a:t>小组与日期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4379975"/>
            <a:ext cx="17556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55555"/>
                </a:solidFill>
                <a:latin typeface="Microsoft YaHei"/>
              </a:rPr>
              <a:t>小组：第 1 组 · 日期：2026-05-08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4133087"/>
            <a:ext cx="1024128" cy="658368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25712" y="4215383"/>
            <a:ext cx="694944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99999"/>
                </a:solidFill>
                <a:latin typeface="Arial"/>
              </a:rPr>
              <a:t>Workshop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2" y="4379975"/>
            <a:ext cx="694944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55555"/>
                </a:solidFill>
                <a:latin typeface="Microsoft YaHei"/>
              </a:rPr>
              <a:t>Workshop：AI Discovery Card Workshop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业务机会与 Why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91840" cy="438912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机会判断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06040"/>
            <a:ext cx="2834640" cy="3246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把传统售后从人工查资料、人工找专家升级为设备状态驱动的智能服务闭环，是消费电子 IoT 企业提升服务体验与运营效率的直接切口。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783080"/>
            <a:ext cx="3291840" cy="438912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为什么是现在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606040"/>
            <a:ext cx="2834640" cy="3246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企业通常已经沉淀了设备状态数据、历史工单和 FAQ，但这些资产分散在不同系统中，正适合通过 AI 工作台快速验证串联价值。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783080"/>
            <a:ext cx="3209544" cy="438912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1896" y="2011680"/>
            <a:ext cx="27523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价值支撑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2606040"/>
            <a:ext cx="2752344" cy="3246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服务体验正在成为消费电子品牌差异化的重要抓手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当前差距与优先痛点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438912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96596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现状流程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526280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客户报修后，客服需要人工确认设备型号、状态和问题描述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客服切换多个系统查看历史工单、FAQ 和维修资料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问题判断依赖个人经验，回复质量与处理速度波动较大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4. 复杂问题频繁升级专家或二线支持，服务链路变长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120640" cy="301752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关键痛点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50592"/>
            <a:ext cx="457200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设备状态、历史工单和知识资料彼此割裂，诊断定位慢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客服定位问题慢，复杂问题升级频繁，首响效率受影响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人工查资料和找专家的模式导致服务成本高且稳定性差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983480"/>
            <a:ext cx="5120640" cy="114300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5266944"/>
            <a:ext cx="4480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Microsoft YaHei"/>
              </a:rPr>
              <a:t>优先切口：设备状态、历史工单和知识资料彼此割裂，诊断定位慢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客户现场卡片流程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55648"/>
            <a:ext cx="10469880" cy="45262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993392"/>
            <a:ext cx="1051560" cy="658368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93976"/>
            <a:ext cx="7498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业务场景 / 输入感知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1993392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31136" y="2103120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智能体类卡片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703320" y="2176272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77056" y="1993392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05072" y="2103120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OCR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10128"/>
            <a:ext cx="1051560" cy="658368"/>
          </a:xfrm>
          <a:prstGeom prst="roundRect">
            <a:avLst>
              <a:gd name="adj" fmla="val 10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410712"/>
            <a:ext cx="7498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理解分析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03120" y="3310128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31136" y="3419856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用户意图识别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703320" y="3493008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77056" y="3310128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05072" y="3419856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异常检测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626864"/>
            <a:ext cx="1051560" cy="658368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727448"/>
            <a:ext cx="7498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生成交互 / 执行闭环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03120" y="4626864"/>
            <a:ext cx="1333500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31136" y="4736592"/>
            <a:ext cx="10774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自动回答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464051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637787" y="4626864"/>
            <a:ext cx="1333500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65804" y="4736592"/>
            <a:ext cx="10774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自然对话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998720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172456" y="4626864"/>
            <a:ext cx="1333500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0471" y="4736592"/>
            <a:ext cx="10774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文本生成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6533388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707124" y="4626864"/>
            <a:ext cx="1333500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35140" y="4736592"/>
            <a:ext cx="10774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流程优化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8068055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241791" y="4626864"/>
            <a:ext cx="1333500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9807" y="4736592"/>
            <a:ext cx="10774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自动履行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9602723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776460" y="4626864"/>
            <a:ext cx="1333500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04476" y="4736592"/>
            <a:ext cx="10774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人机交互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目标业务闭环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469880" cy="73152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8366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业务触发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874519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Microsoft YaHei"/>
              </a:rPr>
              <a:t>用户报修或客服接单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97480"/>
            <a:ext cx="10469880" cy="26974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07792"/>
            <a:ext cx="9921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闭环流程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310128"/>
            <a:ext cx="1001268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系统读取设备状态、历史工单与 FAQ 等知识资料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AI 判断问题类型、风险等级和处理优先级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AI 生成客户回复与排障建议，支持一线客服快速响应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4. 复杂问题自动升级工单或转交专家继续处理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5. 处理结果回写知识库与服务系统，持续沉淀经验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577840"/>
            <a:ext cx="10469880" cy="594360"/>
          </a:xfrm>
          <a:prstGeom prst="roundRect">
            <a:avLst>
              <a:gd name="adj" fmla="val 10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669280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闭环结果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5660136"/>
            <a:ext cx="8138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20" b="1">
                <a:solidFill>
                  <a:srgbClr val="FFFFFF"/>
                </a:solidFill>
                <a:latin typeface="Microsoft YaHei"/>
              </a:rPr>
              <a:t>形成从问题识别、服务响应、工单升级到知识沉淀的智能售后服务闭环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原型方向与系统形态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原型名称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智能售后服务工作台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系统形态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智能售后服务工作台；目标：为客服和售后人员提供一个结合设备状态、历史工单、FAQ 与工单动作的统一服务入口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783080"/>
            <a:ext cx="3209544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1896" y="2011680"/>
            <a:ext cx="27523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价值落点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2496312"/>
            <a:ext cx="2752344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让客服从人工翻资料、人工找专家，转向在一个工作台里完成识别、回复、排障和动作触发。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核心流程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接收报修请求后自动汇总设备上下文与历史服务记录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展示 AI 判断的问题类型、优先级与推荐处置路径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一键生成回复建议、排障动作和升级工单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工作台范围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设备状态与客户上下文面板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AI 诊断与知识召回面板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回复建议与工单动作面板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MVP 原型范围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目标用户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售后负责人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核心任务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以设备状态驱动的方式提升问题识别效率、回复质量和服务闭环能力。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783080"/>
            <a:ext cx="3209544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1896" y="2011680"/>
            <a:ext cx="27523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非目标范围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2496312"/>
            <a:ext cx="2752344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不接真实后端接口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页面清单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设备状态与客户上下文面板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AI 诊断与知识召回面板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回复建议与工单动作面板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关键模块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设备状态与客户上下文面板 模块区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AI 诊断与知识召回面板 模块区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回复建议与工单动作面板 模块区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4. 系统读取设备状态、历史工单与 FAQ 等知识资料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原型交付与快速开发路径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交付方式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前端壳子优先；推荐技术栈：Next.js + Tailwind CSS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核心交付件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方案设计：页面结构、模块布局、交互路径 / 架构设计：展示层、组件层、样例数据层 / 静态页面原型：可现场演示的前端壳子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783080"/>
            <a:ext cx="3209544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1896" y="2011680"/>
            <a:ext cx="27523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架构原则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2496312"/>
            <a:ext cx="2752344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页面壳子优先，先保证关键业务路径可演示 / 模块分层组织，页面、组件、样例数据分开维护 / Mock 数据驱动，先不接真实系统接口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方案设计与架构设计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方案设计：页面结构、模块布局、交互路径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架构设计：展示层、组件层、样例数据层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静态页面原型：可现场演示的前端壳子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4. 样例数据包：支撑页面演示的 mock 数据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快速开发路径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确认试点设备范围与高频报修问题样本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梳理 FAQ、历史工单与设备状态字段映射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两周内输出工作台原型与首轮 POC 指标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4. 基于方案设计文档快速搭建静态页面和样例数据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能力映射与交付物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6812280" cy="448056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6263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能力卡与产品映射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87168"/>
            <a:ext cx="6355080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80" b="0">
                <a:solidFill>
                  <a:srgbClr val="555555"/>
                </a:solidFill>
                <a:latin typeface="Microsoft YaHei"/>
              </a:rPr>
              <a:t>设备状态与服务数据接入 -&gt; IoT 数据平台, CRM / 工单系统 | 交付：统一设备与服务上下文底座</a:t>
            </a:r>
          </a:p>
          <a:p>
            <a:pPr algn="l">
              <a:spcAft>
                <a:spcPts val="800"/>
              </a:spcAft>
            </a:pPr>
            <a:r>
              <a:rPr sz="1380" b="0">
                <a:solidFill>
                  <a:srgbClr val="555555"/>
                </a:solidFill>
                <a:latin typeface="Microsoft YaHei"/>
              </a:rPr>
              <a:t>问题识别与知识问答 -&gt; Azure AI Foundry, Azure AI Search | 交付：RAG 问答与智能诊断能力</a:t>
            </a:r>
          </a:p>
          <a:p>
            <a:pPr algn="l">
              <a:spcAft>
                <a:spcPts val="800"/>
              </a:spcAft>
            </a:pPr>
            <a:r>
              <a:rPr sz="1380" b="0">
                <a:solidFill>
                  <a:srgbClr val="555555"/>
                </a:solidFill>
                <a:latin typeface="Microsoft YaHei"/>
              </a:rPr>
              <a:t>服务流程与升级动作联动 -&gt; Dynamics 365 Customer Service, Power Automate | 交付：工单闭环与服务编排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737360"/>
            <a:ext cx="3337560" cy="192024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56816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推荐产品栈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359152"/>
            <a:ext cx="278892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5555"/>
                </a:solidFill>
                <a:latin typeface="Microsoft YaHei"/>
              </a:rPr>
              <a:t>优先产品栈：IoT 数据平台 / CRM / 工单系统 / Azure AI Foundry / Azure AI 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3977639"/>
            <a:ext cx="3337560" cy="224028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224528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现场交付物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590288"/>
            <a:ext cx="2788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Microsoft YaHei"/>
              </a:rPr>
              <a:t>现场交付物：场景方案 PPT / 工作台原型方向 / POC 验证清单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业务价值与验证假设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业务价值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468880"/>
            <a:ext cx="283464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缩短问题定位时间并提升首响效率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降低复杂问题对专家人工介入的依赖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提升客服回复一致性与服务标准化水平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把处理经验沉淀为持续可复用的知识资产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2272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933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关键指标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468880"/>
            <a:ext cx="283464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首响时间下降 30%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问题定位时间下降 40%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复杂问题升级率下降 20%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9933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POC 验证点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468880"/>
            <a:ext cx="283464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1. 问题类型判断与优先级识别是否准确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2. AI 回复与排障建议是否可直接被客服使用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3. 升级工单与结果回写是否能形成闭环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POC 与下一步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469880" cy="73152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8366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POC 范围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874519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Microsoft YaHei"/>
              </a:rPr>
              <a:t>先验证设备状态读取、知识召回、回复生成与升级工单四段关键链路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43200"/>
            <a:ext cx="4983480" cy="33832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关键角色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74720"/>
            <a:ext cx="443484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售后负责人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客服主管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数字化平台主管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743200"/>
            <a:ext cx="4983480" cy="33832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97180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后续动作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474720"/>
            <a:ext cx="443484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确认试点设备范围与高频报修问题样本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梳理 FAQ、历史工单与设备状态字段映射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两周内输出工作台原型与首轮 POC 指标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