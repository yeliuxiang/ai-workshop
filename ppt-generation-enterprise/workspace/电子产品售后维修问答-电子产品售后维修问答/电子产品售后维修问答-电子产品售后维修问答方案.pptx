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电子产品售后维修问答</a:t>
            </a:r>
          </a:p>
          <a:p>
            <a:r>
              <a:t>- 该场景以售后维修问答为切口，把分散的产品资料、历史工单和处理经验整合为一线售后人员可直接使用的 AI 工作流，优先验证检索提效和处理标准化价值。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当前差距与优先痛点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业务机会与 Why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客户现场卡片流程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目标 AI Flow</a:t>
            </a:r>
          </a:p>
          <a:p>
            <a:r>
              <a:t>- 该场景以售后维修问答为切口，把分散的产品资料、历史工单和处理经验整合为一线售后人员可直接使用的 AI 工作流，优先验证检索提效和处理标准化价值。</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解决方案架构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能力映射与交付物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业务价值与验证假设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原型与 MVP 设计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POC 与下一步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2468880" cy="6858000"/>
          </a:xfrm>
          <a:prstGeom prst="rect">
            <a:avLst/>
          </a:prstGeom>
        </p:spPr>
      </p:pic>
      <p:sp>
        <p:nvSpPr>
          <p:cNvPr id="3" name="Rectangle 2"/>
          <p:cNvSpPr/>
          <p:nvPr/>
        </p:nvSpPr>
        <p:spPr>
          <a:xfrm>
            <a:off x="0" y="0"/>
            <a:ext cx="2468880" cy="6858000"/>
          </a:xfrm>
          <a:prstGeom prst="rect">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502920"/>
            <a:ext cx="1920240" cy="493776"/>
          </a:xfrm>
          <a:prstGeom prst="round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 y="804672"/>
            <a:ext cx="7863840" cy="475488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394192" y="896112"/>
            <a:ext cx="1847088" cy="384048"/>
          </a:xfrm>
          <a:prstGeom prst="roundRect">
            <a:avLst>
              <a:gd name="adj" fmla="val 6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0496" y="987552"/>
            <a:ext cx="1554480" cy="146304"/>
          </a:xfrm>
          <a:prstGeom prst="rect">
            <a:avLst/>
          </a:prstGeom>
          <a:noFill/>
        </p:spPr>
        <p:txBody>
          <a:bodyPr wrap="square" anchor="ctr">
            <a:spAutoFit/>
          </a:bodyPr>
          <a:lstStyle/>
          <a:p>
            <a:pPr algn="ctr">
              <a:spcAft>
                <a:spcPts val="0"/>
              </a:spcAft>
            </a:pPr>
            <a:r>
              <a:rPr sz="860" b="1">
                <a:solidFill>
                  <a:srgbClr val="A63A2B"/>
                </a:solidFill>
                <a:latin typeface="Arial"/>
              </a:rPr>
              <a:t>AI Discovery Workshop</a:t>
            </a:r>
          </a:p>
        </p:txBody>
      </p:sp>
      <p:sp>
        <p:nvSpPr>
          <p:cNvPr id="8" name="TextBox 7"/>
          <p:cNvSpPr txBox="1"/>
          <p:nvPr/>
        </p:nvSpPr>
        <p:spPr>
          <a:xfrm>
            <a:off x="3090672" y="1024128"/>
            <a:ext cx="6858000" cy="256032"/>
          </a:xfrm>
          <a:prstGeom prst="rect">
            <a:avLst/>
          </a:prstGeom>
          <a:noFill/>
        </p:spPr>
        <p:txBody>
          <a:bodyPr wrap="square" anchor="ctr">
            <a:spAutoFit/>
          </a:bodyPr>
          <a:lstStyle/>
          <a:p>
            <a:pPr algn="l">
              <a:spcAft>
                <a:spcPts val="0"/>
              </a:spcAft>
            </a:pPr>
            <a:r>
              <a:rPr sz="1050" b="0">
                <a:solidFill>
                  <a:srgbClr val="8A7D75"/>
                </a:solidFill>
                <a:latin typeface="Microsoft YaHei"/>
              </a:rPr>
              <a:t>客户：电子产品售后维修问答 | 行业：消费电子 · 现场共创组 · 日期 2026-05-17</a:t>
            </a:r>
          </a:p>
        </p:txBody>
      </p:sp>
      <p:sp>
        <p:nvSpPr>
          <p:cNvPr id="9" name="TextBox 8"/>
          <p:cNvSpPr txBox="1"/>
          <p:nvPr/>
        </p:nvSpPr>
        <p:spPr>
          <a:xfrm>
            <a:off x="3090672" y="1389888"/>
            <a:ext cx="6812280" cy="1207008"/>
          </a:xfrm>
          <a:prstGeom prst="rect">
            <a:avLst/>
          </a:prstGeom>
          <a:noFill/>
        </p:spPr>
        <p:txBody>
          <a:bodyPr wrap="square" anchor="t">
            <a:spAutoFit/>
          </a:bodyPr>
          <a:lstStyle/>
          <a:p>
            <a:pPr algn="l">
              <a:spcAft>
                <a:spcPts val="0"/>
              </a:spcAft>
            </a:pPr>
            <a:r>
              <a:rPr sz="3000" b="1">
                <a:solidFill>
                  <a:srgbClr val="A63A2B"/>
                </a:solidFill>
                <a:latin typeface="Microsoft YaHei"/>
              </a:rPr>
              <a:t>电子产品售后维修问答</a:t>
            </a:r>
          </a:p>
        </p:txBody>
      </p:sp>
      <p:sp>
        <p:nvSpPr>
          <p:cNvPr id="10" name="TextBox 9"/>
          <p:cNvSpPr txBox="1"/>
          <p:nvPr/>
        </p:nvSpPr>
        <p:spPr>
          <a:xfrm>
            <a:off x="3108960" y="2523744"/>
            <a:ext cx="5852160" cy="310896"/>
          </a:xfrm>
          <a:prstGeom prst="rect">
            <a:avLst/>
          </a:prstGeom>
          <a:noFill/>
        </p:spPr>
        <p:txBody>
          <a:bodyPr wrap="square" anchor="ctr">
            <a:spAutoFit/>
          </a:bodyPr>
          <a:lstStyle/>
          <a:p>
            <a:pPr algn="l">
              <a:spcAft>
                <a:spcPts val="600"/>
              </a:spcAft>
            </a:pPr>
            <a:r>
              <a:rPr sz="1150" b="0">
                <a:solidFill>
                  <a:srgbClr val="8A7D75"/>
                </a:solidFill>
                <a:latin typeface="Microsoft YaHei"/>
              </a:rPr>
              <a:t>AI Discovery Workshop 商机与原型方案</a:t>
            </a:r>
          </a:p>
        </p:txBody>
      </p:sp>
      <p:sp>
        <p:nvSpPr>
          <p:cNvPr id="11" name="Rounded Rectangle 10"/>
          <p:cNvSpPr/>
          <p:nvPr/>
        </p:nvSpPr>
        <p:spPr>
          <a:xfrm>
            <a:off x="3090672" y="2926080"/>
            <a:ext cx="6894576" cy="896112"/>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128" y="3163824"/>
            <a:ext cx="6446520" cy="329184"/>
          </a:xfrm>
          <a:prstGeom prst="rect">
            <a:avLst/>
          </a:prstGeom>
          <a:noFill/>
        </p:spPr>
        <p:txBody>
          <a:bodyPr wrap="square" anchor="ctr">
            <a:spAutoFit/>
          </a:bodyPr>
          <a:lstStyle/>
          <a:p>
            <a:pPr algn="l">
              <a:spcAft>
                <a:spcPts val="0"/>
              </a:spcAft>
            </a:pPr>
            <a:r>
              <a:rPr sz="1400" b="0">
                <a:solidFill>
                  <a:srgbClr val="4E433D"/>
                </a:solidFill>
                <a:latin typeface="Microsoft YaHei"/>
              </a:rPr>
              <a:t>让售后人员从人工翻资料和反复请教专家，转向在一个工作台中完成检索、判断和处理动作。</a:t>
            </a:r>
          </a:p>
        </p:txBody>
      </p:sp>
      <p:sp>
        <p:nvSpPr>
          <p:cNvPr id="13" name="Rounded Rectangle 12"/>
          <p:cNvSpPr/>
          <p:nvPr/>
        </p:nvSpPr>
        <p:spPr>
          <a:xfrm>
            <a:off x="3090672" y="4133087"/>
            <a:ext cx="3840480" cy="658368"/>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55264" y="4215383"/>
            <a:ext cx="3511296" cy="128016"/>
          </a:xfrm>
          <a:prstGeom prst="rect">
            <a:avLst/>
          </a:prstGeom>
          <a:noFill/>
        </p:spPr>
        <p:txBody>
          <a:bodyPr wrap="square" anchor="ctr">
            <a:spAutoFit/>
          </a:bodyPr>
          <a:lstStyle/>
          <a:p>
            <a:pPr algn="l">
              <a:spcAft>
                <a:spcPts val="0"/>
              </a:spcAft>
            </a:pPr>
            <a:r>
              <a:rPr sz="850" b="0">
                <a:solidFill>
                  <a:srgbClr val="8A7D75"/>
                </a:solidFill>
                <a:latin typeface="Arial"/>
              </a:rPr>
              <a:t>客户与行业</a:t>
            </a:r>
          </a:p>
        </p:txBody>
      </p:sp>
      <p:sp>
        <p:nvSpPr>
          <p:cNvPr id="15" name="TextBox 14"/>
          <p:cNvSpPr txBox="1"/>
          <p:nvPr/>
        </p:nvSpPr>
        <p:spPr>
          <a:xfrm>
            <a:off x="3255264" y="4379975"/>
            <a:ext cx="3511296" cy="237744"/>
          </a:xfrm>
          <a:prstGeom prst="rect">
            <a:avLst/>
          </a:prstGeom>
          <a:noFill/>
        </p:spPr>
        <p:txBody>
          <a:bodyPr wrap="square" anchor="ctr">
            <a:spAutoFit/>
          </a:bodyPr>
          <a:lstStyle/>
          <a:p>
            <a:pPr algn="l">
              <a:spcAft>
                <a:spcPts val="0"/>
              </a:spcAft>
            </a:pPr>
            <a:r>
              <a:rPr sz="1000" b="0">
                <a:solidFill>
                  <a:srgbClr val="4E433D"/>
                </a:solidFill>
                <a:latin typeface="Microsoft YaHei"/>
              </a:rPr>
              <a:t>客户：电子产品售后维修问答 | 行业：消费电子</a:t>
            </a:r>
          </a:p>
        </p:txBody>
      </p:sp>
      <p:sp>
        <p:nvSpPr>
          <p:cNvPr id="16" name="Rounded Rectangle 15"/>
          <p:cNvSpPr/>
          <p:nvPr/>
        </p:nvSpPr>
        <p:spPr>
          <a:xfrm>
            <a:off x="7114032" y="4133087"/>
            <a:ext cx="2633472" cy="658368"/>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78624" y="4215383"/>
            <a:ext cx="2304288" cy="128016"/>
          </a:xfrm>
          <a:prstGeom prst="rect">
            <a:avLst/>
          </a:prstGeom>
          <a:noFill/>
        </p:spPr>
        <p:txBody>
          <a:bodyPr wrap="square" anchor="ctr">
            <a:spAutoFit/>
          </a:bodyPr>
          <a:lstStyle/>
          <a:p>
            <a:pPr algn="l">
              <a:spcAft>
                <a:spcPts val="0"/>
              </a:spcAft>
            </a:pPr>
            <a:r>
              <a:rPr sz="850" b="0">
                <a:solidFill>
                  <a:srgbClr val="8A7D75"/>
                </a:solidFill>
                <a:latin typeface="Arial"/>
              </a:rPr>
              <a:t>小组与日期</a:t>
            </a:r>
          </a:p>
        </p:txBody>
      </p:sp>
      <p:sp>
        <p:nvSpPr>
          <p:cNvPr id="18" name="TextBox 17"/>
          <p:cNvSpPr txBox="1"/>
          <p:nvPr/>
        </p:nvSpPr>
        <p:spPr>
          <a:xfrm>
            <a:off x="7278624" y="4379975"/>
            <a:ext cx="2304288" cy="237744"/>
          </a:xfrm>
          <a:prstGeom prst="rect">
            <a:avLst/>
          </a:prstGeom>
          <a:noFill/>
        </p:spPr>
        <p:txBody>
          <a:bodyPr wrap="square" anchor="ctr">
            <a:spAutoFit/>
          </a:bodyPr>
          <a:lstStyle/>
          <a:p>
            <a:pPr algn="l">
              <a:spcAft>
                <a:spcPts val="0"/>
              </a:spcAft>
            </a:pPr>
            <a:r>
              <a:rPr sz="1000" b="0">
                <a:solidFill>
                  <a:srgbClr val="4E433D"/>
                </a:solidFill>
                <a:latin typeface="Microsoft YaHei"/>
              </a:rPr>
              <a:t>小组：现场共创组 · 日期：2026-05-17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当前差距与优先痛点</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5074920" cy="438912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965960"/>
            <a:ext cx="4434840" cy="274320"/>
          </a:xfrm>
          <a:prstGeom prst="rect">
            <a:avLst/>
          </a:prstGeom>
          <a:noFill/>
        </p:spPr>
        <p:txBody>
          <a:bodyPr wrap="square" anchor="t">
            <a:spAutoFit/>
          </a:bodyPr>
          <a:lstStyle/>
          <a:p>
            <a:pPr algn="l">
              <a:spcAft>
                <a:spcPts val="0"/>
              </a:spcAft>
            </a:pPr>
            <a:r>
              <a:rPr sz="1650" b="1">
                <a:solidFill>
                  <a:srgbClr val="A63A2B"/>
                </a:solidFill>
                <a:latin typeface="Microsoft YaHei"/>
              </a:rPr>
              <a:t>现状流程</a:t>
            </a:r>
          </a:p>
        </p:txBody>
      </p:sp>
      <p:sp>
        <p:nvSpPr>
          <p:cNvPr id="7" name="TextBox 6"/>
          <p:cNvSpPr txBox="1"/>
          <p:nvPr/>
        </p:nvSpPr>
        <p:spPr>
          <a:xfrm>
            <a:off x="1097280" y="2468880"/>
            <a:ext cx="4526280" cy="3154680"/>
          </a:xfrm>
          <a:prstGeom prst="rect">
            <a:avLst/>
          </a:prstGeom>
          <a:noFill/>
        </p:spPr>
        <p:txBody>
          <a:bodyPr wrap="square" anchor="t">
            <a:spAutoFit/>
          </a:bodyPr>
          <a:lstStyle/>
          <a:p>
            <a:pPr algn="l">
              <a:spcAft>
                <a:spcPts val="800"/>
              </a:spcAft>
            </a:pPr>
            <a:r>
              <a:rPr sz="1450" b="0">
                <a:solidFill>
                  <a:srgbClr val="4E433D"/>
                </a:solidFill>
                <a:latin typeface="Microsoft YaHei"/>
              </a:rPr>
              <a:t>1. 用户报修或售后人员接收维修咨询</a:t>
            </a:r>
          </a:p>
          <a:p>
            <a:pPr algn="l">
              <a:spcAft>
                <a:spcPts val="800"/>
              </a:spcAft>
            </a:pPr>
            <a:r>
              <a:rPr sz="1450" b="0">
                <a:solidFill>
                  <a:srgbClr val="4E433D"/>
                </a:solidFill>
                <a:latin typeface="Microsoft YaHei"/>
              </a:rPr>
              <a:t>2. 售后人员人工查询产品手册、FAQ 和历史工单</a:t>
            </a:r>
          </a:p>
          <a:p>
            <a:pPr algn="l">
              <a:spcAft>
                <a:spcPts val="800"/>
              </a:spcAft>
            </a:pPr>
            <a:r>
              <a:rPr sz="1450" b="0">
                <a:solidFill>
                  <a:srgbClr val="4E433D"/>
                </a:solidFill>
                <a:latin typeface="Microsoft YaHei"/>
              </a:rPr>
              <a:t>3. 根据经验判断问题类型并整理处理建议</a:t>
            </a:r>
          </a:p>
          <a:p>
            <a:pPr algn="l">
              <a:spcAft>
                <a:spcPts val="800"/>
              </a:spcAft>
            </a:pPr>
            <a:r>
              <a:rPr sz="1450" b="0">
                <a:solidFill>
                  <a:srgbClr val="4E433D"/>
                </a:solidFill>
                <a:latin typeface="Microsoft YaHei"/>
              </a:rPr>
              <a:t>4. 复杂问题升级给资深工程师或专家支持</a:t>
            </a:r>
          </a:p>
        </p:txBody>
      </p:sp>
      <p:sp>
        <p:nvSpPr>
          <p:cNvPr id="8" name="Rounded Rectangle 7"/>
          <p:cNvSpPr/>
          <p:nvPr/>
        </p:nvSpPr>
        <p:spPr>
          <a:xfrm>
            <a:off x="6172200" y="1737360"/>
            <a:ext cx="5120640" cy="301752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480560" cy="274320"/>
          </a:xfrm>
          <a:prstGeom prst="rect">
            <a:avLst/>
          </a:prstGeom>
          <a:noFill/>
        </p:spPr>
        <p:txBody>
          <a:bodyPr wrap="square" anchor="t">
            <a:spAutoFit/>
          </a:bodyPr>
          <a:lstStyle/>
          <a:p>
            <a:pPr algn="l">
              <a:spcAft>
                <a:spcPts val="0"/>
              </a:spcAft>
            </a:pPr>
            <a:r>
              <a:rPr sz="1650" b="1">
                <a:solidFill>
                  <a:srgbClr val="A63A2B"/>
                </a:solidFill>
                <a:latin typeface="Microsoft YaHei"/>
              </a:rPr>
              <a:t>关键痛点</a:t>
            </a:r>
          </a:p>
        </p:txBody>
      </p:sp>
      <p:sp>
        <p:nvSpPr>
          <p:cNvPr id="10" name="TextBox 9"/>
          <p:cNvSpPr txBox="1"/>
          <p:nvPr/>
        </p:nvSpPr>
        <p:spPr>
          <a:xfrm>
            <a:off x="6400800" y="2450592"/>
            <a:ext cx="4572000" cy="1783080"/>
          </a:xfrm>
          <a:prstGeom prst="rect">
            <a:avLst/>
          </a:prstGeom>
          <a:noFill/>
        </p:spPr>
        <p:txBody>
          <a:bodyPr wrap="square" anchor="t">
            <a:spAutoFit/>
          </a:bodyPr>
          <a:lstStyle/>
          <a:p>
            <a:pPr algn="l">
              <a:spcAft>
                <a:spcPts val="800"/>
              </a:spcAft>
            </a:pPr>
            <a:r>
              <a:rPr sz="1450" b="0">
                <a:solidFill>
                  <a:srgbClr val="4E433D"/>
                </a:solidFill>
                <a:latin typeface="Microsoft YaHei"/>
              </a:rPr>
              <a:t>1. 维修资料和历史案例分散，检索耗时长</a:t>
            </a:r>
          </a:p>
          <a:p>
            <a:pPr algn="l">
              <a:spcAft>
                <a:spcPts val="800"/>
              </a:spcAft>
            </a:pPr>
            <a:r>
              <a:rPr sz="1450" b="0">
                <a:solidFill>
                  <a:srgbClr val="4E433D"/>
                </a:solidFill>
                <a:latin typeface="Microsoft YaHei"/>
              </a:rPr>
              <a:t>2. 问题判断依赖个人经验，处理质量不稳定</a:t>
            </a:r>
          </a:p>
          <a:p>
            <a:pPr algn="l">
              <a:spcAft>
                <a:spcPts val="800"/>
              </a:spcAft>
            </a:pPr>
            <a:r>
              <a:rPr sz="1450" b="0">
                <a:solidFill>
                  <a:srgbClr val="4E433D"/>
                </a:solidFill>
                <a:latin typeface="Microsoft YaHei"/>
              </a:rPr>
              <a:t>3. 复杂问题升级频繁，影响整体处理效率</a:t>
            </a:r>
          </a:p>
        </p:txBody>
      </p:sp>
      <p:sp>
        <p:nvSpPr>
          <p:cNvPr id="11" name="Rounded Rectangle 10"/>
          <p:cNvSpPr/>
          <p:nvPr/>
        </p:nvSpPr>
        <p:spPr>
          <a:xfrm>
            <a:off x="6172200" y="4983480"/>
            <a:ext cx="5120640" cy="1143000"/>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5266944"/>
            <a:ext cx="4480560" cy="384048"/>
          </a:xfrm>
          <a:prstGeom prst="rect">
            <a:avLst/>
          </a:prstGeom>
          <a:noFill/>
        </p:spPr>
        <p:txBody>
          <a:bodyPr wrap="square" anchor="ctr">
            <a:spAutoFit/>
          </a:bodyPr>
          <a:lstStyle/>
          <a:p>
            <a:pPr algn="l">
              <a:spcAft>
                <a:spcPts val="0"/>
              </a:spcAft>
            </a:pPr>
            <a:r>
              <a:rPr sz="1520" b="1">
                <a:solidFill>
                  <a:srgbClr val="FFFFFF"/>
                </a:solidFill>
                <a:latin typeface="Microsoft YaHei"/>
              </a:rPr>
              <a:t>优先切口：维修资料和历史案例分散，检索耗时长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业务机会与 Why Now</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23444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47672"/>
            <a:ext cx="7507224" cy="274320"/>
          </a:xfrm>
          <a:prstGeom prst="rect">
            <a:avLst/>
          </a:prstGeom>
          <a:noFill/>
        </p:spPr>
        <p:txBody>
          <a:bodyPr wrap="square" anchor="t">
            <a:spAutoFit/>
          </a:bodyPr>
          <a:lstStyle/>
          <a:p>
            <a:pPr algn="l">
              <a:spcAft>
                <a:spcPts val="0"/>
              </a:spcAft>
            </a:pPr>
            <a:r>
              <a:rPr sz="1650" b="1">
                <a:solidFill>
                  <a:srgbClr val="A63A2B"/>
                </a:solidFill>
                <a:latin typeface="Microsoft YaHei"/>
              </a:rPr>
              <a:t>机会判断</a:t>
            </a:r>
          </a:p>
        </p:txBody>
      </p:sp>
      <p:sp>
        <p:nvSpPr>
          <p:cNvPr id="7" name="TextBox 6"/>
          <p:cNvSpPr txBox="1"/>
          <p:nvPr/>
        </p:nvSpPr>
        <p:spPr>
          <a:xfrm>
            <a:off x="1024128" y="2258568"/>
            <a:ext cx="7507224" cy="502920"/>
          </a:xfrm>
          <a:prstGeom prst="rect">
            <a:avLst/>
          </a:prstGeom>
          <a:noFill/>
        </p:spPr>
        <p:txBody>
          <a:bodyPr wrap="square" anchor="ctr">
            <a:spAutoFit/>
          </a:bodyPr>
          <a:lstStyle/>
          <a:p>
            <a:pPr algn="l">
              <a:spcAft>
                <a:spcPts val="800"/>
              </a:spcAft>
            </a:pPr>
            <a:r>
              <a:rPr sz="1340" b="0">
                <a:solidFill>
                  <a:srgbClr val="4E433D"/>
                </a:solidFill>
                <a:latin typeface="Microsoft YaHei"/>
              </a:rPr>
              <a:t>电子产品售后维修问答是一个能直接验证 AI 在知识检索、问题判断和服务提效价值的高优先级业务机会。</a:t>
            </a:r>
          </a:p>
        </p:txBody>
      </p:sp>
      <p:sp>
        <p:nvSpPr>
          <p:cNvPr id="8" name="Rounded Rectangle 7"/>
          <p:cNvSpPr/>
          <p:nvPr/>
        </p:nvSpPr>
        <p:spPr>
          <a:xfrm>
            <a:off x="822960" y="3246120"/>
            <a:ext cx="7909560" cy="123444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410712"/>
            <a:ext cx="7507224" cy="274320"/>
          </a:xfrm>
          <a:prstGeom prst="rect">
            <a:avLst/>
          </a:prstGeom>
          <a:noFill/>
        </p:spPr>
        <p:txBody>
          <a:bodyPr wrap="square" anchor="t">
            <a:spAutoFit/>
          </a:bodyPr>
          <a:lstStyle/>
          <a:p>
            <a:pPr algn="l">
              <a:spcAft>
                <a:spcPts val="0"/>
              </a:spcAft>
            </a:pPr>
            <a:r>
              <a:rPr sz="1650" b="1">
                <a:solidFill>
                  <a:srgbClr val="A63A2B"/>
                </a:solidFill>
                <a:latin typeface="Microsoft YaHei"/>
              </a:rPr>
              <a:t>为什么是现在</a:t>
            </a:r>
          </a:p>
        </p:txBody>
      </p:sp>
      <p:sp>
        <p:nvSpPr>
          <p:cNvPr id="10" name="TextBox 9"/>
          <p:cNvSpPr txBox="1"/>
          <p:nvPr/>
        </p:nvSpPr>
        <p:spPr>
          <a:xfrm>
            <a:off x="1024128" y="3721608"/>
            <a:ext cx="7507224" cy="502920"/>
          </a:xfrm>
          <a:prstGeom prst="rect">
            <a:avLst/>
          </a:prstGeom>
          <a:noFill/>
        </p:spPr>
        <p:txBody>
          <a:bodyPr wrap="square" anchor="ctr">
            <a:spAutoFit/>
          </a:bodyPr>
          <a:lstStyle/>
          <a:p>
            <a:pPr algn="l">
              <a:spcAft>
                <a:spcPts val="800"/>
              </a:spcAft>
            </a:pPr>
            <a:r>
              <a:rPr sz="1340" b="0">
                <a:solidFill>
                  <a:srgbClr val="4E433D"/>
                </a:solidFill>
                <a:latin typeface="Microsoft YaHei"/>
              </a:rPr>
              <a:t>企业已经积累了维修资料、FAQ 和工单数据，现在最需要把这些分散信息串成可直接服务一线售后人员的智能工作流。</a:t>
            </a:r>
          </a:p>
        </p:txBody>
      </p:sp>
      <p:sp>
        <p:nvSpPr>
          <p:cNvPr id="11" name="Rounded Rectangle 10"/>
          <p:cNvSpPr/>
          <p:nvPr/>
        </p:nvSpPr>
        <p:spPr>
          <a:xfrm>
            <a:off x="822960" y="4709160"/>
            <a:ext cx="7909560" cy="123444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873752"/>
            <a:ext cx="7507224" cy="274320"/>
          </a:xfrm>
          <a:prstGeom prst="rect">
            <a:avLst/>
          </a:prstGeom>
          <a:noFill/>
        </p:spPr>
        <p:txBody>
          <a:bodyPr wrap="square" anchor="t">
            <a:spAutoFit/>
          </a:bodyPr>
          <a:lstStyle/>
          <a:p>
            <a:pPr algn="l">
              <a:spcAft>
                <a:spcPts val="0"/>
              </a:spcAft>
            </a:pPr>
            <a:r>
              <a:rPr sz="1650" b="1">
                <a:solidFill>
                  <a:srgbClr val="A63A2B"/>
                </a:solidFill>
                <a:latin typeface="Microsoft YaHei"/>
              </a:rPr>
              <a:t>价值支撑</a:t>
            </a:r>
          </a:p>
        </p:txBody>
      </p:sp>
      <p:sp>
        <p:nvSpPr>
          <p:cNvPr id="13" name="TextBox 12"/>
          <p:cNvSpPr txBox="1"/>
          <p:nvPr/>
        </p:nvSpPr>
        <p:spPr>
          <a:xfrm>
            <a:off x="1024128" y="5184648"/>
            <a:ext cx="7507224" cy="502920"/>
          </a:xfrm>
          <a:prstGeom prst="rect">
            <a:avLst/>
          </a:prstGeom>
          <a:noFill/>
        </p:spPr>
        <p:txBody>
          <a:bodyPr wrap="square" anchor="ctr">
            <a:spAutoFit/>
          </a:bodyPr>
          <a:lstStyle/>
          <a:p>
            <a:pPr algn="l">
              <a:spcAft>
                <a:spcPts val="800"/>
              </a:spcAft>
            </a:pPr>
            <a:r>
              <a:rPr sz="1340" b="0">
                <a:solidFill>
                  <a:srgbClr val="4E433D"/>
                </a:solidFill>
                <a:latin typeface="Microsoft YaHei"/>
              </a:rPr>
              <a:t>售后服务体验直接影响客户满意度和品牌口碑</a:t>
            </a:r>
          </a:p>
        </p:txBody>
      </p:sp>
      <p:pic>
        <p:nvPicPr>
          <p:cNvPr id="14" name="Picture 13" descr="image.png"/>
          <p:cNvPicPr>
            <a:picLocks noChangeAspect="1"/>
          </p:cNvPicPr>
          <p:nvPr/>
        </p:nvPicPr>
        <p:blipFill>
          <a:blip r:embed="rId2"/>
          <a:stretch>
            <a:fillRect/>
          </a:stretch>
        </p:blipFill>
        <p:spPr>
          <a:xfrm>
            <a:off x="9144000" y="1828800"/>
            <a:ext cx="1920240" cy="4297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客户现场卡片流程</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55648"/>
            <a:ext cx="10469880" cy="452628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93392"/>
            <a:ext cx="1051560" cy="658368"/>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93976"/>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业务场景 / 输入感知</a:t>
            </a:r>
          </a:p>
        </p:txBody>
      </p:sp>
      <p:sp>
        <p:nvSpPr>
          <p:cNvPr id="8" name="Rounded Rectangle 7"/>
          <p:cNvSpPr/>
          <p:nvPr/>
        </p:nvSpPr>
        <p:spPr>
          <a:xfrm>
            <a:off x="2103120" y="1993392"/>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31136" y="2103120"/>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智能体类卡片</a:t>
            </a:r>
          </a:p>
        </p:txBody>
      </p:sp>
      <p:sp>
        <p:nvSpPr>
          <p:cNvPr id="10" name="Right Arrow 9"/>
          <p:cNvSpPr/>
          <p:nvPr/>
        </p:nvSpPr>
        <p:spPr>
          <a:xfrm>
            <a:off x="3703320" y="2176272"/>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77056" y="1993392"/>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5072" y="2103120"/>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OCR</a:t>
            </a:r>
          </a:p>
        </p:txBody>
      </p:sp>
      <p:sp>
        <p:nvSpPr>
          <p:cNvPr id="13" name="Right Arrow 12"/>
          <p:cNvSpPr/>
          <p:nvPr/>
        </p:nvSpPr>
        <p:spPr>
          <a:xfrm>
            <a:off x="5477256" y="2176272"/>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50992" y="1993392"/>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79007" y="2103120"/>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表单理解</a:t>
            </a:r>
          </a:p>
        </p:txBody>
      </p:sp>
      <p:sp>
        <p:nvSpPr>
          <p:cNvPr id="16" name="Rounded Rectangle 15"/>
          <p:cNvSpPr/>
          <p:nvPr/>
        </p:nvSpPr>
        <p:spPr>
          <a:xfrm>
            <a:off x="868680" y="3310128"/>
            <a:ext cx="1051560" cy="658368"/>
          </a:xfrm>
          <a:prstGeom prst="roundRect">
            <a:avLst>
              <a:gd name="adj" fmla="val 10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410712"/>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理解分析</a:t>
            </a:r>
          </a:p>
        </p:txBody>
      </p:sp>
      <p:sp>
        <p:nvSpPr>
          <p:cNvPr id="18" name="Rounded Rectangle 17"/>
          <p:cNvSpPr/>
          <p:nvPr/>
        </p:nvSpPr>
        <p:spPr>
          <a:xfrm>
            <a:off x="2103120" y="3310128"/>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1136" y="3419856"/>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用户意图识别</a:t>
            </a:r>
          </a:p>
        </p:txBody>
      </p:sp>
      <p:sp>
        <p:nvSpPr>
          <p:cNvPr id="20" name="Right Arrow 19"/>
          <p:cNvSpPr/>
          <p:nvPr/>
        </p:nvSpPr>
        <p:spPr>
          <a:xfrm>
            <a:off x="3703320" y="3493008"/>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877056" y="3310128"/>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05072" y="3419856"/>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文本理解</a:t>
            </a:r>
          </a:p>
        </p:txBody>
      </p:sp>
      <p:sp>
        <p:nvSpPr>
          <p:cNvPr id="23" name="Right Arrow 22"/>
          <p:cNvSpPr/>
          <p:nvPr/>
        </p:nvSpPr>
        <p:spPr>
          <a:xfrm>
            <a:off x="5477256" y="3493008"/>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50992" y="3310128"/>
            <a:ext cx="1572768"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79007" y="3419856"/>
            <a:ext cx="1316736" cy="384048"/>
          </a:xfrm>
          <a:prstGeom prst="rect">
            <a:avLst/>
          </a:prstGeom>
          <a:noFill/>
        </p:spPr>
        <p:txBody>
          <a:bodyPr wrap="square" anchor="ctr">
            <a:spAutoFit/>
          </a:bodyPr>
          <a:lstStyle/>
          <a:p>
            <a:pPr algn="l">
              <a:spcAft>
                <a:spcPts val="0"/>
              </a:spcAft>
            </a:pPr>
            <a:r>
              <a:rPr sz="1150" b="0">
                <a:solidFill>
                  <a:srgbClr val="4E433D"/>
                </a:solidFill>
                <a:latin typeface="Microsoft YaHei"/>
              </a:rPr>
              <a:t>异常检测</a:t>
            </a:r>
          </a:p>
        </p:txBody>
      </p:sp>
      <p:sp>
        <p:nvSpPr>
          <p:cNvPr id="26" name="Rounded Rectangle 25"/>
          <p:cNvSpPr/>
          <p:nvPr/>
        </p:nvSpPr>
        <p:spPr>
          <a:xfrm>
            <a:off x="868680" y="4626864"/>
            <a:ext cx="1051560" cy="658368"/>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727448"/>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生成交互 / 执行闭环</a:t>
            </a:r>
          </a:p>
        </p:txBody>
      </p:sp>
      <p:sp>
        <p:nvSpPr>
          <p:cNvPr id="28" name="Rounded Rectangle 27"/>
          <p:cNvSpPr/>
          <p:nvPr/>
        </p:nvSpPr>
        <p:spPr>
          <a:xfrm>
            <a:off x="2103120"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31136"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自动回答</a:t>
            </a:r>
          </a:p>
        </p:txBody>
      </p:sp>
      <p:sp>
        <p:nvSpPr>
          <p:cNvPr id="30" name="Right Arrow 29"/>
          <p:cNvSpPr/>
          <p:nvPr/>
        </p:nvSpPr>
        <p:spPr>
          <a:xfrm>
            <a:off x="3464051"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637787"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65804"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自然对话</a:t>
            </a:r>
          </a:p>
        </p:txBody>
      </p:sp>
      <p:sp>
        <p:nvSpPr>
          <p:cNvPr id="33" name="Right Arrow 32"/>
          <p:cNvSpPr/>
          <p:nvPr/>
        </p:nvSpPr>
        <p:spPr>
          <a:xfrm>
            <a:off x="4998720"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172456"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0471"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文本生成</a:t>
            </a:r>
          </a:p>
        </p:txBody>
      </p:sp>
      <p:sp>
        <p:nvSpPr>
          <p:cNvPr id="36" name="Right Arrow 35"/>
          <p:cNvSpPr/>
          <p:nvPr/>
        </p:nvSpPr>
        <p:spPr>
          <a:xfrm>
            <a:off x="6533388"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707124"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35140"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流程优化</a:t>
            </a:r>
          </a:p>
        </p:txBody>
      </p:sp>
      <p:sp>
        <p:nvSpPr>
          <p:cNvPr id="39" name="Right Arrow 38"/>
          <p:cNvSpPr/>
          <p:nvPr/>
        </p:nvSpPr>
        <p:spPr>
          <a:xfrm>
            <a:off x="8068055"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41791"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69807"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自动履行</a:t>
            </a:r>
          </a:p>
        </p:txBody>
      </p:sp>
      <p:sp>
        <p:nvSpPr>
          <p:cNvPr id="42" name="Right Arrow 41"/>
          <p:cNvSpPr/>
          <p:nvPr/>
        </p:nvSpPr>
        <p:spPr>
          <a:xfrm>
            <a:off x="9602723" y="4809744"/>
            <a:ext cx="237744" cy="237744"/>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776460" y="4626864"/>
            <a:ext cx="1333500" cy="658368"/>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04476" y="4736592"/>
            <a:ext cx="1077468" cy="384048"/>
          </a:xfrm>
          <a:prstGeom prst="rect">
            <a:avLst/>
          </a:prstGeom>
          <a:noFill/>
        </p:spPr>
        <p:txBody>
          <a:bodyPr wrap="square" anchor="ctr">
            <a:spAutoFit/>
          </a:bodyPr>
          <a:lstStyle/>
          <a:p>
            <a:pPr algn="l">
              <a:spcAft>
                <a:spcPts val="0"/>
              </a:spcAft>
            </a:pPr>
            <a:r>
              <a:rPr sz="1150" b="0">
                <a:solidFill>
                  <a:srgbClr val="4E433D"/>
                </a:solidFill>
                <a:latin typeface="Microsoft YaHei"/>
              </a:rPr>
              <a:t>人机交互</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目标业务闭环</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业务触发</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50" b="1">
                <a:solidFill>
                  <a:srgbClr val="FFFFFF"/>
                </a:solidFill>
                <a:latin typeface="Microsoft YaHei"/>
              </a:rPr>
              <a:t>售后人员收到客户维修咨询或报修请求</a:t>
            </a:r>
          </a:p>
        </p:txBody>
      </p:sp>
      <p:sp>
        <p:nvSpPr>
          <p:cNvPr id="8" name="Rounded Rectangle 7"/>
          <p:cNvSpPr/>
          <p:nvPr/>
        </p:nvSpPr>
        <p:spPr>
          <a:xfrm>
            <a:off x="822960" y="2788920"/>
            <a:ext cx="10469880" cy="269748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1828800" cy="274320"/>
          </a:xfrm>
          <a:prstGeom prst="rect">
            <a:avLst/>
          </a:prstGeom>
          <a:noFill/>
        </p:spPr>
        <p:txBody>
          <a:bodyPr wrap="square" anchor="t">
            <a:spAutoFit/>
          </a:bodyPr>
          <a:lstStyle/>
          <a:p>
            <a:pPr algn="l">
              <a:spcAft>
                <a:spcPts val="0"/>
              </a:spcAft>
            </a:pPr>
            <a:r>
              <a:rPr sz="1650" b="1">
                <a:solidFill>
                  <a:srgbClr val="A63A2B"/>
                </a:solidFill>
                <a:latin typeface="Microsoft YaHei"/>
              </a:rPr>
              <a:t>核心流程</a:t>
            </a:r>
          </a:p>
        </p:txBody>
      </p:sp>
      <p:sp>
        <p:nvSpPr>
          <p:cNvPr id="10" name="Rounded Rectangle 9"/>
          <p:cNvSpPr/>
          <p:nvPr/>
        </p:nvSpPr>
        <p:spPr>
          <a:xfrm>
            <a:off x="1051560" y="3401568"/>
            <a:ext cx="1739188" cy="1536192"/>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79576"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01</a:t>
            </a:r>
          </a:p>
        </p:txBody>
      </p:sp>
      <p:sp>
        <p:nvSpPr>
          <p:cNvPr id="13" name="TextBox 12"/>
          <p:cNvSpPr txBox="1"/>
          <p:nvPr/>
        </p:nvSpPr>
        <p:spPr>
          <a:xfrm>
            <a:off x="1197863"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1. 系统读取产品型号、故障描述、维修手册、FAQ 和历史工单</a:t>
            </a:r>
          </a:p>
        </p:txBody>
      </p:sp>
      <p:sp>
        <p:nvSpPr>
          <p:cNvPr id="14" name="Right Arrow 13"/>
          <p:cNvSpPr/>
          <p:nvPr/>
        </p:nvSpPr>
        <p:spPr>
          <a:xfrm>
            <a:off x="2900476" y="3886200"/>
            <a:ext cx="219456" cy="201168"/>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119932" y="3401568"/>
            <a:ext cx="1739188" cy="1536192"/>
          </a:xfrm>
          <a:prstGeom prst="roundRect">
            <a:avLst>
              <a:gd name="adj" fmla="val 10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247948"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1956"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02</a:t>
            </a:r>
          </a:p>
        </p:txBody>
      </p:sp>
      <p:sp>
        <p:nvSpPr>
          <p:cNvPr id="18" name="TextBox 17"/>
          <p:cNvSpPr txBox="1"/>
          <p:nvPr/>
        </p:nvSpPr>
        <p:spPr>
          <a:xfrm>
            <a:off x="3266236"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2. AI 识别问题类型、关键信息和处理优先级</a:t>
            </a:r>
          </a:p>
        </p:txBody>
      </p:sp>
      <p:sp>
        <p:nvSpPr>
          <p:cNvPr id="19" name="Right Arrow 18"/>
          <p:cNvSpPr/>
          <p:nvPr/>
        </p:nvSpPr>
        <p:spPr>
          <a:xfrm>
            <a:off x="4968849" y="3886200"/>
            <a:ext cx="219456" cy="201168"/>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88305" y="3401568"/>
            <a:ext cx="1739188" cy="1536192"/>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16321"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80329"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03</a:t>
            </a:r>
          </a:p>
        </p:txBody>
      </p:sp>
      <p:sp>
        <p:nvSpPr>
          <p:cNvPr id="23" name="TextBox 22"/>
          <p:cNvSpPr txBox="1"/>
          <p:nvPr/>
        </p:nvSpPr>
        <p:spPr>
          <a:xfrm>
            <a:off x="5334609"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3. AI 检索相关知识并生成排障建议与回复话术</a:t>
            </a:r>
          </a:p>
        </p:txBody>
      </p:sp>
      <p:sp>
        <p:nvSpPr>
          <p:cNvPr id="24" name="Right Arrow 23"/>
          <p:cNvSpPr/>
          <p:nvPr/>
        </p:nvSpPr>
        <p:spPr>
          <a:xfrm>
            <a:off x="7037222" y="3886200"/>
            <a:ext cx="219456" cy="201168"/>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56678" y="3401568"/>
            <a:ext cx="1739188" cy="1536192"/>
          </a:xfrm>
          <a:prstGeom prst="roundRect">
            <a:avLst>
              <a:gd name="adj" fmla="val 10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84694"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8702"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04</a:t>
            </a:r>
          </a:p>
        </p:txBody>
      </p:sp>
      <p:sp>
        <p:nvSpPr>
          <p:cNvPr id="28" name="TextBox 27"/>
          <p:cNvSpPr txBox="1"/>
          <p:nvPr/>
        </p:nvSpPr>
        <p:spPr>
          <a:xfrm>
            <a:off x="7402982"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4. 对复杂问题自动推荐升级路径或创建专家协同任务</a:t>
            </a:r>
          </a:p>
        </p:txBody>
      </p:sp>
      <p:sp>
        <p:nvSpPr>
          <p:cNvPr id="29" name="Right Arrow 28"/>
          <p:cNvSpPr/>
          <p:nvPr/>
        </p:nvSpPr>
        <p:spPr>
          <a:xfrm>
            <a:off x="9105595" y="3886200"/>
            <a:ext cx="219456" cy="201168"/>
          </a:xfrm>
          <a:prstGeom prst="right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325051" y="3401568"/>
            <a:ext cx="1739188" cy="1536192"/>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453067" y="3511296"/>
            <a:ext cx="493776" cy="310896"/>
          </a:xfrm>
          <a:prstGeom prst="roundRect">
            <a:avLst>
              <a:gd name="adj" fmla="val 5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17075" y="3566160"/>
            <a:ext cx="365760" cy="91440"/>
          </a:xfrm>
          <a:prstGeom prst="rect">
            <a:avLst/>
          </a:prstGeom>
          <a:noFill/>
        </p:spPr>
        <p:txBody>
          <a:bodyPr wrap="square" anchor="ctr">
            <a:spAutoFit/>
          </a:bodyPr>
          <a:lstStyle/>
          <a:p>
            <a:pPr algn="ctr">
              <a:spcAft>
                <a:spcPts val="0"/>
              </a:spcAft>
            </a:pPr>
            <a:r>
              <a:rPr sz="950" b="1">
                <a:solidFill>
                  <a:srgbClr val="FFFFFF"/>
                </a:solidFill>
                <a:latin typeface="Arial"/>
              </a:rPr>
              <a:t>05</a:t>
            </a:r>
          </a:p>
        </p:txBody>
      </p:sp>
      <p:sp>
        <p:nvSpPr>
          <p:cNvPr id="33" name="TextBox 32"/>
          <p:cNvSpPr txBox="1"/>
          <p:nvPr/>
        </p:nvSpPr>
        <p:spPr>
          <a:xfrm>
            <a:off x="9471355" y="3931920"/>
            <a:ext cx="1483156" cy="841248"/>
          </a:xfrm>
          <a:prstGeom prst="rect">
            <a:avLst/>
          </a:prstGeom>
          <a:noFill/>
        </p:spPr>
        <p:txBody>
          <a:bodyPr wrap="square" anchor="t">
            <a:spAutoFit/>
          </a:bodyPr>
          <a:lstStyle/>
          <a:p>
            <a:pPr algn="l">
              <a:spcAft>
                <a:spcPts val="0"/>
              </a:spcAft>
            </a:pPr>
            <a:r>
              <a:rPr sz="1019" b="0">
                <a:solidFill>
                  <a:srgbClr val="4E433D"/>
                </a:solidFill>
                <a:latin typeface="Microsoft YaHei"/>
              </a:rPr>
              <a:t>5. 处理结果回写知识库与工单系统，持续优化问答效果</a:t>
            </a:r>
          </a:p>
        </p:txBody>
      </p:sp>
      <p:sp>
        <p:nvSpPr>
          <p:cNvPr id="34" name="Rounded Rectangle 33"/>
          <p:cNvSpPr/>
          <p:nvPr/>
        </p:nvSpPr>
        <p:spPr>
          <a:xfrm>
            <a:off x="822960" y="5596128"/>
            <a:ext cx="10469880" cy="658368"/>
          </a:xfrm>
          <a:prstGeom prst="roundRect">
            <a:avLst>
              <a:gd name="adj" fmla="val 10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742432"/>
            <a:ext cx="1463040" cy="274320"/>
          </a:xfrm>
          <a:prstGeom prst="rect">
            <a:avLst/>
          </a:prstGeom>
          <a:noFill/>
        </p:spPr>
        <p:txBody>
          <a:bodyPr wrap="square" anchor="t">
            <a:spAutoFit/>
          </a:bodyPr>
          <a:lstStyle/>
          <a:p>
            <a:pPr algn="l">
              <a:spcAft>
                <a:spcPts val="0"/>
              </a:spcAft>
            </a:pPr>
            <a:r>
              <a:rPr sz="1650" b="1">
                <a:solidFill>
                  <a:srgbClr val="FFFFFF"/>
                </a:solidFill>
                <a:latin typeface="Microsoft YaHei"/>
              </a:rPr>
              <a:t>闭环结果</a:t>
            </a:r>
          </a:p>
        </p:txBody>
      </p:sp>
      <p:sp>
        <p:nvSpPr>
          <p:cNvPr id="36" name="TextBox 35"/>
          <p:cNvSpPr txBox="1"/>
          <p:nvPr/>
        </p:nvSpPr>
        <p:spPr>
          <a:xfrm>
            <a:off x="2240280" y="5715000"/>
            <a:ext cx="8183879" cy="201168"/>
          </a:xfrm>
          <a:prstGeom prst="rect">
            <a:avLst/>
          </a:prstGeom>
          <a:noFill/>
        </p:spPr>
        <p:txBody>
          <a:bodyPr wrap="square" anchor="ctr">
            <a:spAutoFit/>
          </a:bodyPr>
          <a:lstStyle/>
          <a:p>
            <a:pPr algn="l">
              <a:spcAft>
                <a:spcPts val="0"/>
              </a:spcAft>
            </a:pPr>
            <a:r>
              <a:rPr sz="1360" b="1">
                <a:solidFill>
                  <a:srgbClr val="FFFFFF"/>
                </a:solidFill>
                <a:latin typeface="Microsoft YaHei"/>
              </a:rPr>
              <a:t>形成从问题接收、知识检索、建议生成到结果沉淀的售后维修服务闭环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解决方案架构</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00784"/>
            <a:ext cx="10469880" cy="749808"/>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9966960" cy="274320"/>
          </a:xfrm>
          <a:prstGeom prst="rect">
            <a:avLst/>
          </a:prstGeom>
          <a:noFill/>
        </p:spPr>
        <p:txBody>
          <a:bodyPr wrap="square" anchor="ctr">
            <a:spAutoFit/>
          </a:bodyPr>
          <a:lstStyle/>
          <a:p>
            <a:pPr algn="l">
              <a:spcAft>
                <a:spcPts val="0"/>
              </a:spcAft>
            </a:pPr>
            <a:r>
              <a:rPr sz="1480" b="1">
                <a:solidFill>
                  <a:srgbClr val="FFFFFF"/>
                </a:solidFill>
                <a:latin typeface="Microsoft YaHei"/>
              </a:rPr>
              <a:t>闭环目标：形成从问题接收、知识检索、建议生成到结果沉淀的售后维修服务闭环</a:t>
            </a:r>
          </a:p>
        </p:txBody>
      </p:sp>
      <p:sp>
        <p:nvSpPr>
          <p:cNvPr id="7" name="Rounded Rectangle 6"/>
          <p:cNvSpPr/>
          <p:nvPr/>
        </p:nvSpPr>
        <p:spPr>
          <a:xfrm>
            <a:off x="822960" y="2697480"/>
            <a:ext cx="10469880" cy="342900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889504"/>
            <a:ext cx="6217920" cy="274320"/>
          </a:xfrm>
          <a:prstGeom prst="rect">
            <a:avLst/>
          </a:prstGeom>
          <a:noFill/>
        </p:spPr>
        <p:txBody>
          <a:bodyPr wrap="square" anchor="t">
            <a:spAutoFit/>
          </a:bodyPr>
          <a:lstStyle/>
          <a:p>
            <a:pPr algn="l">
              <a:spcAft>
                <a:spcPts val="0"/>
              </a:spcAft>
            </a:pPr>
            <a:r>
              <a:rPr sz="1650" b="1">
                <a:solidFill>
                  <a:srgbClr val="A63A2B"/>
                </a:solidFill>
                <a:latin typeface="Microsoft YaHei"/>
              </a:rPr>
              <a:t>电子产品售后维修问答</a:t>
            </a:r>
          </a:p>
        </p:txBody>
      </p:sp>
      <p:sp>
        <p:nvSpPr>
          <p:cNvPr id="9" name="Oval 8"/>
          <p:cNvSpPr/>
          <p:nvPr/>
        </p:nvSpPr>
        <p:spPr>
          <a:xfrm>
            <a:off x="1078992" y="3355848"/>
            <a:ext cx="384048" cy="384048"/>
          </a:xfrm>
          <a:prstGeom prst="ellipse">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 y="3424427"/>
            <a:ext cx="274320" cy="73152"/>
          </a:xfrm>
          <a:prstGeom prst="rect">
            <a:avLst/>
          </a:prstGeom>
          <a:noFill/>
        </p:spPr>
        <p:txBody>
          <a:bodyPr wrap="square" anchor="ctr">
            <a:spAutoFit/>
          </a:bodyPr>
          <a:lstStyle/>
          <a:p>
            <a:pPr algn="ctr">
              <a:spcAft>
                <a:spcPts val="0"/>
              </a:spcAft>
            </a:pPr>
            <a:r>
              <a:rPr sz="919" b="1">
                <a:solidFill>
                  <a:srgbClr val="FFFFFF"/>
                </a:solidFill>
                <a:latin typeface="Arial"/>
              </a:rPr>
              <a:t>1</a:t>
            </a:r>
          </a:p>
        </p:txBody>
      </p:sp>
      <p:sp>
        <p:nvSpPr>
          <p:cNvPr id="11" name="Rounded Rectangle 10"/>
          <p:cNvSpPr/>
          <p:nvPr/>
        </p:nvSpPr>
        <p:spPr>
          <a:xfrm>
            <a:off x="1572768" y="3246120"/>
            <a:ext cx="2011680" cy="585216"/>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73936" y="3401568"/>
            <a:ext cx="1600200" cy="128016"/>
          </a:xfrm>
          <a:prstGeom prst="rect">
            <a:avLst/>
          </a:prstGeom>
          <a:noFill/>
        </p:spPr>
        <p:txBody>
          <a:bodyPr wrap="square" anchor="ctr">
            <a:spAutoFit/>
          </a:bodyPr>
          <a:lstStyle/>
          <a:p>
            <a:pPr algn="ctr">
              <a:spcAft>
                <a:spcPts val="0"/>
              </a:spcAft>
            </a:pPr>
            <a:r>
              <a:rPr sz="1180" b="1">
                <a:solidFill>
                  <a:srgbClr val="FFFFFF"/>
                </a:solidFill>
                <a:latin typeface="Microsoft YaHei"/>
              </a:rPr>
              <a:t>1. 展示层</a:t>
            </a:r>
          </a:p>
        </p:txBody>
      </p:sp>
      <p:sp>
        <p:nvSpPr>
          <p:cNvPr id="13" name="Rounded Rectangle 12"/>
          <p:cNvSpPr/>
          <p:nvPr/>
        </p:nvSpPr>
        <p:spPr>
          <a:xfrm>
            <a:off x="3767328" y="3246120"/>
            <a:ext cx="6382512" cy="585216"/>
          </a:xfrm>
          <a:prstGeom prst="roundRect">
            <a:avLst>
              <a:gd name="adj" fmla="val 10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5072" y="3355848"/>
            <a:ext cx="5925312" cy="274320"/>
          </a:xfrm>
          <a:prstGeom prst="rect">
            <a:avLst/>
          </a:prstGeom>
          <a:noFill/>
        </p:spPr>
        <p:txBody>
          <a:bodyPr wrap="square" anchor="ctr">
            <a:spAutoFit/>
          </a:bodyPr>
          <a:lstStyle/>
          <a:p>
            <a:pPr algn="l">
              <a:spcAft>
                <a:spcPts val="0"/>
              </a:spcAft>
            </a:pPr>
            <a:r>
              <a:rPr sz="1200" b="0">
                <a:solidFill>
                  <a:srgbClr val="4E433D"/>
                </a:solidFill>
                <a:latin typeface="Microsoft YaHei"/>
              </a:rPr>
              <a:t>页面壳子、看板卡片、列表表格、详情抽屉</a:t>
            </a:r>
          </a:p>
        </p:txBody>
      </p:sp>
      <p:sp>
        <p:nvSpPr>
          <p:cNvPr id="15" name="Down Arrow 14"/>
          <p:cNvSpPr/>
          <p:nvPr/>
        </p:nvSpPr>
        <p:spPr>
          <a:xfrm>
            <a:off x="5879592" y="3822191"/>
            <a:ext cx="274320" cy="164592"/>
          </a:xfrm>
          <a:prstGeom prst="down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78992" y="4251960"/>
            <a:ext cx="384048" cy="384048"/>
          </a:xfrm>
          <a:prstGeom prst="ellipse">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33856" y="4320540"/>
            <a:ext cx="274320" cy="73152"/>
          </a:xfrm>
          <a:prstGeom prst="rect">
            <a:avLst/>
          </a:prstGeom>
          <a:noFill/>
        </p:spPr>
        <p:txBody>
          <a:bodyPr wrap="square" anchor="ctr">
            <a:spAutoFit/>
          </a:bodyPr>
          <a:lstStyle/>
          <a:p>
            <a:pPr algn="ctr">
              <a:spcAft>
                <a:spcPts val="0"/>
              </a:spcAft>
            </a:pPr>
            <a:r>
              <a:rPr sz="919" b="1">
                <a:solidFill>
                  <a:srgbClr val="FFFFFF"/>
                </a:solidFill>
                <a:latin typeface="Arial"/>
              </a:rPr>
              <a:t>2</a:t>
            </a:r>
          </a:p>
        </p:txBody>
      </p:sp>
      <p:sp>
        <p:nvSpPr>
          <p:cNvPr id="18" name="Rounded Rectangle 17"/>
          <p:cNvSpPr/>
          <p:nvPr/>
        </p:nvSpPr>
        <p:spPr>
          <a:xfrm>
            <a:off x="1572768" y="4142232"/>
            <a:ext cx="2011680" cy="585216"/>
          </a:xfrm>
          <a:prstGeom prst="roundRect">
            <a:avLst>
              <a:gd name="adj" fmla="val 10000"/>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73936" y="4297680"/>
            <a:ext cx="1600200" cy="128016"/>
          </a:xfrm>
          <a:prstGeom prst="rect">
            <a:avLst/>
          </a:prstGeom>
          <a:noFill/>
        </p:spPr>
        <p:txBody>
          <a:bodyPr wrap="square" anchor="ctr">
            <a:spAutoFit/>
          </a:bodyPr>
          <a:lstStyle/>
          <a:p>
            <a:pPr algn="ctr">
              <a:spcAft>
                <a:spcPts val="0"/>
              </a:spcAft>
            </a:pPr>
            <a:r>
              <a:rPr sz="1180" b="1">
                <a:solidFill>
                  <a:srgbClr val="FFFFFF"/>
                </a:solidFill>
                <a:latin typeface="Microsoft YaHei"/>
              </a:rPr>
              <a:t>2. 交互层</a:t>
            </a:r>
          </a:p>
        </p:txBody>
      </p:sp>
      <p:sp>
        <p:nvSpPr>
          <p:cNvPr id="20" name="Rounded Rectangle 19"/>
          <p:cNvSpPr/>
          <p:nvPr/>
        </p:nvSpPr>
        <p:spPr>
          <a:xfrm>
            <a:off x="3767328" y="4142232"/>
            <a:ext cx="6382512" cy="585216"/>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05072" y="4251960"/>
            <a:ext cx="5925312" cy="274320"/>
          </a:xfrm>
          <a:prstGeom prst="rect">
            <a:avLst/>
          </a:prstGeom>
          <a:noFill/>
        </p:spPr>
        <p:txBody>
          <a:bodyPr wrap="square" anchor="ctr">
            <a:spAutoFit/>
          </a:bodyPr>
          <a:lstStyle/>
          <a:p>
            <a:pPr algn="l">
              <a:spcAft>
                <a:spcPts val="0"/>
              </a:spcAft>
            </a:pPr>
            <a:r>
              <a:rPr sz="1200" b="0">
                <a:solidFill>
                  <a:srgbClr val="4E433D"/>
                </a:solidFill>
                <a:latin typeface="Microsoft YaHei"/>
              </a:rPr>
              <a:t>筛选切换、建议查看、动作触发、结果回看</a:t>
            </a:r>
          </a:p>
        </p:txBody>
      </p:sp>
      <p:sp>
        <p:nvSpPr>
          <p:cNvPr id="22" name="Down Arrow 21"/>
          <p:cNvSpPr/>
          <p:nvPr/>
        </p:nvSpPr>
        <p:spPr>
          <a:xfrm>
            <a:off x="5879592" y="4718304"/>
            <a:ext cx="274320" cy="164592"/>
          </a:xfrm>
          <a:prstGeom prst="downArrow">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78992" y="5148072"/>
            <a:ext cx="384048" cy="384048"/>
          </a:xfrm>
          <a:prstGeom prst="ellipse">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33856" y="5216652"/>
            <a:ext cx="274320" cy="73152"/>
          </a:xfrm>
          <a:prstGeom prst="rect">
            <a:avLst/>
          </a:prstGeom>
          <a:noFill/>
        </p:spPr>
        <p:txBody>
          <a:bodyPr wrap="square" anchor="ctr">
            <a:spAutoFit/>
          </a:bodyPr>
          <a:lstStyle/>
          <a:p>
            <a:pPr algn="ctr">
              <a:spcAft>
                <a:spcPts val="0"/>
              </a:spcAft>
            </a:pPr>
            <a:r>
              <a:rPr sz="919" b="1">
                <a:solidFill>
                  <a:srgbClr val="FFFFFF"/>
                </a:solidFill>
                <a:latin typeface="Arial"/>
              </a:rPr>
              <a:t>3</a:t>
            </a:r>
          </a:p>
        </p:txBody>
      </p:sp>
      <p:sp>
        <p:nvSpPr>
          <p:cNvPr id="25" name="Rounded Rectangle 24"/>
          <p:cNvSpPr/>
          <p:nvPr/>
        </p:nvSpPr>
        <p:spPr>
          <a:xfrm>
            <a:off x="1572768" y="5038344"/>
            <a:ext cx="2011680" cy="585216"/>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73936" y="5193792"/>
            <a:ext cx="1600200" cy="128016"/>
          </a:xfrm>
          <a:prstGeom prst="rect">
            <a:avLst/>
          </a:prstGeom>
          <a:noFill/>
        </p:spPr>
        <p:txBody>
          <a:bodyPr wrap="square" anchor="ctr">
            <a:spAutoFit/>
          </a:bodyPr>
          <a:lstStyle/>
          <a:p>
            <a:pPr algn="ctr">
              <a:spcAft>
                <a:spcPts val="0"/>
              </a:spcAft>
            </a:pPr>
            <a:r>
              <a:rPr sz="1180" b="1">
                <a:solidFill>
                  <a:srgbClr val="FFFFFF"/>
                </a:solidFill>
                <a:latin typeface="Microsoft YaHei"/>
              </a:rPr>
              <a:t>3. 数据层</a:t>
            </a:r>
          </a:p>
        </p:txBody>
      </p:sp>
      <p:sp>
        <p:nvSpPr>
          <p:cNvPr id="27" name="Rounded Rectangle 26"/>
          <p:cNvSpPr/>
          <p:nvPr/>
        </p:nvSpPr>
        <p:spPr>
          <a:xfrm>
            <a:off x="3767328" y="5038344"/>
            <a:ext cx="6382512" cy="585216"/>
          </a:xfrm>
          <a:prstGeom prst="roundRect">
            <a:avLst>
              <a:gd name="adj" fmla="val 10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05072" y="5148072"/>
            <a:ext cx="5925312" cy="274320"/>
          </a:xfrm>
          <a:prstGeom prst="rect">
            <a:avLst/>
          </a:prstGeom>
          <a:noFill/>
        </p:spPr>
        <p:txBody>
          <a:bodyPr wrap="square" anchor="ctr">
            <a:spAutoFit/>
          </a:bodyPr>
          <a:lstStyle/>
          <a:p>
            <a:pPr algn="l">
              <a:spcAft>
                <a:spcPts val="0"/>
              </a:spcAft>
            </a:pPr>
            <a:r>
              <a:rPr sz="1200" b="0">
                <a:solidFill>
                  <a:srgbClr val="4E433D"/>
                </a:solidFill>
                <a:latin typeface="Microsoft YaHei"/>
              </a:rPr>
              <a:t>样例数据、页面状态配置、Mock 接口返回</a:t>
            </a:r>
          </a:p>
        </p:txBody>
      </p:sp>
      <p:sp>
        <p:nvSpPr>
          <p:cNvPr id="29" name="Rounded Rectangle 28"/>
          <p:cNvSpPr/>
          <p:nvPr/>
        </p:nvSpPr>
        <p:spPr>
          <a:xfrm>
            <a:off x="822960" y="6355080"/>
            <a:ext cx="10469880" cy="82296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8992" y="6556248"/>
            <a:ext cx="1463040" cy="274320"/>
          </a:xfrm>
          <a:prstGeom prst="rect">
            <a:avLst/>
          </a:prstGeom>
          <a:noFill/>
        </p:spPr>
        <p:txBody>
          <a:bodyPr wrap="square" anchor="t">
            <a:spAutoFit/>
          </a:bodyPr>
          <a:lstStyle/>
          <a:p>
            <a:pPr algn="l">
              <a:spcAft>
                <a:spcPts val="0"/>
              </a:spcAft>
            </a:pPr>
            <a:r>
              <a:rPr sz="1650" b="1">
                <a:solidFill>
                  <a:srgbClr val="A63A2B"/>
                </a:solidFill>
                <a:latin typeface="Microsoft YaHei"/>
              </a:rPr>
              <a:t>产品栈</a:t>
            </a:r>
          </a:p>
        </p:txBody>
      </p:sp>
      <p:sp>
        <p:nvSpPr>
          <p:cNvPr id="31" name="Rounded Rectangle 30"/>
          <p:cNvSpPr/>
          <p:nvPr/>
        </p:nvSpPr>
        <p:spPr>
          <a:xfrm>
            <a:off x="1993392" y="6528816"/>
            <a:ext cx="2057400" cy="384048"/>
          </a:xfrm>
          <a:prstGeom prst="roundRect">
            <a:avLst>
              <a:gd name="adj" fmla="val 8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84832" y="6629400"/>
            <a:ext cx="1874519" cy="109728"/>
          </a:xfrm>
          <a:prstGeom prst="rect">
            <a:avLst/>
          </a:prstGeom>
          <a:noFill/>
        </p:spPr>
        <p:txBody>
          <a:bodyPr wrap="square" anchor="ctr">
            <a:spAutoFit/>
          </a:bodyPr>
          <a:lstStyle/>
          <a:p>
            <a:pPr algn="ctr">
              <a:spcAft>
                <a:spcPts val="0"/>
              </a:spcAft>
            </a:pPr>
            <a:r>
              <a:rPr sz="980" b="0">
                <a:solidFill>
                  <a:srgbClr val="4E433D"/>
                </a:solidFill>
                <a:latin typeface="Microsoft YaHei"/>
              </a:rPr>
              <a:t>Azure AI Search</a:t>
            </a:r>
          </a:p>
        </p:txBody>
      </p:sp>
      <p:sp>
        <p:nvSpPr>
          <p:cNvPr id="33" name="Rounded Rectangle 32"/>
          <p:cNvSpPr/>
          <p:nvPr/>
        </p:nvSpPr>
        <p:spPr>
          <a:xfrm>
            <a:off x="4215384" y="6528816"/>
            <a:ext cx="2057400" cy="384048"/>
          </a:xfrm>
          <a:prstGeom prst="roundRect">
            <a:avLst>
              <a:gd name="adj" fmla="val 8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06824" y="6629400"/>
            <a:ext cx="1874519" cy="109728"/>
          </a:xfrm>
          <a:prstGeom prst="rect">
            <a:avLst/>
          </a:prstGeom>
          <a:noFill/>
        </p:spPr>
        <p:txBody>
          <a:bodyPr wrap="square" anchor="ctr">
            <a:spAutoFit/>
          </a:bodyPr>
          <a:lstStyle/>
          <a:p>
            <a:pPr algn="ctr">
              <a:spcAft>
                <a:spcPts val="0"/>
              </a:spcAft>
            </a:pPr>
            <a:r>
              <a:rPr sz="980" b="0">
                <a:solidFill>
                  <a:srgbClr val="4E433D"/>
                </a:solidFill>
                <a:latin typeface="Microsoft YaHei"/>
              </a:rPr>
              <a:t>Microsoft Fabric</a:t>
            </a:r>
          </a:p>
        </p:txBody>
      </p:sp>
      <p:sp>
        <p:nvSpPr>
          <p:cNvPr id="35" name="Rounded Rectangle 34"/>
          <p:cNvSpPr/>
          <p:nvPr/>
        </p:nvSpPr>
        <p:spPr>
          <a:xfrm>
            <a:off x="6437376" y="6528816"/>
            <a:ext cx="2057400" cy="384048"/>
          </a:xfrm>
          <a:prstGeom prst="roundRect">
            <a:avLst>
              <a:gd name="adj" fmla="val 8000"/>
            </a:avLst>
          </a:prstGeom>
          <a:solidFill>
            <a:srgbClr val="F6F1EC"/>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28816" y="6629400"/>
            <a:ext cx="1874519" cy="109728"/>
          </a:xfrm>
          <a:prstGeom prst="rect">
            <a:avLst/>
          </a:prstGeom>
          <a:noFill/>
        </p:spPr>
        <p:txBody>
          <a:bodyPr wrap="square" anchor="ctr">
            <a:spAutoFit/>
          </a:bodyPr>
          <a:lstStyle/>
          <a:p>
            <a:pPr algn="ctr">
              <a:spcAft>
                <a:spcPts val="0"/>
              </a:spcAft>
            </a:pPr>
            <a:r>
              <a:rPr sz="980" b="0">
                <a:solidFill>
                  <a:srgbClr val="4E433D"/>
                </a:solidFill>
                <a:latin typeface="Microsoft YaHei"/>
              </a:rPr>
              <a:t>Azure AI Foundry</a:t>
            </a:r>
          </a:p>
        </p:txBody>
      </p:sp>
      <p:sp>
        <p:nvSpPr>
          <p:cNvPr id="37" name="Rounded Rectangle 36"/>
          <p:cNvSpPr/>
          <p:nvPr/>
        </p:nvSpPr>
        <p:spPr>
          <a:xfrm>
            <a:off x="8659368" y="6528816"/>
            <a:ext cx="2057400" cy="384048"/>
          </a:xfrm>
          <a:prstGeom prst="roundRect">
            <a:avLst>
              <a:gd name="adj" fmla="val 8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50808" y="6629400"/>
            <a:ext cx="1874519" cy="109728"/>
          </a:xfrm>
          <a:prstGeom prst="rect">
            <a:avLst/>
          </a:prstGeom>
          <a:noFill/>
        </p:spPr>
        <p:txBody>
          <a:bodyPr wrap="square" anchor="ctr">
            <a:spAutoFit/>
          </a:bodyPr>
          <a:lstStyle/>
          <a:p>
            <a:pPr algn="ctr">
              <a:spcAft>
                <a:spcPts val="0"/>
              </a:spcAft>
            </a:pPr>
            <a:r>
              <a:rPr sz="980" b="0">
                <a:solidFill>
                  <a:srgbClr val="4E433D"/>
                </a:solidFill>
                <a:latin typeface="Microsoft YaHei"/>
              </a:rPr>
              <a:t>Azure OpenAI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能力映射与交付物</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6812280" cy="448056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65960"/>
            <a:ext cx="6263640" cy="274320"/>
          </a:xfrm>
          <a:prstGeom prst="rect">
            <a:avLst/>
          </a:prstGeom>
          <a:noFill/>
        </p:spPr>
        <p:txBody>
          <a:bodyPr wrap="square" anchor="t">
            <a:spAutoFit/>
          </a:bodyPr>
          <a:lstStyle/>
          <a:p>
            <a:pPr algn="l">
              <a:spcAft>
                <a:spcPts val="0"/>
              </a:spcAft>
            </a:pPr>
            <a:r>
              <a:rPr sz="1650" b="1">
                <a:solidFill>
                  <a:srgbClr val="A63A2B"/>
                </a:solidFill>
                <a:latin typeface="Microsoft YaHei"/>
              </a:rPr>
              <a:t>能力卡与产品映射</a:t>
            </a:r>
          </a:p>
        </p:txBody>
      </p:sp>
      <p:sp>
        <p:nvSpPr>
          <p:cNvPr id="7" name="TextBox 6"/>
          <p:cNvSpPr txBox="1"/>
          <p:nvPr/>
        </p:nvSpPr>
        <p:spPr>
          <a:xfrm>
            <a:off x="1051560" y="2487168"/>
            <a:ext cx="6355080" cy="3154680"/>
          </a:xfrm>
          <a:prstGeom prst="rect">
            <a:avLst/>
          </a:prstGeom>
          <a:noFill/>
        </p:spPr>
        <p:txBody>
          <a:bodyPr wrap="square" anchor="t">
            <a:spAutoFit/>
          </a:bodyPr>
          <a:lstStyle/>
          <a:p>
            <a:pPr algn="l">
              <a:spcAft>
                <a:spcPts val="800"/>
              </a:spcAft>
            </a:pPr>
            <a:r>
              <a:rPr sz="1380" b="0">
                <a:solidFill>
                  <a:srgbClr val="4E433D"/>
                </a:solidFill>
                <a:latin typeface="Microsoft YaHei"/>
              </a:rPr>
              <a:t>维修资料与工单知识整合 -&gt; Azure AI Search, Microsoft Fabric | 交付：统一知识检索与数据汇聚底座</a:t>
            </a:r>
          </a:p>
          <a:p>
            <a:pPr algn="l">
              <a:spcAft>
                <a:spcPts val="800"/>
              </a:spcAft>
            </a:pPr>
            <a:r>
              <a:rPr sz="1380" b="0">
                <a:solidFill>
                  <a:srgbClr val="4E433D"/>
                </a:solidFill>
                <a:latin typeface="Microsoft YaHei"/>
              </a:rPr>
              <a:t>维修问答与处理建议生成 -&gt; Azure AI Foundry, Azure OpenAI | 交付：售后维修问答助手与建议生成能力</a:t>
            </a:r>
          </a:p>
          <a:p>
            <a:pPr algn="l">
              <a:spcAft>
                <a:spcPts val="800"/>
              </a:spcAft>
            </a:pPr>
            <a:r>
              <a:rPr sz="1380" b="0">
                <a:solidFill>
                  <a:srgbClr val="4E433D"/>
                </a:solidFill>
                <a:latin typeface="Microsoft YaHei"/>
              </a:rPr>
              <a:t>工单流转与协同闭环 -&gt; Power Automate, Dynamics 365 Customer Service | 交付：问题升级、任务流转与处理闭环</a:t>
            </a:r>
          </a:p>
        </p:txBody>
      </p:sp>
      <p:sp>
        <p:nvSpPr>
          <p:cNvPr id="8" name="Rounded Rectangle 7"/>
          <p:cNvSpPr/>
          <p:nvPr/>
        </p:nvSpPr>
        <p:spPr>
          <a:xfrm>
            <a:off x="7955279" y="1737360"/>
            <a:ext cx="3337560" cy="192024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56816"/>
            <a:ext cx="2788920" cy="274320"/>
          </a:xfrm>
          <a:prstGeom prst="rect">
            <a:avLst/>
          </a:prstGeom>
          <a:noFill/>
        </p:spPr>
        <p:txBody>
          <a:bodyPr wrap="square" anchor="t">
            <a:spAutoFit/>
          </a:bodyPr>
          <a:lstStyle/>
          <a:p>
            <a:pPr algn="l">
              <a:spcAft>
                <a:spcPts val="0"/>
              </a:spcAft>
            </a:pPr>
            <a:r>
              <a:rPr sz="1650" b="1">
                <a:solidFill>
                  <a:srgbClr val="A63A2B"/>
                </a:solidFill>
                <a:latin typeface="Microsoft YaHei"/>
              </a:rPr>
              <a:t>推荐产品栈</a:t>
            </a:r>
          </a:p>
        </p:txBody>
      </p:sp>
      <p:sp>
        <p:nvSpPr>
          <p:cNvPr id="10" name="TextBox 9"/>
          <p:cNvSpPr txBox="1"/>
          <p:nvPr/>
        </p:nvSpPr>
        <p:spPr>
          <a:xfrm>
            <a:off x="8229600" y="2359152"/>
            <a:ext cx="2788920" cy="932688"/>
          </a:xfrm>
          <a:prstGeom prst="rect">
            <a:avLst/>
          </a:prstGeom>
          <a:noFill/>
        </p:spPr>
        <p:txBody>
          <a:bodyPr wrap="square" anchor="t">
            <a:spAutoFit/>
          </a:bodyPr>
          <a:lstStyle/>
          <a:p>
            <a:pPr algn="l">
              <a:spcAft>
                <a:spcPts val="0"/>
              </a:spcAft>
            </a:pPr>
            <a:r>
              <a:rPr sz="1350" b="0">
                <a:solidFill>
                  <a:srgbClr val="4E433D"/>
                </a:solidFill>
                <a:latin typeface="Microsoft YaHei"/>
              </a:rPr>
              <a:t>优先产品栈：Azure AI Search / Microsoft Fabric / Azure AI Foundry / Azure OpenAI</a:t>
            </a:r>
          </a:p>
        </p:txBody>
      </p:sp>
      <p:sp>
        <p:nvSpPr>
          <p:cNvPr id="11" name="Rounded Rectangle 10"/>
          <p:cNvSpPr/>
          <p:nvPr/>
        </p:nvSpPr>
        <p:spPr>
          <a:xfrm>
            <a:off x="7955279" y="3977639"/>
            <a:ext cx="3337560" cy="2240280"/>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224528"/>
            <a:ext cx="2788920" cy="274320"/>
          </a:xfrm>
          <a:prstGeom prst="rect">
            <a:avLst/>
          </a:prstGeom>
          <a:noFill/>
        </p:spPr>
        <p:txBody>
          <a:bodyPr wrap="square" anchor="t">
            <a:spAutoFit/>
          </a:bodyPr>
          <a:lstStyle/>
          <a:p>
            <a:pPr algn="l">
              <a:spcAft>
                <a:spcPts val="0"/>
              </a:spcAft>
            </a:pPr>
            <a:r>
              <a:rPr sz="1650" b="1">
                <a:solidFill>
                  <a:srgbClr val="FFFFFF"/>
                </a:solidFill>
                <a:latin typeface="Microsoft YaHei"/>
              </a:rPr>
              <a:t>现场交付物</a:t>
            </a:r>
          </a:p>
        </p:txBody>
      </p:sp>
      <p:sp>
        <p:nvSpPr>
          <p:cNvPr id="13" name="TextBox 12"/>
          <p:cNvSpPr txBox="1"/>
          <p:nvPr/>
        </p:nvSpPr>
        <p:spPr>
          <a:xfrm>
            <a:off x="8229600" y="4590288"/>
            <a:ext cx="2788920" cy="1188720"/>
          </a:xfrm>
          <a:prstGeom prst="rect">
            <a:avLst/>
          </a:prstGeom>
          <a:noFill/>
        </p:spPr>
        <p:txBody>
          <a:bodyPr wrap="square" anchor="t">
            <a:spAutoFit/>
          </a:bodyPr>
          <a:lstStyle/>
          <a:p>
            <a:pPr algn="l">
              <a:spcAft>
                <a:spcPts val="0"/>
              </a:spcAft>
            </a:pPr>
            <a:r>
              <a:rPr sz="1350" b="0">
                <a:solidFill>
                  <a:srgbClr val="FFFFFF"/>
                </a:solidFill>
                <a:latin typeface="Microsoft YaHei"/>
              </a:rPr>
              <a:t>现场交付物：Workshop 定制化 PPT / AI Flow 流程方案 / 售后维修问答工作台原型建议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业务价值与验证假设</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3246120" cy="448056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93392"/>
            <a:ext cx="2834640" cy="274320"/>
          </a:xfrm>
          <a:prstGeom prst="rect">
            <a:avLst/>
          </a:prstGeom>
          <a:noFill/>
        </p:spPr>
        <p:txBody>
          <a:bodyPr wrap="square" anchor="t">
            <a:spAutoFit/>
          </a:bodyPr>
          <a:lstStyle/>
          <a:p>
            <a:pPr algn="l">
              <a:spcAft>
                <a:spcPts val="0"/>
              </a:spcAft>
            </a:pPr>
            <a:r>
              <a:rPr sz="1650" b="1">
                <a:solidFill>
                  <a:srgbClr val="A63A2B"/>
                </a:solidFill>
                <a:latin typeface="Microsoft YaHei"/>
              </a:rPr>
              <a:t>业务价值</a:t>
            </a:r>
          </a:p>
        </p:txBody>
      </p:sp>
      <p:sp>
        <p:nvSpPr>
          <p:cNvPr id="7" name="TextBox 6"/>
          <p:cNvSpPr txBox="1"/>
          <p:nvPr/>
        </p:nvSpPr>
        <p:spPr>
          <a:xfrm>
            <a:off x="1024128" y="2468880"/>
            <a:ext cx="2834640" cy="3246120"/>
          </a:xfrm>
          <a:prstGeom prst="rect">
            <a:avLst/>
          </a:prstGeom>
          <a:noFill/>
        </p:spPr>
        <p:txBody>
          <a:bodyPr wrap="square" anchor="t">
            <a:spAutoFit/>
          </a:bodyPr>
          <a:lstStyle/>
          <a:p>
            <a:pPr algn="l">
              <a:spcAft>
                <a:spcPts val="800"/>
              </a:spcAft>
            </a:pPr>
            <a:r>
              <a:rPr sz="1400" b="0">
                <a:solidFill>
                  <a:srgbClr val="4E433D"/>
                </a:solidFill>
                <a:latin typeface="Microsoft YaHei"/>
              </a:rPr>
              <a:t>缩短售后人员查询资料和定位问题的时间</a:t>
            </a:r>
          </a:p>
          <a:p>
            <a:pPr algn="l">
              <a:spcAft>
                <a:spcPts val="800"/>
              </a:spcAft>
            </a:pPr>
            <a:r>
              <a:rPr sz="1400" b="0">
                <a:solidFill>
                  <a:srgbClr val="4E433D"/>
                </a:solidFill>
                <a:latin typeface="Microsoft YaHei"/>
              </a:rPr>
              <a:t>提升常见维修问题的标准化处理效率</a:t>
            </a:r>
          </a:p>
          <a:p>
            <a:pPr algn="l">
              <a:spcAft>
                <a:spcPts val="800"/>
              </a:spcAft>
            </a:pPr>
            <a:r>
              <a:rPr sz="1400" b="0">
                <a:solidFill>
                  <a:srgbClr val="4E433D"/>
                </a:solidFill>
                <a:latin typeface="Microsoft YaHei"/>
              </a:rPr>
              <a:t>降低对资深专家经验的过度依赖</a:t>
            </a:r>
          </a:p>
          <a:p>
            <a:pPr algn="l">
              <a:spcAft>
                <a:spcPts val="800"/>
              </a:spcAft>
            </a:pPr>
            <a:r>
              <a:rPr sz="1400" b="0">
                <a:solidFill>
                  <a:srgbClr val="4E433D"/>
                </a:solidFill>
                <a:latin typeface="Microsoft YaHei"/>
              </a:rPr>
              <a:t>推动维修知识持续沉淀和复用</a:t>
            </a:r>
          </a:p>
        </p:txBody>
      </p:sp>
      <p:sp>
        <p:nvSpPr>
          <p:cNvPr id="8" name="Rounded Rectangle 7"/>
          <p:cNvSpPr/>
          <p:nvPr/>
        </p:nvSpPr>
        <p:spPr>
          <a:xfrm>
            <a:off x="4462272" y="1783080"/>
            <a:ext cx="3246120" cy="448056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93392"/>
            <a:ext cx="2834640" cy="274320"/>
          </a:xfrm>
          <a:prstGeom prst="rect">
            <a:avLst/>
          </a:prstGeom>
          <a:noFill/>
        </p:spPr>
        <p:txBody>
          <a:bodyPr wrap="square" anchor="t">
            <a:spAutoFit/>
          </a:bodyPr>
          <a:lstStyle/>
          <a:p>
            <a:pPr algn="l">
              <a:spcAft>
                <a:spcPts val="0"/>
              </a:spcAft>
            </a:pPr>
            <a:r>
              <a:rPr sz="1650" b="1">
                <a:solidFill>
                  <a:srgbClr val="A63A2B"/>
                </a:solidFill>
                <a:latin typeface="Microsoft YaHei"/>
              </a:rPr>
              <a:t>关键指标</a:t>
            </a:r>
          </a:p>
        </p:txBody>
      </p:sp>
      <p:sp>
        <p:nvSpPr>
          <p:cNvPr id="10" name="TextBox 9"/>
          <p:cNvSpPr txBox="1"/>
          <p:nvPr/>
        </p:nvSpPr>
        <p:spPr>
          <a:xfrm>
            <a:off x="4663440" y="2468880"/>
            <a:ext cx="2834640" cy="3246120"/>
          </a:xfrm>
          <a:prstGeom prst="rect">
            <a:avLst/>
          </a:prstGeom>
          <a:noFill/>
        </p:spPr>
        <p:txBody>
          <a:bodyPr wrap="square" anchor="t">
            <a:spAutoFit/>
          </a:bodyPr>
          <a:lstStyle/>
          <a:p>
            <a:pPr algn="l">
              <a:spcAft>
                <a:spcPts val="800"/>
              </a:spcAft>
            </a:pPr>
            <a:r>
              <a:rPr sz="1400" b="0">
                <a:solidFill>
                  <a:srgbClr val="4E433D"/>
                </a:solidFill>
                <a:latin typeface="Microsoft YaHei"/>
              </a:rPr>
              <a:t>知识检索时间缩短 50%</a:t>
            </a:r>
          </a:p>
          <a:p>
            <a:pPr algn="l">
              <a:spcAft>
                <a:spcPts val="800"/>
              </a:spcAft>
            </a:pPr>
            <a:r>
              <a:rPr sz="1400" b="0">
                <a:solidFill>
                  <a:srgbClr val="4E433D"/>
                </a:solidFill>
                <a:latin typeface="Microsoft YaHei"/>
              </a:rPr>
              <a:t>首轮问题响应时间下降 30%</a:t>
            </a:r>
          </a:p>
          <a:p>
            <a:pPr algn="l">
              <a:spcAft>
                <a:spcPts val="800"/>
              </a:spcAft>
            </a:pPr>
            <a:r>
              <a:rPr sz="1400" b="0">
                <a:solidFill>
                  <a:srgbClr val="4E433D"/>
                </a:solidFill>
                <a:latin typeface="Microsoft YaHei"/>
              </a:rPr>
              <a:t>常见问题自主处理率提升 40%</a:t>
            </a:r>
          </a:p>
        </p:txBody>
      </p:sp>
      <p:sp>
        <p:nvSpPr>
          <p:cNvPr id="11" name="Rounded Rectangle 10"/>
          <p:cNvSpPr/>
          <p:nvPr/>
        </p:nvSpPr>
        <p:spPr>
          <a:xfrm>
            <a:off x="8101583" y="1783080"/>
            <a:ext cx="3246120" cy="448056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993392"/>
            <a:ext cx="2834640" cy="274320"/>
          </a:xfrm>
          <a:prstGeom prst="rect">
            <a:avLst/>
          </a:prstGeom>
          <a:noFill/>
        </p:spPr>
        <p:txBody>
          <a:bodyPr wrap="square" anchor="t">
            <a:spAutoFit/>
          </a:bodyPr>
          <a:lstStyle/>
          <a:p>
            <a:pPr algn="l">
              <a:spcAft>
                <a:spcPts val="0"/>
              </a:spcAft>
            </a:pPr>
            <a:r>
              <a:rPr sz="1650" b="1">
                <a:solidFill>
                  <a:srgbClr val="A63A2B"/>
                </a:solidFill>
                <a:latin typeface="Microsoft YaHei"/>
              </a:rPr>
              <a:t>POC 验证点</a:t>
            </a:r>
          </a:p>
        </p:txBody>
      </p:sp>
      <p:sp>
        <p:nvSpPr>
          <p:cNvPr id="13" name="TextBox 12"/>
          <p:cNvSpPr txBox="1"/>
          <p:nvPr/>
        </p:nvSpPr>
        <p:spPr>
          <a:xfrm>
            <a:off x="8302752" y="2468880"/>
            <a:ext cx="2834640" cy="3246120"/>
          </a:xfrm>
          <a:prstGeom prst="rect">
            <a:avLst/>
          </a:prstGeom>
          <a:noFill/>
        </p:spPr>
        <p:txBody>
          <a:bodyPr wrap="square" anchor="t">
            <a:spAutoFit/>
          </a:bodyPr>
          <a:lstStyle/>
          <a:p>
            <a:pPr algn="l">
              <a:spcAft>
                <a:spcPts val="800"/>
              </a:spcAft>
            </a:pPr>
            <a:r>
              <a:rPr sz="1400" b="0">
                <a:solidFill>
                  <a:srgbClr val="4E433D"/>
                </a:solidFill>
                <a:latin typeface="Microsoft YaHei"/>
              </a:rPr>
              <a:t>1. 维修知识召回与答案准确性是否满足一线使用</a:t>
            </a:r>
          </a:p>
          <a:p>
            <a:pPr algn="l">
              <a:spcAft>
                <a:spcPts val="800"/>
              </a:spcAft>
            </a:pPr>
            <a:r>
              <a:rPr sz="1400" b="0">
                <a:solidFill>
                  <a:srgbClr val="4E433D"/>
                </a:solidFill>
                <a:latin typeface="Microsoft YaHei"/>
              </a:rPr>
              <a:t>2. AI 生成的处理建议是否具备可执行性</a:t>
            </a:r>
          </a:p>
          <a:p>
            <a:pPr algn="l">
              <a:spcAft>
                <a:spcPts val="800"/>
              </a:spcAft>
            </a:pPr>
            <a:r>
              <a:rPr sz="1400" b="0">
                <a:solidFill>
                  <a:srgbClr val="4E433D"/>
                </a:solidFill>
                <a:latin typeface="Microsoft YaHei"/>
              </a:rPr>
              <a:t>3. 复杂问题升级与协同流程是否顺畅可落地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原型与 MVP 设计</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69164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75104"/>
            <a:ext cx="7223760" cy="274320"/>
          </a:xfrm>
          <a:prstGeom prst="rect">
            <a:avLst/>
          </a:prstGeom>
          <a:noFill/>
        </p:spPr>
        <p:txBody>
          <a:bodyPr wrap="square" anchor="t">
            <a:spAutoFit/>
          </a:bodyPr>
          <a:lstStyle/>
          <a:p>
            <a:pPr algn="l">
              <a:spcAft>
                <a:spcPts val="0"/>
              </a:spcAft>
            </a:pPr>
            <a:r>
              <a:rPr sz="1650" b="1">
                <a:solidFill>
                  <a:srgbClr val="A63A2B"/>
                </a:solidFill>
                <a:latin typeface="Microsoft YaHei"/>
              </a:rPr>
              <a:t>原型摘要</a:t>
            </a:r>
          </a:p>
        </p:txBody>
      </p:sp>
      <p:sp>
        <p:nvSpPr>
          <p:cNvPr id="7" name="TextBox 6"/>
          <p:cNvSpPr txBox="1"/>
          <p:nvPr/>
        </p:nvSpPr>
        <p:spPr>
          <a:xfrm>
            <a:off x="1097280" y="2359152"/>
            <a:ext cx="7269480" cy="896112"/>
          </a:xfrm>
          <a:prstGeom prst="rect">
            <a:avLst/>
          </a:prstGeom>
          <a:noFill/>
        </p:spPr>
        <p:txBody>
          <a:bodyPr wrap="square" anchor="t">
            <a:spAutoFit/>
          </a:bodyPr>
          <a:lstStyle/>
          <a:p>
            <a:pPr algn="l">
              <a:spcAft>
                <a:spcPts val="600"/>
              </a:spcAft>
            </a:pPr>
            <a:r>
              <a:rPr sz="1220" b="0">
                <a:solidFill>
                  <a:srgbClr val="4E433D"/>
                </a:solidFill>
                <a:latin typeface="Microsoft YaHei"/>
              </a:rPr>
              <a:t>电子产品售后维修问答工作台；目标用户：售后人员</a:t>
            </a:r>
          </a:p>
          <a:p>
            <a:pPr algn="l">
              <a:spcAft>
                <a:spcPts val="600"/>
              </a:spcAft>
            </a:pPr>
            <a:r>
              <a:rPr sz="1220" b="0">
                <a:solidFill>
                  <a:srgbClr val="4E433D"/>
                </a:solidFill>
                <a:latin typeface="Microsoft YaHei"/>
              </a:rPr>
              <a:t>售后维修问答工作台；目标：为售后人员提供统一的维修知识检索、问题问答和处理协同入口</a:t>
            </a:r>
          </a:p>
          <a:p>
            <a:pPr algn="l">
              <a:spcAft>
                <a:spcPts val="600"/>
              </a:spcAft>
            </a:pPr>
            <a:r>
              <a:rPr sz="1220" b="0">
                <a:solidFill>
                  <a:srgbClr val="4E433D"/>
                </a:solidFill>
                <a:latin typeface="Microsoft YaHei"/>
              </a:rPr>
              <a:t>前端壳子优先；核心任务：快速检索维修知识并生成可执行的处理建议；技术栈：Next.js + Tailwind CSS</a:t>
            </a:r>
          </a:p>
        </p:txBody>
      </p:sp>
      <p:sp>
        <p:nvSpPr>
          <p:cNvPr id="8" name="Rounded Rectangle 7"/>
          <p:cNvSpPr/>
          <p:nvPr/>
        </p:nvSpPr>
        <p:spPr>
          <a:xfrm>
            <a:off x="822960" y="3767328"/>
            <a:ext cx="3822191" cy="233172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995928"/>
            <a:ext cx="3291840" cy="274320"/>
          </a:xfrm>
          <a:prstGeom prst="rect">
            <a:avLst/>
          </a:prstGeom>
          <a:noFill/>
        </p:spPr>
        <p:txBody>
          <a:bodyPr wrap="square" anchor="t">
            <a:spAutoFit/>
          </a:bodyPr>
          <a:lstStyle/>
          <a:p>
            <a:pPr algn="l">
              <a:spcAft>
                <a:spcPts val="0"/>
              </a:spcAft>
            </a:pPr>
            <a:r>
              <a:rPr sz="1650" b="1">
                <a:solidFill>
                  <a:srgbClr val="A63A2B"/>
                </a:solidFill>
                <a:latin typeface="Microsoft YaHei"/>
              </a:rPr>
              <a:t>MVP 页面范围</a:t>
            </a:r>
          </a:p>
        </p:txBody>
      </p:sp>
      <p:sp>
        <p:nvSpPr>
          <p:cNvPr id="10" name="TextBox 9"/>
          <p:cNvSpPr txBox="1"/>
          <p:nvPr/>
        </p:nvSpPr>
        <p:spPr>
          <a:xfrm>
            <a:off x="1051560" y="4389120"/>
            <a:ext cx="3291840" cy="1417320"/>
          </a:xfrm>
          <a:prstGeom prst="rect">
            <a:avLst/>
          </a:prstGeom>
          <a:noFill/>
        </p:spPr>
        <p:txBody>
          <a:bodyPr wrap="square" anchor="t">
            <a:spAutoFit/>
          </a:bodyPr>
          <a:lstStyle/>
          <a:p>
            <a:pPr algn="l">
              <a:spcAft>
                <a:spcPts val="600"/>
              </a:spcAft>
            </a:pPr>
            <a:r>
              <a:rPr sz="1290" b="0">
                <a:solidFill>
                  <a:srgbClr val="4E433D"/>
                </a:solidFill>
                <a:latin typeface="Microsoft YaHei"/>
              </a:rPr>
              <a:t>1. 维修问答首页</a:t>
            </a:r>
          </a:p>
          <a:p>
            <a:pPr algn="l">
              <a:spcAft>
                <a:spcPts val="600"/>
              </a:spcAft>
            </a:pPr>
            <a:r>
              <a:rPr sz="1290" b="0">
                <a:solidFill>
                  <a:srgbClr val="4E433D"/>
                </a:solidFill>
                <a:latin typeface="Microsoft YaHei"/>
              </a:rPr>
              <a:t>2. 问题分析详情页</a:t>
            </a:r>
          </a:p>
          <a:p>
            <a:pPr algn="l">
              <a:spcAft>
                <a:spcPts val="600"/>
              </a:spcAft>
            </a:pPr>
            <a:r>
              <a:rPr sz="1290" b="0">
                <a:solidFill>
                  <a:srgbClr val="4E433D"/>
                </a:solidFill>
                <a:latin typeface="Microsoft YaHei"/>
              </a:rPr>
              <a:t>3. 处理建议与升级动作页</a:t>
            </a:r>
          </a:p>
          <a:p>
            <a:pPr algn="l">
              <a:spcAft>
                <a:spcPts val="600"/>
              </a:spcAft>
            </a:pPr>
            <a:r>
              <a:rPr sz="1290" b="0">
                <a:solidFill>
                  <a:srgbClr val="4E433D"/>
                </a:solidFill>
                <a:latin typeface="Microsoft YaHei"/>
              </a:rPr>
              <a:t>4. 问题输入与检索区</a:t>
            </a:r>
          </a:p>
        </p:txBody>
      </p:sp>
      <p:sp>
        <p:nvSpPr>
          <p:cNvPr id="11" name="Rounded Rectangle 10"/>
          <p:cNvSpPr/>
          <p:nvPr/>
        </p:nvSpPr>
        <p:spPr>
          <a:xfrm>
            <a:off x="4910328" y="3767328"/>
            <a:ext cx="3822191" cy="233172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8928" y="3995928"/>
            <a:ext cx="3291840" cy="274320"/>
          </a:xfrm>
          <a:prstGeom prst="rect">
            <a:avLst/>
          </a:prstGeom>
          <a:noFill/>
        </p:spPr>
        <p:txBody>
          <a:bodyPr wrap="square" anchor="t">
            <a:spAutoFit/>
          </a:bodyPr>
          <a:lstStyle/>
          <a:p>
            <a:pPr algn="l">
              <a:spcAft>
                <a:spcPts val="0"/>
              </a:spcAft>
            </a:pPr>
            <a:r>
              <a:rPr sz="1650" b="1">
                <a:solidFill>
                  <a:srgbClr val="A63A2B"/>
                </a:solidFill>
                <a:latin typeface="Microsoft YaHei"/>
              </a:rPr>
              <a:t>快速开发路径</a:t>
            </a:r>
          </a:p>
        </p:txBody>
      </p:sp>
      <p:sp>
        <p:nvSpPr>
          <p:cNvPr id="13" name="TextBox 12"/>
          <p:cNvSpPr txBox="1"/>
          <p:nvPr/>
        </p:nvSpPr>
        <p:spPr>
          <a:xfrm>
            <a:off x="5138928" y="4389120"/>
            <a:ext cx="3291840" cy="1417320"/>
          </a:xfrm>
          <a:prstGeom prst="rect">
            <a:avLst/>
          </a:prstGeom>
          <a:noFill/>
        </p:spPr>
        <p:txBody>
          <a:bodyPr wrap="square" anchor="t">
            <a:spAutoFit/>
          </a:bodyPr>
          <a:lstStyle/>
          <a:p>
            <a:pPr algn="l">
              <a:spcAft>
                <a:spcPts val="600"/>
              </a:spcAft>
            </a:pPr>
            <a:r>
              <a:rPr sz="1290" b="0">
                <a:solidFill>
                  <a:srgbClr val="4E433D"/>
                </a:solidFill>
                <a:latin typeface="Microsoft YaHei"/>
              </a:rPr>
              <a:t>1. 确认试点产品范围和高频故障问题清单</a:t>
            </a:r>
          </a:p>
          <a:p>
            <a:pPr algn="l">
              <a:spcAft>
                <a:spcPts val="600"/>
              </a:spcAft>
            </a:pPr>
            <a:r>
              <a:rPr sz="1290" b="0">
                <a:solidFill>
                  <a:srgbClr val="4E433D"/>
                </a:solidFill>
                <a:latin typeface="Microsoft YaHei"/>
              </a:rPr>
              <a:t>2. 整理维修手册、FAQ 和历史工单样本</a:t>
            </a:r>
          </a:p>
          <a:p>
            <a:pPr algn="l">
              <a:spcAft>
                <a:spcPts val="600"/>
              </a:spcAft>
            </a:pPr>
            <a:r>
              <a:rPr sz="1290" b="0">
                <a:solidFill>
                  <a:srgbClr val="4E433D"/>
                </a:solidFill>
                <a:latin typeface="Microsoft YaHei"/>
              </a:rPr>
              <a:t>3. 两周内完成问答工作台原型和首轮效果验证</a:t>
            </a:r>
          </a:p>
          <a:p>
            <a:pPr algn="l">
              <a:spcAft>
                <a:spcPts val="600"/>
              </a:spcAft>
            </a:pPr>
            <a:r>
              <a:rPr sz="1290" b="0">
                <a:solidFill>
                  <a:srgbClr val="4E433D"/>
                </a:solidFill>
                <a:latin typeface="Microsoft YaHei"/>
              </a:rPr>
              <a:t>4. 基于方案设计文档快速搭建静态页面和样例数据</a:t>
            </a:r>
          </a:p>
        </p:txBody>
      </p:sp>
      <p:pic>
        <p:nvPicPr>
          <p:cNvPr id="14" name="Picture 13" descr="image.png"/>
          <p:cNvPicPr>
            <a:picLocks noChangeAspect="1"/>
          </p:cNvPicPr>
          <p:nvPr/>
        </p:nvPicPr>
        <p:blipFill>
          <a:blip r:embed="rId2"/>
          <a:stretch>
            <a:fillRect/>
          </a:stretch>
        </p:blipFill>
        <p:spPr>
          <a:xfrm>
            <a:off x="8961120" y="1828800"/>
            <a:ext cx="2103120" cy="42976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1EC"/>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D97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A63A2B"/>
                </a:solidFill>
                <a:latin typeface="Microsoft YaHei"/>
              </a:rPr>
              <a:t>POC 与下一步</a:t>
            </a:r>
          </a:p>
        </p:txBody>
      </p:sp>
      <p:sp>
        <p:nvSpPr>
          <p:cNvPr id="4" name="Rectangle 3"/>
          <p:cNvSpPr/>
          <p:nvPr/>
        </p:nvSpPr>
        <p:spPr>
          <a:xfrm>
            <a:off x="822960" y="1325880"/>
            <a:ext cx="10515600" cy="27432"/>
          </a:xfrm>
          <a:prstGeom prst="rect">
            <a:avLst/>
          </a:prstGeom>
          <a:solidFill>
            <a:srgbClr val="F3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A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POC 范围</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20" b="1">
                <a:solidFill>
                  <a:srgbClr val="FFFFFF"/>
                </a:solidFill>
                <a:latin typeface="Microsoft YaHei"/>
              </a:rPr>
              <a:t>优先验证维修知识检索、问题问答和复杂问题升级三段闭环，以高频售后问题为试点。</a:t>
            </a:r>
          </a:p>
        </p:txBody>
      </p:sp>
      <p:sp>
        <p:nvSpPr>
          <p:cNvPr id="8" name="Rounded Rectangle 7"/>
          <p:cNvSpPr/>
          <p:nvPr/>
        </p:nvSpPr>
        <p:spPr>
          <a:xfrm>
            <a:off x="822960" y="2743200"/>
            <a:ext cx="3886200" cy="3383280"/>
          </a:xfrm>
          <a:prstGeom prst="roundRect">
            <a:avLst>
              <a:gd name="adj" fmla="val 10000"/>
            </a:avLst>
          </a:prstGeom>
          <a:solidFill>
            <a:srgbClr val="FBF7F3"/>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3337560" cy="274320"/>
          </a:xfrm>
          <a:prstGeom prst="rect">
            <a:avLst/>
          </a:prstGeom>
          <a:noFill/>
        </p:spPr>
        <p:txBody>
          <a:bodyPr wrap="square" anchor="t">
            <a:spAutoFit/>
          </a:bodyPr>
          <a:lstStyle/>
          <a:p>
            <a:pPr algn="l">
              <a:spcAft>
                <a:spcPts val="0"/>
              </a:spcAft>
            </a:pPr>
            <a:r>
              <a:rPr sz="1650" b="1">
                <a:solidFill>
                  <a:srgbClr val="A63A2B"/>
                </a:solidFill>
                <a:latin typeface="Microsoft YaHei"/>
              </a:rPr>
              <a:t>关键角色</a:t>
            </a:r>
          </a:p>
        </p:txBody>
      </p:sp>
      <p:sp>
        <p:nvSpPr>
          <p:cNvPr id="10" name="TextBox 9"/>
          <p:cNvSpPr txBox="1"/>
          <p:nvPr/>
        </p:nvSpPr>
        <p:spPr>
          <a:xfrm>
            <a:off x="1097280" y="3474720"/>
            <a:ext cx="3337560" cy="2148840"/>
          </a:xfrm>
          <a:prstGeom prst="rect">
            <a:avLst/>
          </a:prstGeom>
          <a:noFill/>
        </p:spPr>
        <p:txBody>
          <a:bodyPr wrap="square" anchor="t">
            <a:spAutoFit/>
          </a:bodyPr>
          <a:lstStyle/>
          <a:p>
            <a:pPr algn="l">
              <a:spcAft>
                <a:spcPts val="800"/>
              </a:spcAft>
            </a:pPr>
            <a:r>
              <a:rPr sz="1350" b="0">
                <a:solidFill>
                  <a:srgbClr val="4E433D"/>
                </a:solidFill>
                <a:latin typeface="Microsoft YaHei"/>
              </a:rPr>
              <a:t>售后人员</a:t>
            </a:r>
          </a:p>
          <a:p>
            <a:pPr algn="l">
              <a:spcAft>
                <a:spcPts val="800"/>
              </a:spcAft>
            </a:pPr>
            <a:r>
              <a:rPr sz="1350" b="0">
                <a:solidFill>
                  <a:srgbClr val="4E433D"/>
                </a:solidFill>
                <a:latin typeface="Microsoft YaHei"/>
              </a:rPr>
              <a:t>售后负责人</a:t>
            </a:r>
          </a:p>
          <a:p>
            <a:pPr algn="l">
              <a:spcAft>
                <a:spcPts val="800"/>
              </a:spcAft>
            </a:pPr>
            <a:r>
              <a:rPr sz="1350" b="0">
                <a:solidFill>
                  <a:srgbClr val="4E433D"/>
                </a:solidFill>
                <a:latin typeface="Microsoft YaHei"/>
              </a:rPr>
              <a:t>IT / 数字化团队</a:t>
            </a:r>
          </a:p>
        </p:txBody>
      </p:sp>
      <p:sp>
        <p:nvSpPr>
          <p:cNvPr id="11" name="Rounded Rectangle 10"/>
          <p:cNvSpPr/>
          <p:nvPr/>
        </p:nvSpPr>
        <p:spPr>
          <a:xfrm>
            <a:off x="4937760" y="2743200"/>
            <a:ext cx="3886200" cy="3383280"/>
          </a:xfrm>
          <a:prstGeom prst="roundRect">
            <a:avLst>
              <a:gd name="adj" fmla="val 10000"/>
            </a:avLst>
          </a:prstGeom>
          <a:solidFill>
            <a:srgbClr val="F3E7DE"/>
          </a:solidFill>
          <a:ln w="10160">
            <a:solidFill>
              <a:srgbClr val="DCC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971800"/>
            <a:ext cx="3337560" cy="274320"/>
          </a:xfrm>
          <a:prstGeom prst="rect">
            <a:avLst/>
          </a:prstGeom>
          <a:noFill/>
        </p:spPr>
        <p:txBody>
          <a:bodyPr wrap="square" anchor="t">
            <a:spAutoFit/>
          </a:bodyPr>
          <a:lstStyle/>
          <a:p>
            <a:pPr algn="l">
              <a:spcAft>
                <a:spcPts val="0"/>
              </a:spcAft>
            </a:pPr>
            <a:r>
              <a:rPr sz="1650" b="1">
                <a:solidFill>
                  <a:srgbClr val="A63A2B"/>
                </a:solidFill>
                <a:latin typeface="Microsoft YaHei"/>
              </a:rPr>
              <a:t>后续动作</a:t>
            </a:r>
          </a:p>
        </p:txBody>
      </p:sp>
      <p:sp>
        <p:nvSpPr>
          <p:cNvPr id="13" name="TextBox 12"/>
          <p:cNvSpPr txBox="1"/>
          <p:nvPr/>
        </p:nvSpPr>
        <p:spPr>
          <a:xfrm>
            <a:off x="5212080" y="3474720"/>
            <a:ext cx="3337560" cy="2148840"/>
          </a:xfrm>
          <a:prstGeom prst="rect">
            <a:avLst/>
          </a:prstGeom>
          <a:noFill/>
        </p:spPr>
        <p:txBody>
          <a:bodyPr wrap="square" anchor="t">
            <a:spAutoFit/>
          </a:bodyPr>
          <a:lstStyle/>
          <a:p>
            <a:pPr algn="l">
              <a:spcAft>
                <a:spcPts val="800"/>
              </a:spcAft>
            </a:pPr>
            <a:r>
              <a:rPr sz="1350" b="0">
                <a:solidFill>
                  <a:srgbClr val="4E433D"/>
                </a:solidFill>
                <a:latin typeface="Microsoft YaHei"/>
              </a:rPr>
              <a:t>1. 确认试点产品范围和高频故障问题清单</a:t>
            </a:r>
          </a:p>
          <a:p>
            <a:pPr algn="l">
              <a:spcAft>
                <a:spcPts val="800"/>
              </a:spcAft>
            </a:pPr>
            <a:r>
              <a:rPr sz="1350" b="0">
                <a:solidFill>
                  <a:srgbClr val="4E433D"/>
                </a:solidFill>
                <a:latin typeface="Microsoft YaHei"/>
              </a:rPr>
              <a:t>2. 整理维修手册、FAQ 和历史工单样本</a:t>
            </a:r>
          </a:p>
          <a:p>
            <a:pPr algn="l">
              <a:spcAft>
                <a:spcPts val="800"/>
              </a:spcAft>
            </a:pPr>
            <a:r>
              <a:rPr sz="1350" b="0">
                <a:solidFill>
                  <a:srgbClr val="4E433D"/>
                </a:solidFill>
                <a:latin typeface="Microsoft YaHei"/>
              </a:rPr>
              <a:t>3. 两周内完成问答工作台原型和首轮效果验证</a:t>
            </a:r>
          </a:p>
        </p:txBody>
      </p:sp>
      <p:pic>
        <p:nvPicPr>
          <p:cNvPr id="14" name="Picture 13" descr="image.png"/>
          <p:cNvPicPr>
            <a:picLocks noChangeAspect="1"/>
          </p:cNvPicPr>
          <p:nvPr/>
        </p:nvPicPr>
        <p:blipFill>
          <a:blip r:embed="rId2"/>
          <a:stretch>
            <a:fillRect/>
          </a:stretch>
        </p:blipFill>
        <p:spPr>
          <a:xfrm>
            <a:off x="9098280" y="2743200"/>
            <a:ext cx="1965960" cy="3383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