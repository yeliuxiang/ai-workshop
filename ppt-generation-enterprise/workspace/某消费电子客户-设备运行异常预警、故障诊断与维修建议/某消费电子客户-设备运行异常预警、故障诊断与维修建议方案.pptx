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设备运行异常预警、故障诊断与维修建议</a:t>
            </a:r>
          </a:p>
          <a:p>
            <a:r>
              <a:t>- 该场景适合向客户展示消费电子企业如何利用 AI 将 IoT 设备遥测数据转化为可执行的预警、诊断和维修决策能力。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该场景适合向客户展示消费电子企业如何利用 AI 将 IoT 设备遥测数据转化为可执行的预警、诊断和维修决策能力。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解决方案架构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原型与 MVP 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688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502920"/>
            <a:ext cx="1920240" cy="493776"/>
          </a:xfrm>
          <a:prstGeom prst="round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807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某消费电子客户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804672"/>
            <a:ext cx="7863840" cy="47548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94192" y="896112"/>
            <a:ext cx="1847088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0496" y="987552"/>
            <a:ext cx="15544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C62828"/>
                </a:solidFill>
                <a:latin typeface="Arial"/>
              </a:rPr>
              <a:t>AI Discovery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1024128"/>
            <a:ext cx="6858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99999"/>
                </a:solidFill>
                <a:latin typeface="Microsoft YaHei"/>
              </a:rPr>
              <a:t>客户：某消费电子客户 | 行业：消费电子 IoT · 第 1 组 · 日期 2026-05-11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389888"/>
            <a:ext cx="681228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62828"/>
                </a:solidFill>
                <a:latin typeface="Microsoft YaHei"/>
              </a:rPr>
              <a:t>设备运行异常预警、故障诊断与维修建议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23744"/>
            <a:ext cx="5852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0672" y="2926080"/>
            <a:ext cx="6894576" cy="896112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3163824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让售后团队从事后排障转向事前预警与标准化处置，缩短故障定位时间并提升维修决策质量。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90672" y="4133087"/>
            <a:ext cx="3840480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5264" y="4215383"/>
            <a:ext cx="3511296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客户与行业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5264" y="4379975"/>
            <a:ext cx="35112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</a:rPr>
              <a:t>客户：某消费电子客户 | 行业：消费电子 IoT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4032" y="4133087"/>
            <a:ext cx="2633472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78624" y="4215383"/>
            <a:ext cx="230428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小组与日期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4379975"/>
            <a:ext cx="230428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</a:rPr>
              <a:t>小组：第 1 组 · 日期：2026-05-11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设备运行异常主要依赖用户投诉、客服报修或人工巡检发现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工程师人工查看设备日志、功耗波动、温度曲线和历史维修记录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根据经验判断是否属于死机前兆、器件老化或硬件故障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人工检索维修手册和类似案例，形成排查步骤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异常发现滞后，高风险设备无法提前预警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日志、功耗和温感数据割裂，故障定位时间长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诊断与维修建议依赖资深工程师经验，标准化不足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优先切口：异常发现滞后，高风险设备无法提前预警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4767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5856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555555"/>
                </a:solidFill>
                <a:latin typeface="Microsoft YaHei"/>
              </a:rPr>
              <a:t>对消费电子企业来说，围绕设备运行异常做预警和诊断，是最容易同时证明 AI 能降低售后成本、减少停机损失并提升客户体验的高价值切口。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41071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72160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555555"/>
                </a:solidFill>
                <a:latin typeface="Microsoft YaHei"/>
              </a:rPr>
              <a:t>客户已经具备设备联网、日志采集和售后工单基础，但缺少把运行数据、维修知识和服务动作真正串起来的智能决策闭环。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7909560" cy="12344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873752"/>
            <a:ext cx="75072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184648"/>
            <a:ext cx="7507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40" b="0">
                <a:solidFill>
                  <a:srgbClr val="555555"/>
                </a:solidFill>
                <a:latin typeface="Microsoft YaHei"/>
              </a:rPr>
              <a:t>设备日志、功耗和温感数据已经具备形成健康评分与异常识别的基础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28800"/>
            <a:ext cx="1920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设备维护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设备状态数据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77256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50992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7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数据输入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数据分析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异常检测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77256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50992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7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风险预测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31136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文本生成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0332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877056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5072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自动回答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477256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50992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79007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流程优化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251192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24928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自动履行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025128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98863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人机交互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系统识别到设备日志异常、功耗突变、温度持续升高或健康评分下降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9576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3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55555"/>
                </a:solidFill>
                <a:latin typeface="Microsoft YaHei"/>
              </a:rPr>
              <a:t>1. 接入并汇总设备运行日志、功耗、温感、告警记录和历史维修工单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00476" y="3886200"/>
            <a:ext cx="219456" cy="201168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19932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47948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1956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6236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55555"/>
                </a:solidFill>
                <a:latin typeface="Microsoft YaHei"/>
              </a:rPr>
              <a:t>2. AI 对多源数据进行异常检测、趋势分析和风险评分，判断死机、老化或故障概率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68849" y="3886200"/>
            <a:ext cx="219456" cy="201168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88305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16321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80329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609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55555"/>
                </a:solidFill>
                <a:latin typeface="Microsoft YaHei"/>
              </a:rPr>
              <a:t>3. 结合知识库、维修手册和历史案例，生成故障诊断思路与排查路径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37222" y="3886200"/>
            <a:ext cx="219456" cy="201168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56678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84694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48702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2982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55555"/>
                </a:solidFill>
                <a:latin typeface="Microsoft YaHei"/>
              </a:rPr>
              <a:t>4. 输出维修建议、备件建议、服务优先级和客户沟通话术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105595" y="3886200"/>
            <a:ext cx="219456" cy="201168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25051" y="3401568"/>
            <a:ext cx="1739188" cy="1536192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53067" y="3511296"/>
            <a:ext cx="493776" cy="310896"/>
          </a:xfrm>
          <a:prstGeom prst="roundRect">
            <a:avLst>
              <a:gd name="adj" fmla="val 5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17075" y="3566160"/>
            <a:ext cx="36576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1355" y="3931920"/>
            <a:ext cx="148315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55555"/>
                </a:solidFill>
                <a:latin typeface="Microsoft YaHei"/>
              </a:rPr>
              <a:t>5. 对高风险设备自动触发预警通知、创建工单或升级人工复核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596128"/>
            <a:ext cx="1046988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74243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715000"/>
            <a:ext cx="818387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60" b="1">
                <a:solidFill>
                  <a:srgbClr val="FFFFFF"/>
                </a:solidFill>
                <a:latin typeface="Microsoft YaHei"/>
              </a:rPr>
              <a:t>形成从设备健康识别、风险预警、故障诊断到维修执行的主动服务闭环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解决方案架构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7406640" cy="47091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38528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设备运行异常预警、故障诊断与维修建议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" y="2304288"/>
            <a:ext cx="1481328" cy="512064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2404872"/>
            <a:ext cx="12252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1">
                <a:solidFill>
                  <a:srgbClr val="FFFFFF"/>
                </a:solidFill>
                <a:latin typeface="Microsoft YaHei"/>
              </a:rPr>
              <a:t>1. 展示层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304288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395728"/>
            <a:ext cx="4709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555555"/>
                </a:solidFill>
                <a:latin typeface="Microsoft YaHei"/>
              </a:rPr>
              <a:t>页面壳子、看板卡片、列表表格、详情抽屉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51960" y="2807208"/>
            <a:ext cx="384048" cy="201168"/>
          </a:xfrm>
          <a:prstGeom prst="down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15568" y="3136392"/>
            <a:ext cx="1481328" cy="512064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3236976"/>
            <a:ext cx="12252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1">
                <a:solidFill>
                  <a:srgbClr val="FFFFFF"/>
                </a:solidFill>
                <a:latin typeface="Microsoft YaHei"/>
              </a:rPr>
              <a:t>2. 交互层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3136392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3227832"/>
            <a:ext cx="4709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555555"/>
                </a:solidFill>
                <a:latin typeface="Microsoft YaHei"/>
              </a:rPr>
              <a:t>筛选切换、建议查看、动作触发、结果回看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251960" y="3639312"/>
            <a:ext cx="384048" cy="201168"/>
          </a:xfrm>
          <a:prstGeom prst="down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5568" y="3968496"/>
            <a:ext cx="1481328" cy="512064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4069080"/>
            <a:ext cx="122529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1">
                <a:solidFill>
                  <a:srgbClr val="FFFFFF"/>
                </a:solidFill>
                <a:latin typeface="Microsoft YaHei"/>
              </a:rPr>
              <a:t>3. 数据层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3968496"/>
            <a:ext cx="5074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4059935"/>
            <a:ext cx="4709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555555"/>
                </a:solidFill>
                <a:latin typeface="Microsoft YaHei"/>
              </a:rPr>
              <a:t>样例数据、页面状态配置、Mock 接口返回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1737360"/>
            <a:ext cx="2880360" cy="21488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195681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359152"/>
            <a:ext cx="22860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80" b="0">
                <a:solidFill>
                  <a:srgbClr val="555555"/>
                </a:solidFill>
                <a:latin typeface="Microsoft YaHei"/>
              </a:rPr>
              <a:t>优先产品栈：EMQX / DataLayers / Azure Machine Learning / Azure AI Foundry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160520"/>
            <a:ext cx="2880360" cy="228600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43891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架构原则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75488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20" b="0">
                <a:solidFill>
                  <a:srgbClr val="555555"/>
                </a:solidFill>
                <a:latin typeface="Microsoft YaHei"/>
              </a:rPr>
              <a:t>1. 页面壳子优先，先保证关键业务路径可演示</a:t>
            </a:r>
          </a:p>
          <a:p>
            <a:pPr algn="l">
              <a:spcAft>
                <a:spcPts val="600"/>
              </a:spcAft>
            </a:pPr>
            <a:r>
              <a:rPr sz="1220" b="0">
                <a:solidFill>
                  <a:srgbClr val="555555"/>
                </a:solidFill>
                <a:latin typeface="Microsoft YaHei"/>
              </a:rPr>
              <a:t>2. 模块分层组织，页面、组件、样例数据分开维护</a:t>
            </a:r>
          </a:p>
          <a:p>
            <a:pPr algn="l">
              <a:spcAft>
                <a:spcPts val="600"/>
              </a:spcAft>
            </a:pPr>
            <a:r>
              <a:rPr sz="1220" b="0">
                <a:solidFill>
                  <a:srgbClr val="555555"/>
                </a:solidFill>
                <a:latin typeface="Microsoft YaHei"/>
              </a:rPr>
              <a:t>3. Mock 数据驱动，先不接真实系统接口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6537960"/>
            <a:ext cx="10469880" cy="329184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6592824"/>
            <a:ext cx="9966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闭环目标：形成从设备健康识别、风险预警、故障诊断到维修执行的主动服务闭环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设备遥测、日志与状态底座 -&gt; EMQX, DataLayers | 交付：设备连接、日志接入与时序状态底座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异常检测、风险评分与寿命预测 -&gt; Azure Machine Learning, Azure AI Foundry | 交付：高风险识别模型与预警引擎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诊断建议与维修知识问答 -&gt; Azure AI Search, Azure AI Foundry | 交付：RAG 诊断助手与维修建议生成能力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工单联动与现场服务执行 -&gt; Dynamics 365 Field Service, Power Automate | 交付：派工、回访和维修流程闭环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优先产品栈：EMQX / DataLayers / Azure Machine Learning / Azure AI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现场交付物：客户定制化 PPT 方案 / AI Flow 方案图 / 设备健康与维修决策工作台原型建议 / POC 验证范围与指标建议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提前识别高风险设备并减少突发故障和死机投诉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缩短故障定位与维修建议生成时间，提升一线工程师处理效率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推动维修经验结构化沉淀，降低对资深专家的依赖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让备件准备和派修动作更有优先级依据，降低服务成本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高风险设备提前识别率达到 70% 以上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故障定位时间缩短 40%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维修建议首轮采纳率达到 60%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非计划性报修下降 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异常识别与风险评分是否具备业务可解释性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诊断建议与维修手册、历史案例的匹配质量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维修建议对备件准备和派修效率的帮助程度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原型与 MVP 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7909560" cy="16916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7510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59152"/>
            <a:ext cx="726948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20" b="0">
                <a:solidFill>
                  <a:srgbClr val="555555"/>
                </a:solidFill>
                <a:latin typeface="Microsoft YaHei"/>
              </a:rPr>
              <a:t>设备健康与维修决策工作台；目标用户：售后服务负责人、维修工程师</a:t>
            </a:r>
          </a:p>
          <a:p>
            <a:pPr algn="l">
              <a:spcAft>
                <a:spcPts val="600"/>
              </a:spcAft>
            </a:pPr>
            <a:r>
              <a:rPr sz="1220" b="0">
                <a:solidFill>
                  <a:srgbClr val="555555"/>
                </a:solidFill>
                <a:latin typeface="Microsoft YaHei"/>
              </a:rPr>
              <a:t>设备健康运营与维修决策工作台；目标：为售后与设备运营团队提供统一的异常预警、故障诊断和维修处置入口</a:t>
            </a:r>
          </a:p>
          <a:p>
            <a:pPr algn="l">
              <a:spcAft>
                <a:spcPts val="600"/>
              </a:spcAft>
            </a:pPr>
            <a:r>
              <a:rPr sz="1220" b="0">
                <a:solidFill>
                  <a:srgbClr val="555555"/>
                </a:solidFill>
                <a:latin typeface="Microsoft YaHei"/>
              </a:rPr>
              <a:t>客户演示型前端壳子；核心任务：快速识别高风险设备并获得可执行的诊断与维修建议；技术栈：Next.js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67328"/>
            <a:ext cx="3822191" cy="23317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959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MVP 页面范围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89120"/>
            <a:ext cx="3291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90" b="0">
                <a:solidFill>
                  <a:srgbClr val="555555"/>
                </a:solidFill>
                <a:latin typeface="Microsoft YaHei"/>
              </a:rPr>
              <a:t>1. 设备健康总览页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555555"/>
                </a:solidFill>
                <a:latin typeface="Microsoft YaHei"/>
              </a:rPr>
              <a:t>2. 异常诊断详情页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555555"/>
                </a:solidFill>
                <a:latin typeface="Microsoft YaHei"/>
              </a:rPr>
              <a:t>3. 维修建议与工单动作页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555555"/>
                </a:solidFill>
                <a:latin typeface="Microsoft YaHei"/>
              </a:rPr>
              <a:t>4. 知识库与历史案例页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0328" y="3767328"/>
            <a:ext cx="3822191" cy="23317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39959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4389120"/>
            <a:ext cx="3291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90" b="0">
                <a:solidFill>
                  <a:srgbClr val="555555"/>
                </a:solidFill>
                <a:latin typeface="Microsoft YaHei"/>
              </a:rPr>
              <a:t>1. 确认试点设备型号、故障类型和可用历史数据样本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555555"/>
                </a:solidFill>
                <a:latin typeface="Microsoft YaHei"/>
              </a:rPr>
              <a:t>2. 整理日志、功耗、温感和维修工单的字段口径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555555"/>
                </a:solidFill>
                <a:latin typeface="Microsoft YaHei"/>
              </a:rPr>
              <a:t>3. 两到三周内完成工作台原型和首轮效果验证</a:t>
            </a:r>
          </a:p>
          <a:p>
            <a:pPr algn="l">
              <a:spcAft>
                <a:spcPts val="600"/>
              </a:spcAft>
            </a:pPr>
            <a:r>
              <a:rPr sz="1290" b="0">
                <a:solidFill>
                  <a:srgbClr val="555555"/>
                </a:solidFill>
                <a:latin typeface="Microsoft YaHei"/>
              </a:rPr>
              <a:t>4. 基于方案设计文档快速搭建静态页面和样例数据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828800"/>
            <a:ext cx="21031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先验证设备健康评分、故障诊断建议和工单触发三段闭环，以一个高频故障型号为试点。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388620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售后服务负责人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设备运营团队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维修主管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IT / 数据平台团队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743200"/>
            <a:ext cx="388620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97180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474720"/>
            <a:ext cx="3337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1. 确认试点设备型号、故障类型和可用历史数据样本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2. 整理日志、功耗、温感和维修工单的字段口径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3. 两到三周内完成工作台原型和首轮效果验证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743200"/>
            <a:ext cx="1965960" cy="3383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