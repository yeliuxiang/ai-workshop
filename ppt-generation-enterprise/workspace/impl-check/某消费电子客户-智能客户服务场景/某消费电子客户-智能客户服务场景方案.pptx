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智能客户服务场景</a:t>
            </a:r>
          </a:p>
          <a:p>
            <a:r>
              <a:t>- 该场景从客户触发开始，经过输入感知、理解分析、生成交互和执行闭环四个阶段，最终沉淀为服务报告与优化商机。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当前差距与优先痛点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业务机会与 Why 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客户现场卡片流程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目标 AI Flow</a:t>
            </a:r>
          </a:p>
          <a:p>
            <a:r>
              <a:t>- 该场景从客户触发开始，经过输入感知、理解分析、生成交互和执行闭环四个阶段，最终沉淀为服务报告与优化商机。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解决方案架构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能力映射与交付物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业务价值与验证假设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原型方向与系统形态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MVP 原型范围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POC 与下一步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68880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32520" y="502920"/>
            <a:ext cx="1920240" cy="493776"/>
          </a:xfrm>
          <a:prstGeom prst="round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AI DISCOVERY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807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某消费电子客户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804672"/>
            <a:ext cx="7863840" cy="47548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90672" y="1024128"/>
            <a:ext cx="6858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99999"/>
                </a:solidFill>
                <a:latin typeface="Microsoft YaHei"/>
              </a:rPr>
              <a:t>客户：某消费电子客户 | 行业：消费电子 · 第 2 组 · 日期 2026-05-07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389888"/>
            <a:ext cx="681228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62828"/>
                </a:solidFill>
                <a:latin typeface="Microsoft YaHei"/>
              </a:rPr>
              <a:t>智能客户服务场景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523744"/>
            <a:ext cx="5852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999999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0672" y="2926080"/>
            <a:ext cx="6894576" cy="896112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3163824"/>
            <a:ext cx="6446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待补充：原型价值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0672" y="4133087"/>
            <a:ext cx="3456432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5264" y="4215383"/>
            <a:ext cx="312724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99999"/>
                </a:solidFill>
                <a:latin typeface="Arial"/>
              </a:rPr>
              <a:t>客户与行业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4" y="4379975"/>
            <a:ext cx="31272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</a:rPr>
              <a:t>客户：某消费电子客户 | 行业：消费电子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11696" y="4133087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6288" y="4215383"/>
            <a:ext cx="175564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99999"/>
                </a:solidFill>
                <a:latin typeface="Arial"/>
              </a:rPr>
              <a:t>小组与日期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4379975"/>
            <a:ext cx="17556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</a:rPr>
              <a:t>小组：第 2 组 · 日期：2026-05-07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4133087"/>
            <a:ext cx="1024128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4215383"/>
            <a:ext cx="69494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99999"/>
                </a:solidFill>
                <a:latin typeface="Arial"/>
              </a:rPr>
              <a:t>Workshop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4379975"/>
            <a:ext cx="69494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</a:rPr>
              <a:t>Workshop：AI Discovery Card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当前差距与优先痛点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现状流程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262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客户通过电话、网页或聊天窗口提交问题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客服人工阅读问题并查询知识库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人工组织回复并继续跟进追问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复杂问题升级专家处理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20640" cy="30175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45720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重复问题处理成本高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复杂问题升级不及时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处理结果沉淀不足，无法形成优化闭环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983480"/>
            <a:ext cx="5120640" cy="114300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266944"/>
            <a:ext cx="4480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优先切口：重复问题处理成本高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业务机会与 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7909560" cy="123444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47672"/>
            <a:ext cx="75072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机会判断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58568"/>
            <a:ext cx="7507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40" b="0">
                <a:solidFill>
                  <a:srgbClr val="555555"/>
                </a:solidFill>
                <a:latin typeface="Microsoft YaHei"/>
              </a:rPr>
              <a:t>待补充：业务机会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7909560" cy="12344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410712"/>
            <a:ext cx="75072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为什么是现在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721608"/>
            <a:ext cx="7507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40" b="0">
                <a:solidFill>
                  <a:srgbClr val="555555"/>
                </a:solidFill>
                <a:latin typeface="Microsoft YaHei"/>
              </a:rPr>
              <a:t>待补充：Why 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09160"/>
            <a:ext cx="7909560" cy="123444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873752"/>
            <a:ext cx="75072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价值支撑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184648"/>
            <a:ext cx="7507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40" b="0">
                <a:solidFill>
                  <a:srgbClr val="555555"/>
                </a:solidFill>
                <a:latin typeface="Microsoft YaHei"/>
              </a:rPr>
              <a:t>待补充：价值支撑点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828800"/>
            <a:ext cx="1920240" cy="4297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ntrol Room Activity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2" y="3476503"/>
            <a:ext cx="1773936" cy="10022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客户现场卡片流程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55648"/>
            <a:ext cx="10469880" cy="4526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93392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93976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业务场景 / 输入感知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了解客户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03320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77056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语音识别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77256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50992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79007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文本输入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310128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410712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理解分析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31136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识别客户意图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703320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77056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05072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情绪分析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477256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50992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79007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简化数据分析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626864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727448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生成交互 / 执行闭环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03120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31136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生成战略文案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703320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877056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05072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创建动态网页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477256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50992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79007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个性化营销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251192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24928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52944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预测客户流失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目标业务闭环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业务触发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客户发起服务咨询或售后请求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解决方案架构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7040880" cy="43891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智能客户服务场景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423160"/>
            <a:ext cx="6492240" cy="621792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2551176"/>
            <a:ext cx="6080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555555"/>
                </a:solidFill>
                <a:latin typeface="Microsoft YaHei"/>
              </a:rPr>
              <a:t>1. 展示层：页面壳子、看板卡片、列表表格、详情抽屉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264408"/>
            <a:ext cx="649224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3392424"/>
            <a:ext cx="6080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2. 交互层：筛选切换、建议查看、动作触发、结果回看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105656"/>
            <a:ext cx="6492240" cy="621792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4233672"/>
            <a:ext cx="6080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3. 数据层：样例数据、页面状态配置、Mock 接口返回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737360"/>
            <a:ext cx="3154680" cy="205740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196596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推荐产品栈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95728"/>
            <a:ext cx="2697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20" b="0">
                <a:solidFill>
                  <a:srgbClr val="555555"/>
                </a:solidFill>
                <a:latin typeface="Microsoft YaHei"/>
              </a:rPr>
              <a:t>优先产品栈：Azure AI Language / Azure OpenAI / Azure AI Search / Power Automate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069080"/>
            <a:ext cx="3154680" cy="205740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429768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架构原则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681728"/>
            <a:ext cx="2697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555"/>
                </a:solidFill>
                <a:latin typeface="Microsoft YaHei"/>
              </a:rPr>
              <a:t>1. 页面壳子优先，先保证关键业务路径可演示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555"/>
                </a:solidFill>
                <a:latin typeface="Microsoft YaHei"/>
              </a:rPr>
              <a:t>2. 模块分层组织，页面、组件、样例数据分开维护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555"/>
                </a:solidFill>
                <a:latin typeface="Microsoft YaHei"/>
              </a:rPr>
              <a:t>3. Mock 数据驱动，先不接真实系统接口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6355080"/>
            <a:ext cx="10469880" cy="38404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6428232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闭环目标：形成客户服务记录、问题分类和后续优化建议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2697480"/>
            <a:ext cx="10469880" cy="26974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2907792"/>
            <a:ext cx="9921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闭环流程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310128"/>
            <a:ext cx="1001268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22960" y="5577840"/>
            <a:ext cx="10469880" cy="594360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6692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闭环结果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660136"/>
            <a:ext cx="8138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Microsoft YaHei"/>
              </a:rPr>
              <a:t>形成客户服务记录、问题分类和后续优化建议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能力映射与交付物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81228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能力卡与产品映射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63550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识别客户意图 / 情绪分析 -&gt; Azure AI Language, Azure OpenAI | 交付：客服问答与分类能力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知识库问答与自动回复 -&gt; Azure AI Search, Azure OpenAI | 交付：RAG 问答原型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复杂问题升级与任务流转 -&gt; Power Automate, Dynamics 365 Customer Service | 交付：流程闭环与工单联动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337560" cy="19202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56816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推荐产品栈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59152"/>
            <a:ext cx="27889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优先产品栈：Azure AI Language / Azure OpenAI / Azure AI Search / Power Automate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77639"/>
            <a:ext cx="3337560" cy="224028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22452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现场交付物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90288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现场交付物：Workshop 定制化 PPT / AI Flow 流程图 / POC 规划建议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业务价值与验证假设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业务价值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缩短客户平均响应时间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提升常见问题自动化处理比例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形成高频问题与满意度分析闭环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首响时长下降 30%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FAQ 自动命中率达到 60%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复杂问题升级准确率达到 85%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POC 验证点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1. 客户问题识别准确率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2. 知识库命中率与回复质量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3. 复杂问题升级规则的可执行性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原型方向与系统形态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7909560" cy="14173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7510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原型摘要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59152"/>
            <a:ext cx="7269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40" b="0">
                <a:solidFill>
                  <a:srgbClr val="555555"/>
                </a:solidFill>
                <a:latin typeface="Microsoft YaHei"/>
              </a:rPr>
              <a:t>待补充：原型名称</a:t>
            </a:r>
          </a:p>
          <a:p>
            <a:pPr algn="l">
              <a:spcAft>
                <a:spcPts val="600"/>
              </a:spcAft>
            </a:pPr>
            <a:r>
              <a:rPr sz="1340" b="0">
                <a:solidFill>
                  <a:srgbClr val="555555"/>
                </a:solidFill>
                <a:latin typeface="Microsoft YaHei"/>
              </a:rPr>
              <a:t>待补充：原型形态；目标：待补充：原型目标</a:t>
            </a:r>
          </a:p>
          <a:p>
            <a:pPr algn="l">
              <a:spcAft>
                <a:spcPts val="600"/>
              </a:spcAft>
            </a:pPr>
            <a:r>
              <a:rPr sz="1340" b="0">
                <a:solidFill>
                  <a:srgbClr val="555555"/>
                </a:solidFill>
                <a:latin typeface="Microsoft YaHei"/>
              </a:rPr>
              <a:t>待补充：原型价值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74720"/>
            <a:ext cx="3822191" cy="260604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70332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096512"/>
            <a:ext cx="32918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20" b="0">
                <a:solidFill>
                  <a:srgbClr val="555555"/>
                </a:solidFill>
                <a:latin typeface="Microsoft YaHei"/>
              </a:rPr>
              <a:t>1. 待补充：原型用户流程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10328" y="3474720"/>
            <a:ext cx="3822191" cy="26060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370332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工作台范围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4096512"/>
            <a:ext cx="32918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20" b="0">
                <a:solidFill>
                  <a:srgbClr val="555555"/>
                </a:solidFill>
                <a:latin typeface="Microsoft YaHei"/>
              </a:rPr>
              <a:t>1. 待补充：原型界面范围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828800"/>
            <a:ext cx="2103120" cy="4297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uturistic Lab Interacti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272" y="2999232"/>
            <a:ext cx="1956815" cy="19568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MVP 原型范围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目标用户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客服团队与终端消费者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通过 AI 实现自动识别客户意图、自动回答常见问题，并提升人工客服处理效率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非目标范围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前端壳子优先；推荐技术栈：Next.js + Tailwind CSS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页面清单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客户通过电话、网页或聊天窗口提交问题 页面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客服人工阅读问题并查询知识库 页面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人工组织回复并继续跟进追问 页面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复杂问题升级专家处理 页面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快速开发路径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会后发送定制 PPT 和 AI Flow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安排 1 对 1 深度需求访谈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明确 POC 范围与数据准备清单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基于方案设计文档快速搭建静态页面和样例数据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POC 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POC 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先验证客户问题识别、知识库问答和复杂问题升级三段闭环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3886200" cy="33832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333756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客服负责人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IT / 数字化团队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业务运营负责人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743200"/>
            <a:ext cx="3886200" cy="3383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971800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后续动作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474720"/>
            <a:ext cx="333756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1. 会后发送定制 PPT 和 AI Flow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2. 安排 1 对 1 深度需求访谈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3. 明确 POC 范围与数据准备清单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743200"/>
            <a:ext cx="1965960" cy="3383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ntrol Room Activity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432" y="3920787"/>
            <a:ext cx="1819656" cy="10281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