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客户洞察驱动的客户运营与内容生成闭环</a:t>
            </a:r>
          </a:p>
          <a:p>
            <a:r>
              <a:t>- 该场景把现场识别到的卡片链路整理为一条可讲解的 AI Flow，核心不是单点内容生成，而是把客户理解、营销生成、页面承载、数据复盘和客户保留串成一个统一工作台，便于业务与数字化负责人快速评估落地价值。</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当前差距与优先痛点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业务机会与 Why 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客户现场卡片流程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目标 AI Flow</a:t>
            </a:r>
          </a:p>
          <a:p>
            <a:r>
              <a:t>- 该场景把现场识别到的卡片链路整理为一条可讲解的 AI Flow，核心不是单点内容生成，而是把客户理解、营销生成、页面承载、数据复盘和客户保留串成一个统一工作台，便于业务与数字化负责人快速评估落地价值。</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解决方案架构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能力映射与交付物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业务价值与验证假设</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原型与 MVP 设计</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POC 与下一步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468880" cy="68580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502920"/>
            <a:ext cx="1920240" cy="493776"/>
          </a:xfrm>
          <a:prstGeom prst="round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0080"/>
            <a:ext cx="2103120" cy="274320"/>
          </a:xfrm>
          <a:prstGeom prst="rect">
            <a:avLst/>
          </a:prstGeom>
          <a:noFill/>
        </p:spPr>
        <p:txBody>
          <a:bodyPr wrap="square" anchor="t">
            <a:spAutoFit/>
          </a:bodyPr>
          <a:lstStyle/>
          <a:p>
            <a:pPr algn="l">
              <a:spcAft>
                <a:spcPts val="0"/>
              </a:spcAft>
            </a:pPr>
            <a:r>
              <a:rPr sz="1100" b="1">
                <a:solidFill>
                  <a:srgbClr val="FFFFFF"/>
                </a:solidFill>
                <a:latin typeface="Arial"/>
              </a:rPr>
              <a:t>AI DISCOVERY WORKSHOP</a:t>
            </a:r>
          </a:p>
        </p:txBody>
      </p:sp>
      <p:sp>
        <p:nvSpPr>
          <p:cNvPr id="5" name="TextBox 4"/>
          <p:cNvSpPr txBox="1"/>
          <p:nvPr/>
        </p:nvSpPr>
        <p:spPr>
          <a:xfrm>
            <a:off x="457200" y="6080760"/>
            <a:ext cx="2011680" cy="320040"/>
          </a:xfrm>
          <a:prstGeom prst="rect">
            <a:avLst/>
          </a:prstGeom>
          <a:noFill/>
        </p:spPr>
        <p:txBody>
          <a:bodyPr wrap="square" anchor="t">
            <a:spAutoFit/>
          </a:bodyPr>
          <a:lstStyle/>
          <a:p>
            <a:pPr algn="l">
              <a:spcAft>
                <a:spcPts val="0"/>
              </a:spcAft>
            </a:pPr>
            <a:r>
              <a:rPr sz="1000" b="0">
                <a:solidFill>
                  <a:srgbClr val="FFFFFF"/>
                </a:solidFill>
                <a:latin typeface="Microsoft YaHei"/>
              </a:rPr>
              <a:t>某客户现场 Demo</a:t>
            </a:r>
          </a:p>
        </p:txBody>
      </p:sp>
      <p:sp>
        <p:nvSpPr>
          <p:cNvPr id="6" name="Rounded Rectangle 5"/>
          <p:cNvSpPr/>
          <p:nvPr/>
        </p:nvSpPr>
        <p:spPr>
          <a:xfrm>
            <a:off x="2743200" y="804672"/>
            <a:ext cx="7863840" cy="475488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394192" y="896112"/>
            <a:ext cx="1847088" cy="384048"/>
          </a:xfrm>
          <a:prstGeom prst="roundRect">
            <a:avLst>
              <a:gd name="adj" fmla="val 6000"/>
            </a:avLst>
          </a:prstGeom>
          <a:solidFill>
            <a:srgbClr val="FFFFFF"/>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40496" y="987552"/>
            <a:ext cx="1554480" cy="146304"/>
          </a:xfrm>
          <a:prstGeom prst="rect">
            <a:avLst/>
          </a:prstGeom>
          <a:noFill/>
        </p:spPr>
        <p:txBody>
          <a:bodyPr wrap="square" anchor="ctr">
            <a:spAutoFit/>
          </a:bodyPr>
          <a:lstStyle/>
          <a:p>
            <a:pPr algn="ctr">
              <a:spcAft>
                <a:spcPts val="0"/>
              </a:spcAft>
            </a:pPr>
            <a:r>
              <a:rPr sz="860" b="1">
                <a:solidFill>
                  <a:srgbClr val="C62828"/>
                </a:solidFill>
                <a:latin typeface="Arial"/>
              </a:rPr>
              <a:t>AI Discovery Workshop</a:t>
            </a:r>
          </a:p>
        </p:txBody>
      </p:sp>
      <p:sp>
        <p:nvSpPr>
          <p:cNvPr id="9" name="TextBox 8"/>
          <p:cNvSpPr txBox="1"/>
          <p:nvPr/>
        </p:nvSpPr>
        <p:spPr>
          <a:xfrm>
            <a:off x="3090672" y="1024128"/>
            <a:ext cx="6858000" cy="256032"/>
          </a:xfrm>
          <a:prstGeom prst="rect">
            <a:avLst/>
          </a:prstGeom>
          <a:noFill/>
        </p:spPr>
        <p:txBody>
          <a:bodyPr wrap="square" anchor="ctr">
            <a:spAutoFit/>
          </a:bodyPr>
          <a:lstStyle/>
          <a:p>
            <a:pPr algn="l">
              <a:spcAft>
                <a:spcPts val="0"/>
              </a:spcAft>
            </a:pPr>
            <a:r>
              <a:rPr sz="1050" b="0">
                <a:solidFill>
                  <a:srgbClr val="999999"/>
                </a:solidFill>
                <a:latin typeface="Microsoft YaHei"/>
              </a:rPr>
              <a:t>客户：某客户现场 Demo | 行业：消费电子 IoT · 第 1 组 · 日期 2026-05-11</a:t>
            </a:r>
          </a:p>
        </p:txBody>
      </p:sp>
      <p:sp>
        <p:nvSpPr>
          <p:cNvPr id="10" name="TextBox 9"/>
          <p:cNvSpPr txBox="1"/>
          <p:nvPr/>
        </p:nvSpPr>
        <p:spPr>
          <a:xfrm>
            <a:off x="3090672" y="1389888"/>
            <a:ext cx="6812280" cy="1207008"/>
          </a:xfrm>
          <a:prstGeom prst="rect">
            <a:avLst/>
          </a:prstGeom>
          <a:noFill/>
        </p:spPr>
        <p:txBody>
          <a:bodyPr wrap="square" anchor="t">
            <a:spAutoFit/>
          </a:bodyPr>
          <a:lstStyle/>
          <a:p>
            <a:pPr algn="l">
              <a:spcAft>
                <a:spcPts val="0"/>
              </a:spcAft>
            </a:pPr>
            <a:r>
              <a:rPr sz="3000" b="1">
                <a:solidFill>
                  <a:srgbClr val="C62828"/>
                </a:solidFill>
                <a:latin typeface="Microsoft YaHei"/>
              </a:rPr>
              <a:t>客户洞察驱动的客户运营与内容生成闭环</a:t>
            </a:r>
          </a:p>
        </p:txBody>
      </p:sp>
      <p:sp>
        <p:nvSpPr>
          <p:cNvPr id="11" name="TextBox 10"/>
          <p:cNvSpPr txBox="1"/>
          <p:nvPr/>
        </p:nvSpPr>
        <p:spPr>
          <a:xfrm>
            <a:off x="3108960" y="2523744"/>
            <a:ext cx="5852160" cy="310896"/>
          </a:xfrm>
          <a:prstGeom prst="rect">
            <a:avLst/>
          </a:prstGeom>
          <a:noFill/>
        </p:spPr>
        <p:txBody>
          <a:bodyPr wrap="square" anchor="ctr">
            <a:spAutoFit/>
          </a:bodyPr>
          <a:lstStyle/>
          <a:p>
            <a:pPr algn="l">
              <a:spcAft>
                <a:spcPts val="600"/>
              </a:spcAft>
            </a:pPr>
            <a:r>
              <a:rPr sz="1150" b="0">
                <a:solidFill>
                  <a:srgbClr val="999999"/>
                </a:solidFill>
                <a:latin typeface="Microsoft YaHei"/>
              </a:rPr>
              <a:t>AI Discovery Workshop 商机与原型方案</a:t>
            </a:r>
          </a:p>
        </p:txBody>
      </p:sp>
      <p:sp>
        <p:nvSpPr>
          <p:cNvPr id="12" name="Rounded Rectangle 11"/>
          <p:cNvSpPr/>
          <p:nvPr/>
        </p:nvSpPr>
        <p:spPr>
          <a:xfrm>
            <a:off x="3090672" y="2926080"/>
            <a:ext cx="6894576" cy="896112"/>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0128" y="3163824"/>
            <a:ext cx="6446520" cy="329184"/>
          </a:xfrm>
          <a:prstGeom prst="rect">
            <a:avLst/>
          </a:prstGeom>
          <a:noFill/>
        </p:spPr>
        <p:txBody>
          <a:bodyPr wrap="square" anchor="ctr">
            <a:spAutoFit/>
          </a:bodyPr>
          <a:lstStyle/>
          <a:p>
            <a:pPr algn="l">
              <a:spcAft>
                <a:spcPts val="0"/>
              </a:spcAft>
            </a:pPr>
            <a:r>
              <a:rPr sz="1400" b="0">
                <a:solidFill>
                  <a:srgbClr val="555555"/>
                </a:solidFill>
                <a:latin typeface="Microsoft YaHei"/>
              </a:rPr>
              <a:t>让业务与数字化负责人在一个工作台里看到从客户理解到内容生成再到客户保留的完整 AI 闭环。</a:t>
            </a:r>
          </a:p>
        </p:txBody>
      </p:sp>
      <p:sp>
        <p:nvSpPr>
          <p:cNvPr id="14" name="Rounded Rectangle 13"/>
          <p:cNvSpPr/>
          <p:nvPr/>
        </p:nvSpPr>
        <p:spPr>
          <a:xfrm>
            <a:off x="3090672" y="4133087"/>
            <a:ext cx="3840480" cy="658368"/>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55264" y="4215383"/>
            <a:ext cx="3511296" cy="128016"/>
          </a:xfrm>
          <a:prstGeom prst="rect">
            <a:avLst/>
          </a:prstGeom>
          <a:noFill/>
        </p:spPr>
        <p:txBody>
          <a:bodyPr wrap="square" anchor="ctr">
            <a:spAutoFit/>
          </a:bodyPr>
          <a:lstStyle/>
          <a:p>
            <a:pPr algn="l">
              <a:spcAft>
                <a:spcPts val="0"/>
              </a:spcAft>
            </a:pPr>
            <a:r>
              <a:rPr sz="850" b="0">
                <a:solidFill>
                  <a:srgbClr val="999999"/>
                </a:solidFill>
                <a:latin typeface="Arial"/>
              </a:rPr>
              <a:t>客户与行业</a:t>
            </a:r>
          </a:p>
        </p:txBody>
      </p:sp>
      <p:sp>
        <p:nvSpPr>
          <p:cNvPr id="16" name="TextBox 15"/>
          <p:cNvSpPr txBox="1"/>
          <p:nvPr/>
        </p:nvSpPr>
        <p:spPr>
          <a:xfrm>
            <a:off x="3255264" y="4379975"/>
            <a:ext cx="3511296" cy="237744"/>
          </a:xfrm>
          <a:prstGeom prst="rect">
            <a:avLst/>
          </a:prstGeom>
          <a:noFill/>
        </p:spPr>
        <p:txBody>
          <a:bodyPr wrap="square" anchor="ctr">
            <a:spAutoFit/>
          </a:bodyPr>
          <a:lstStyle/>
          <a:p>
            <a:pPr algn="l">
              <a:spcAft>
                <a:spcPts val="0"/>
              </a:spcAft>
            </a:pPr>
            <a:r>
              <a:rPr sz="1000" b="0">
                <a:solidFill>
                  <a:srgbClr val="555555"/>
                </a:solidFill>
                <a:latin typeface="Microsoft YaHei"/>
              </a:rPr>
              <a:t>客户：某客户现场 Demo | 行业：消费电子 IoT</a:t>
            </a:r>
          </a:p>
        </p:txBody>
      </p:sp>
      <p:sp>
        <p:nvSpPr>
          <p:cNvPr id="17" name="Rounded Rectangle 16"/>
          <p:cNvSpPr/>
          <p:nvPr/>
        </p:nvSpPr>
        <p:spPr>
          <a:xfrm>
            <a:off x="7114032" y="4133087"/>
            <a:ext cx="2633472" cy="658368"/>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78624" y="4215383"/>
            <a:ext cx="2304288" cy="128016"/>
          </a:xfrm>
          <a:prstGeom prst="rect">
            <a:avLst/>
          </a:prstGeom>
          <a:noFill/>
        </p:spPr>
        <p:txBody>
          <a:bodyPr wrap="square" anchor="ctr">
            <a:spAutoFit/>
          </a:bodyPr>
          <a:lstStyle/>
          <a:p>
            <a:pPr algn="l">
              <a:spcAft>
                <a:spcPts val="0"/>
              </a:spcAft>
            </a:pPr>
            <a:r>
              <a:rPr sz="850" b="0">
                <a:solidFill>
                  <a:srgbClr val="999999"/>
                </a:solidFill>
                <a:latin typeface="Arial"/>
              </a:rPr>
              <a:t>小组与日期</a:t>
            </a:r>
          </a:p>
        </p:txBody>
      </p:sp>
      <p:sp>
        <p:nvSpPr>
          <p:cNvPr id="19" name="TextBox 18"/>
          <p:cNvSpPr txBox="1"/>
          <p:nvPr/>
        </p:nvSpPr>
        <p:spPr>
          <a:xfrm>
            <a:off x="7278624" y="4379975"/>
            <a:ext cx="2304288" cy="237744"/>
          </a:xfrm>
          <a:prstGeom prst="rect">
            <a:avLst/>
          </a:prstGeom>
          <a:noFill/>
        </p:spPr>
        <p:txBody>
          <a:bodyPr wrap="square" anchor="ctr">
            <a:spAutoFit/>
          </a:bodyPr>
          <a:lstStyle/>
          <a:p>
            <a:pPr algn="l">
              <a:spcAft>
                <a:spcPts val="0"/>
              </a:spcAft>
            </a:pPr>
            <a:r>
              <a:rPr sz="1000" b="0">
                <a:solidFill>
                  <a:srgbClr val="555555"/>
                </a:solidFill>
                <a:latin typeface="Microsoft YaHei"/>
              </a:rPr>
              <a:t>小组：第 1 组 · 日期：2026-05-11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当前差距与优先痛点</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5074920" cy="438912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965960"/>
            <a:ext cx="4434840" cy="274320"/>
          </a:xfrm>
          <a:prstGeom prst="rect">
            <a:avLst/>
          </a:prstGeom>
          <a:noFill/>
        </p:spPr>
        <p:txBody>
          <a:bodyPr wrap="square" anchor="t">
            <a:spAutoFit/>
          </a:bodyPr>
          <a:lstStyle/>
          <a:p>
            <a:pPr algn="l">
              <a:spcAft>
                <a:spcPts val="0"/>
              </a:spcAft>
            </a:pPr>
            <a:r>
              <a:rPr sz="1650" b="1">
                <a:solidFill>
                  <a:srgbClr val="C62828"/>
                </a:solidFill>
                <a:latin typeface="Microsoft YaHei"/>
              </a:rPr>
              <a:t>现状流程</a:t>
            </a:r>
          </a:p>
        </p:txBody>
      </p:sp>
      <p:sp>
        <p:nvSpPr>
          <p:cNvPr id="7" name="TextBox 6"/>
          <p:cNvSpPr txBox="1"/>
          <p:nvPr/>
        </p:nvSpPr>
        <p:spPr>
          <a:xfrm>
            <a:off x="1097280" y="2468880"/>
            <a:ext cx="4526280" cy="3154680"/>
          </a:xfrm>
          <a:prstGeom prst="rect">
            <a:avLst/>
          </a:prstGeom>
          <a:noFill/>
        </p:spPr>
        <p:txBody>
          <a:bodyPr wrap="square" anchor="t">
            <a:spAutoFit/>
          </a:bodyPr>
          <a:lstStyle/>
          <a:p>
            <a:pPr algn="l">
              <a:spcAft>
                <a:spcPts val="800"/>
              </a:spcAft>
            </a:pPr>
            <a:r>
              <a:rPr sz="1450" b="0">
                <a:solidFill>
                  <a:srgbClr val="555555"/>
                </a:solidFill>
                <a:latin typeface="Microsoft YaHei"/>
              </a:rPr>
              <a:t>1. 基于客户数据了解客户特征和分层</a:t>
            </a:r>
          </a:p>
          <a:p>
            <a:pPr algn="l">
              <a:spcAft>
                <a:spcPts val="800"/>
              </a:spcAft>
            </a:pPr>
            <a:r>
              <a:rPr sz="1450" b="0">
                <a:solidFill>
                  <a:srgbClr val="555555"/>
                </a:solidFill>
                <a:latin typeface="Microsoft YaHei"/>
              </a:rPr>
              <a:t>2. 围绕目标客群策划个性化营销动作</a:t>
            </a:r>
          </a:p>
          <a:p>
            <a:pPr algn="l">
              <a:spcAft>
                <a:spcPts val="800"/>
              </a:spcAft>
            </a:pPr>
            <a:r>
              <a:rPr sz="1450" b="0">
                <a:solidFill>
                  <a:srgbClr val="555555"/>
                </a:solidFill>
                <a:latin typeface="Microsoft YaHei"/>
              </a:rPr>
              <a:t>3. 生成或增强营销文本内容</a:t>
            </a:r>
          </a:p>
          <a:p>
            <a:pPr algn="l">
              <a:spcAft>
                <a:spcPts val="800"/>
              </a:spcAft>
            </a:pPr>
            <a:r>
              <a:rPr sz="1450" b="0">
                <a:solidFill>
                  <a:srgbClr val="555555"/>
                </a:solidFill>
                <a:latin typeface="Microsoft YaHei"/>
              </a:rPr>
              <a:t>4. 根据文本生成配图素材</a:t>
            </a:r>
          </a:p>
        </p:txBody>
      </p:sp>
      <p:sp>
        <p:nvSpPr>
          <p:cNvPr id="8" name="Rounded Rectangle 7"/>
          <p:cNvSpPr/>
          <p:nvPr/>
        </p:nvSpPr>
        <p:spPr>
          <a:xfrm>
            <a:off x="6172200" y="1737360"/>
            <a:ext cx="5120640" cy="301752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65960"/>
            <a:ext cx="4480560" cy="274320"/>
          </a:xfrm>
          <a:prstGeom prst="rect">
            <a:avLst/>
          </a:prstGeom>
          <a:noFill/>
        </p:spPr>
        <p:txBody>
          <a:bodyPr wrap="square" anchor="t">
            <a:spAutoFit/>
          </a:bodyPr>
          <a:lstStyle/>
          <a:p>
            <a:pPr algn="l">
              <a:spcAft>
                <a:spcPts val="0"/>
              </a:spcAft>
            </a:pPr>
            <a:r>
              <a:rPr sz="1650" b="1">
                <a:solidFill>
                  <a:srgbClr val="C62828"/>
                </a:solidFill>
                <a:latin typeface="Microsoft YaHei"/>
              </a:rPr>
              <a:t>关键痛点</a:t>
            </a:r>
          </a:p>
        </p:txBody>
      </p:sp>
      <p:sp>
        <p:nvSpPr>
          <p:cNvPr id="10" name="TextBox 9"/>
          <p:cNvSpPr txBox="1"/>
          <p:nvPr/>
        </p:nvSpPr>
        <p:spPr>
          <a:xfrm>
            <a:off x="6400800" y="2450592"/>
            <a:ext cx="4572000" cy="1783080"/>
          </a:xfrm>
          <a:prstGeom prst="rect">
            <a:avLst/>
          </a:prstGeom>
          <a:noFill/>
        </p:spPr>
        <p:txBody>
          <a:bodyPr wrap="square" anchor="t">
            <a:spAutoFit/>
          </a:bodyPr>
          <a:lstStyle/>
          <a:p>
            <a:pPr algn="l">
              <a:spcAft>
                <a:spcPts val="800"/>
              </a:spcAft>
            </a:pPr>
            <a:r>
              <a:rPr sz="1450" b="0">
                <a:solidFill>
                  <a:srgbClr val="555555"/>
                </a:solidFill>
                <a:latin typeface="Microsoft YaHei"/>
              </a:rPr>
              <a:t>1. 客户洞察、营销动作和内容生产分散在多个环节，缺少统一工作流表达</a:t>
            </a:r>
          </a:p>
          <a:p>
            <a:pPr algn="l">
              <a:spcAft>
                <a:spcPts val="800"/>
              </a:spcAft>
            </a:pPr>
            <a:r>
              <a:rPr sz="1450" b="0">
                <a:solidFill>
                  <a:srgbClr val="555555"/>
                </a:solidFill>
                <a:latin typeface="Microsoft YaHei"/>
              </a:rPr>
              <a:t>2. 文本、图片和页面内容需要多次人工协同，内容生产效率不稳定</a:t>
            </a:r>
          </a:p>
          <a:p>
            <a:pPr algn="l">
              <a:spcAft>
                <a:spcPts val="800"/>
              </a:spcAft>
            </a:pPr>
            <a:r>
              <a:rPr sz="1450" b="0">
                <a:solidFill>
                  <a:srgbClr val="555555"/>
                </a:solidFill>
                <a:latin typeface="Microsoft YaHei"/>
              </a:rPr>
              <a:t>3. 活动分析和流失预警回流偏慢，难以及时支撑下一轮客户运营动作</a:t>
            </a:r>
          </a:p>
        </p:txBody>
      </p:sp>
      <p:sp>
        <p:nvSpPr>
          <p:cNvPr id="11" name="Rounded Rectangle 10"/>
          <p:cNvSpPr/>
          <p:nvPr/>
        </p:nvSpPr>
        <p:spPr>
          <a:xfrm>
            <a:off x="6172200" y="4983480"/>
            <a:ext cx="5120640" cy="1143000"/>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5266944"/>
            <a:ext cx="4480560" cy="384048"/>
          </a:xfrm>
          <a:prstGeom prst="rect">
            <a:avLst/>
          </a:prstGeom>
          <a:noFill/>
        </p:spPr>
        <p:txBody>
          <a:bodyPr wrap="square" anchor="ctr">
            <a:spAutoFit/>
          </a:bodyPr>
          <a:lstStyle/>
          <a:p>
            <a:pPr algn="l">
              <a:spcAft>
                <a:spcPts val="0"/>
              </a:spcAft>
            </a:pPr>
            <a:r>
              <a:rPr sz="1520" b="1">
                <a:solidFill>
                  <a:srgbClr val="FFFFFF"/>
                </a:solidFill>
                <a:latin typeface="Microsoft YaHei"/>
              </a:rPr>
              <a:t>优先切口：客户洞察、营销动作和内容生产分散在多个环节，缺少统一工作流表达</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业务机会与 Why Now</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7909560" cy="123444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47672"/>
            <a:ext cx="7507224" cy="274320"/>
          </a:xfrm>
          <a:prstGeom prst="rect">
            <a:avLst/>
          </a:prstGeom>
          <a:noFill/>
        </p:spPr>
        <p:txBody>
          <a:bodyPr wrap="square" anchor="t">
            <a:spAutoFit/>
          </a:bodyPr>
          <a:lstStyle/>
          <a:p>
            <a:pPr algn="l">
              <a:spcAft>
                <a:spcPts val="0"/>
              </a:spcAft>
            </a:pPr>
            <a:r>
              <a:rPr sz="1650" b="1">
                <a:solidFill>
                  <a:srgbClr val="C62828"/>
                </a:solidFill>
                <a:latin typeface="Microsoft YaHei"/>
              </a:rPr>
              <a:t>机会判断</a:t>
            </a:r>
          </a:p>
        </p:txBody>
      </p:sp>
      <p:sp>
        <p:nvSpPr>
          <p:cNvPr id="7" name="TextBox 6"/>
          <p:cNvSpPr txBox="1"/>
          <p:nvPr/>
        </p:nvSpPr>
        <p:spPr>
          <a:xfrm>
            <a:off x="1024128" y="2258568"/>
            <a:ext cx="7507224" cy="502920"/>
          </a:xfrm>
          <a:prstGeom prst="rect">
            <a:avLst/>
          </a:prstGeom>
          <a:noFill/>
        </p:spPr>
        <p:txBody>
          <a:bodyPr wrap="square" anchor="ctr">
            <a:spAutoFit/>
          </a:bodyPr>
          <a:lstStyle/>
          <a:p>
            <a:pPr algn="l">
              <a:spcAft>
                <a:spcPts val="800"/>
              </a:spcAft>
            </a:pPr>
            <a:r>
              <a:rPr sz="1340" b="0">
                <a:solidFill>
                  <a:srgbClr val="555555"/>
                </a:solidFill>
                <a:latin typeface="Microsoft YaHei"/>
              </a:rPr>
              <a:t>待补充：业务机会</a:t>
            </a:r>
          </a:p>
        </p:txBody>
      </p:sp>
      <p:sp>
        <p:nvSpPr>
          <p:cNvPr id="8" name="Rounded Rectangle 7"/>
          <p:cNvSpPr/>
          <p:nvPr/>
        </p:nvSpPr>
        <p:spPr>
          <a:xfrm>
            <a:off x="822960" y="3246120"/>
            <a:ext cx="7909560" cy="123444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410712"/>
            <a:ext cx="7507224" cy="274320"/>
          </a:xfrm>
          <a:prstGeom prst="rect">
            <a:avLst/>
          </a:prstGeom>
          <a:noFill/>
        </p:spPr>
        <p:txBody>
          <a:bodyPr wrap="square" anchor="t">
            <a:spAutoFit/>
          </a:bodyPr>
          <a:lstStyle/>
          <a:p>
            <a:pPr algn="l">
              <a:spcAft>
                <a:spcPts val="0"/>
              </a:spcAft>
            </a:pPr>
            <a:r>
              <a:rPr sz="1650" b="1">
                <a:solidFill>
                  <a:srgbClr val="C62828"/>
                </a:solidFill>
                <a:latin typeface="Microsoft YaHei"/>
              </a:rPr>
              <a:t>为什么是现在</a:t>
            </a:r>
          </a:p>
        </p:txBody>
      </p:sp>
      <p:sp>
        <p:nvSpPr>
          <p:cNvPr id="10" name="TextBox 9"/>
          <p:cNvSpPr txBox="1"/>
          <p:nvPr/>
        </p:nvSpPr>
        <p:spPr>
          <a:xfrm>
            <a:off x="1024128" y="3721608"/>
            <a:ext cx="7507224" cy="502920"/>
          </a:xfrm>
          <a:prstGeom prst="rect">
            <a:avLst/>
          </a:prstGeom>
          <a:noFill/>
        </p:spPr>
        <p:txBody>
          <a:bodyPr wrap="square" anchor="ctr">
            <a:spAutoFit/>
          </a:bodyPr>
          <a:lstStyle/>
          <a:p>
            <a:pPr algn="l">
              <a:spcAft>
                <a:spcPts val="800"/>
              </a:spcAft>
            </a:pPr>
            <a:r>
              <a:rPr sz="1340" b="0">
                <a:solidFill>
                  <a:srgbClr val="555555"/>
                </a:solidFill>
                <a:latin typeface="Microsoft YaHei"/>
              </a:rPr>
              <a:t>待补充：Why Now</a:t>
            </a:r>
          </a:p>
        </p:txBody>
      </p:sp>
      <p:sp>
        <p:nvSpPr>
          <p:cNvPr id="11" name="Rounded Rectangle 10"/>
          <p:cNvSpPr/>
          <p:nvPr/>
        </p:nvSpPr>
        <p:spPr>
          <a:xfrm>
            <a:off x="822960" y="4709160"/>
            <a:ext cx="7909560" cy="123444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4873752"/>
            <a:ext cx="7507224" cy="274320"/>
          </a:xfrm>
          <a:prstGeom prst="rect">
            <a:avLst/>
          </a:prstGeom>
          <a:noFill/>
        </p:spPr>
        <p:txBody>
          <a:bodyPr wrap="square" anchor="t">
            <a:spAutoFit/>
          </a:bodyPr>
          <a:lstStyle/>
          <a:p>
            <a:pPr algn="l">
              <a:spcAft>
                <a:spcPts val="0"/>
              </a:spcAft>
            </a:pPr>
            <a:r>
              <a:rPr sz="1650" b="1">
                <a:solidFill>
                  <a:srgbClr val="C62828"/>
                </a:solidFill>
                <a:latin typeface="Microsoft YaHei"/>
              </a:rPr>
              <a:t>价值支撑</a:t>
            </a:r>
          </a:p>
        </p:txBody>
      </p:sp>
      <p:sp>
        <p:nvSpPr>
          <p:cNvPr id="13" name="TextBox 12"/>
          <p:cNvSpPr txBox="1"/>
          <p:nvPr/>
        </p:nvSpPr>
        <p:spPr>
          <a:xfrm>
            <a:off x="1024128" y="5184648"/>
            <a:ext cx="7507224" cy="502920"/>
          </a:xfrm>
          <a:prstGeom prst="rect">
            <a:avLst/>
          </a:prstGeom>
          <a:noFill/>
        </p:spPr>
        <p:txBody>
          <a:bodyPr wrap="square" anchor="ctr">
            <a:spAutoFit/>
          </a:bodyPr>
          <a:lstStyle/>
          <a:p>
            <a:pPr algn="l">
              <a:spcAft>
                <a:spcPts val="800"/>
              </a:spcAft>
            </a:pPr>
            <a:r>
              <a:rPr sz="1340" b="0">
                <a:solidFill>
                  <a:srgbClr val="555555"/>
                </a:solidFill>
                <a:latin typeface="Microsoft YaHei"/>
              </a:rPr>
              <a:t>待补充：价值支撑点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客户现场卡片流程</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55648"/>
            <a:ext cx="10469880" cy="452628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993392"/>
            <a:ext cx="1051560" cy="658368"/>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93976"/>
            <a:ext cx="749808" cy="420624"/>
          </a:xfrm>
          <a:prstGeom prst="rect">
            <a:avLst/>
          </a:prstGeom>
          <a:noFill/>
        </p:spPr>
        <p:txBody>
          <a:bodyPr wrap="square" anchor="ctr">
            <a:spAutoFit/>
          </a:bodyPr>
          <a:lstStyle/>
          <a:p>
            <a:pPr algn="ctr">
              <a:spcAft>
                <a:spcPts val="0"/>
              </a:spcAft>
            </a:pPr>
            <a:r>
              <a:rPr sz="1200" b="1">
                <a:solidFill>
                  <a:srgbClr val="FFFFFF"/>
                </a:solidFill>
                <a:latin typeface="Microsoft YaHei"/>
              </a:rPr>
              <a:t>业务场景 / 输入感知</a:t>
            </a:r>
          </a:p>
        </p:txBody>
      </p:sp>
      <p:sp>
        <p:nvSpPr>
          <p:cNvPr id="8" name="Rounded Rectangle 7"/>
          <p:cNvSpPr/>
          <p:nvPr/>
        </p:nvSpPr>
        <p:spPr>
          <a:xfrm>
            <a:off x="2103120" y="1993392"/>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31136" y="2103120"/>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了解客户</a:t>
            </a:r>
          </a:p>
        </p:txBody>
      </p:sp>
      <p:sp>
        <p:nvSpPr>
          <p:cNvPr id="10" name="Right Arrow 9"/>
          <p:cNvSpPr/>
          <p:nvPr/>
        </p:nvSpPr>
        <p:spPr>
          <a:xfrm>
            <a:off x="3703320" y="2176272"/>
            <a:ext cx="237744" cy="237744"/>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77056" y="1993392"/>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05072" y="2103120"/>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个性化营销</a:t>
            </a:r>
          </a:p>
        </p:txBody>
      </p:sp>
      <p:sp>
        <p:nvSpPr>
          <p:cNvPr id="13" name="Right Arrow 12"/>
          <p:cNvSpPr/>
          <p:nvPr/>
        </p:nvSpPr>
        <p:spPr>
          <a:xfrm>
            <a:off x="5477256" y="2176272"/>
            <a:ext cx="237744" cy="237744"/>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50992" y="1993392"/>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79007" y="2103120"/>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预测客户流失</a:t>
            </a:r>
          </a:p>
        </p:txBody>
      </p:sp>
      <p:sp>
        <p:nvSpPr>
          <p:cNvPr id="16" name="Rounded Rectangle 15"/>
          <p:cNvSpPr/>
          <p:nvPr/>
        </p:nvSpPr>
        <p:spPr>
          <a:xfrm>
            <a:off x="868680" y="3310128"/>
            <a:ext cx="1051560" cy="658368"/>
          </a:xfrm>
          <a:prstGeom prst="roundRect">
            <a:avLst>
              <a:gd name="adj" fmla="val 10000"/>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410712"/>
            <a:ext cx="749808" cy="420624"/>
          </a:xfrm>
          <a:prstGeom prst="rect">
            <a:avLst/>
          </a:prstGeom>
          <a:noFill/>
        </p:spPr>
        <p:txBody>
          <a:bodyPr wrap="square" anchor="ctr">
            <a:spAutoFit/>
          </a:bodyPr>
          <a:lstStyle/>
          <a:p>
            <a:pPr algn="ctr">
              <a:spcAft>
                <a:spcPts val="0"/>
              </a:spcAft>
            </a:pPr>
            <a:r>
              <a:rPr sz="1200" b="1">
                <a:solidFill>
                  <a:srgbClr val="FFFFFF"/>
                </a:solidFill>
                <a:latin typeface="Microsoft YaHei"/>
              </a:rPr>
              <a:t>理解分析</a:t>
            </a:r>
          </a:p>
        </p:txBody>
      </p:sp>
      <p:sp>
        <p:nvSpPr>
          <p:cNvPr id="18" name="Rounded Rectangle 17"/>
          <p:cNvSpPr/>
          <p:nvPr/>
        </p:nvSpPr>
        <p:spPr>
          <a:xfrm>
            <a:off x="2103120" y="3310128"/>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1136" y="3419856"/>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简化数据分析</a:t>
            </a:r>
          </a:p>
        </p:txBody>
      </p:sp>
      <p:sp>
        <p:nvSpPr>
          <p:cNvPr id="20" name="Rounded Rectangle 19"/>
          <p:cNvSpPr/>
          <p:nvPr/>
        </p:nvSpPr>
        <p:spPr>
          <a:xfrm>
            <a:off x="868680" y="4626864"/>
            <a:ext cx="1051560" cy="658368"/>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727448"/>
            <a:ext cx="749808" cy="420624"/>
          </a:xfrm>
          <a:prstGeom prst="rect">
            <a:avLst/>
          </a:prstGeom>
          <a:noFill/>
        </p:spPr>
        <p:txBody>
          <a:bodyPr wrap="square" anchor="ctr">
            <a:spAutoFit/>
          </a:bodyPr>
          <a:lstStyle/>
          <a:p>
            <a:pPr algn="ctr">
              <a:spcAft>
                <a:spcPts val="0"/>
              </a:spcAft>
            </a:pPr>
            <a:r>
              <a:rPr sz="1200" b="1">
                <a:solidFill>
                  <a:srgbClr val="FFFFFF"/>
                </a:solidFill>
                <a:latin typeface="Microsoft YaHei"/>
              </a:rPr>
              <a:t>生成交互 / 执行闭环</a:t>
            </a:r>
          </a:p>
        </p:txBody>
      </p:sp>
      <p:sp>
        <p:nvSpPr>
          <p:cNvPr id="22" name="Rounded Rectangle 21"/>
          <p:cNvSpPr/>
          <p:nvPr/>
        </p:nvSpPr>
        <p:spPr>
          <a:xfrm>
            <a:off x="2103120" y="4626864"/>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31136" y="4736592"/>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生成或增强文本</a:t>
            </a:r>
          </a:p>
        </p:txBody>
      </p:sp>
      <p:sp>
        <p:nvSpPr>
          <p:cNvPr id="24" name="Right Arrow 23"/>
          <p:cNvSpPr/>
          <p:nvPr/>
        </p:nvSpPr>
        <p:spPr>
          <a:xfrm>
            <a:off x="3703320" y="4809744"/>
            <a:ext cx="237744" cy="237744"/>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877056" y="4626864"/>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05072" y="4736592"/>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从文本生成图像</a:t>
            </a:r>
          </a:p>
        </p:txBody>
      </p:sp>
      <p:sp>
        <p:nvSpPr>
          <p:cNvPr id="27" name="Right Arrow 26"/>
          <p:cNvSpPr/>
          <p:nvPr/>
        </p:nvSpPr>
        <p:spPr>
          <a:xfrm>
            <a:off x="5477256" y="4809744"/>
            <a:ext cx="237744" cy="237744"/>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650992" y="4626864"/>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79007" y="4736592"/>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创建动态网页</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目标业务闭环</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10469880" cy="731520"/>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83664"/>
            <a:ext cx="1234440" cy="274320"/>
          </a:xfrm>
          <a:prstGeom prst="rect">
            <a:avLst/>
          </a:prstGeom>
          <a:noFill/>
        </p:spPr>
        <p:txBody>
          <a:bodyPr wrap="square" anchor="t">
            <a:spAutoFit/>
          </a:bodyPr>
          <a:lstStyle/>
          <a:p>
            <a:pPr algn="l">
              <a:spcAft>
                <a:spcPts val="0"/>
              </a:spcAft>
            </a:pPr>
            <a:r>
              <a:rPr sz="1650" b="1">
                <a:solidFill>
                  <a:srgbClr val="FFFFFF"/>
                </a:solidFill>
                <a:latin typeface="Microsoft YaHei"/>
              </a:rPr>
              <a:t>业务触发</a:t>
            </a:r>
          </a:p>
        </p:txBody>
      </p:sp>
      <p:sp>
        <p:nvSpPr>
          <p:cNvPr id="7" name="TextBox 6"/>
          <p:cNvSpPr txBox="1"/>
          <p:nvPr/>
        </p:nvSpPr>
        <p:spPr>
          <a:xfrm>
            <a:off x="2103120" y="1874519"/>
            <a:ext cx="8138160" cy="384048"/>
          </a:xfrm>
          <a:prstGeom prst="rect">
            <a:avLst/>
          </a:prstGeom>
          <a:noFill/>
        </p:spPr>
        <p:txBody>
          <a:bodyPr wrap="square" anchor="ctr">
            <a:spAutoFit/>
          </a:bodyPr>
          <a:lstStyle/>
          <a:p>
            <a:pPr algn="l">
              <a:spcAft>
                <a:spcPts val="0"/>
              </a:spcAft>
            </a:pPr>
            <a:r>
              <a:rPr sz="1550" b="1">
                <a:solidFill>
                  <a:srgbClr val="FFFFFF"/>
                </a:solidFill>
                <a:latin typeface="Microsoft YaHei"/>
              </a:rPr>
              <a:t>业务团队准备围绕目标客群发起客户运营和营销内容动作</a:t>
            </a:r>
          </a:p>
        </p:txBody>
      </p:sp>
      <p:sp>
        <p:nvSpPr>
          <p:cNvPr id="8" name="Rounded Rectangle 7"/>
          <p:cNvSpPr/>
          <p:nvPr/>
        </p:nvSpPr>
        <p:spPr>
          <a:xfrm>
            <a:off x="822960" y="2788920"/>
            <a:ext cx="10469880" cy="269748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71800"/>
            <a:ext cx="1828800" cy="274320"/>
          </a:xfrm>
          <a:prstGeom prst="rect">
            <a:avLst/>
          </a:prstGeom>
          <a:noFill/>
        </p:spPr>
        <p:txBody>
          <a:bodyPr wrap="square" anchor="t">
            <a:spAutoFit/>
          </a:bodyPr>
          <a:lstStyle/>
          <a:p>
            <a:pPr algn="l">
              <a:spcAft>
                <a:spcPts val="0"/>
              </a:spcAft>
            </a:pPr>
            <a:r>
              <a:rPr sz="1650" b="1">
                <a:solidFill>
                  <a:srgbClr val="C62828"/>
                </a:solidFill>
                <a:latin typeface="Microsoft YaHei"/>
              </a:rPr>
              <a:t>核心流程</a:t>
            </a:r>
          </a:p>
        </p:txBody>
      </p:sp>
      <p:sp>
        <p:nvSpPr>
          <p:cNvPr id="10" name="Rounded Rectangle 9"/>
          <p:cNvSpPr/>
          <p:nvPr/>
        </p:nvSpPr>
        <p:spPr>
          <a:xfrm>
            <a:off x="1051560" y="3401568"/>
            <a:ext cx="1739188" cy="1536192"/>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79576" y="3511296"/>
            <a:ext cx="493776" cy="310896"/>
          </a:xfrm>
          <a:prstGeom prst="roundRect">
            <a:avLst>
              <a:gd name="adj" fmla="val 5000"/>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01</a:t>
            </a:r>
          </a:p>
        </p:txBody>
      </p:sp>
      <p:sp>
        <p:nvSpPr>
          <p:cNvPr id="13" name="TextBox 12"/>
          <p:cNvSpPr txBox="1"/>
          <p:nvPr/>
        </p:nvSpPr>
        <p:spPr>
          <a:xfrm>
            <a:off x="1197863" y="3931920"/>
            <a:ext cx="1483156" cy="841248"/>
          </a:xfrm>
          <a:prstGeom prst="rect">
            <a:avLst/>
          </a:prstGeom>
          <a:noFill/>
        </p:spPr>
        <p:txBody>
          <a:bodyPr wrap="square" anchor="t">
            <a:spAutoFit/>
          </a:bodyPr>
          <a:lstStyle/>
          <a:p>
            <a:pPr algn="l">
              <a:spcAft>
                <a:spcPts val="0"/>
              </a:spcAft>
            </a:pPr>
            <a:r>
              <a:rPr sz="1019" b="0">
                <a:solidFill>
                  <a:srgbClr val="555555"/>
                </a:solidFill>
                <a:latin typeface="Microsoft YaHei"/>
              </a:rPr>
              <a:t>1. 系统读取客户画像、历史互动和活动结果，形成客户洞察与分层建议</a:t>
            </a:r>
          </a:p>
        </p:txBody>
      </p:sp>
      <p:sp>
        <p:nvSpPr>
          <p:cNvPr id="14" name="Right Arrow 13"/>
          <p:cNvSpPr/>
          <p:nvPr/>
        </p:nvSpPr>
        <p:spPr>
          <a:xfrm>
            <a:off x="2900476" y="3886200"/>
            <a:ext cx="219456" cy="201168"/>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119932" y="3401568"/>
            <a:ext cx="1739188" cy="1536192"/>
          </a:xfrm>
          <a:prstGeom prst="roundRect">
            <a:avLst>
              <a:gd name="adj" fmla="val 10000"/>
            </a:avLst>
          </a:prstGeom>
          <a:solidFill>
            <a:srgbClr val="FFFFFF"/>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247948" y="3511296"/>
            <a:ext cx="493776" cy="310896"/>
          </a:xfrm>
          <a:prstGeom prst="roundRect">
            <a:avLst>
              <a:gd name="adj" fmla="val 5000"/>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11956"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02</a:t>
            </a:r>
          </a:p>
        </p:txBody>
      </p:sp>
      <p:sp>
        <p:nvSpPr>
          <p:cNvPr id="18" name="TextBox 17"/>
          <p:cNvSpPr txBox="1"/>
          <p:nvPr/>
        </p:nvSpPr>
        <p:spPr>
          <a:xfrm>
            <a:off x="3266236" y="3931920"/>
            <a:ext cx="1483156" cy="841248"/>
          </a:xfrm>
          <a:prstGeom prst="rect">
            <a:avLst/>
          </a:prstGeom>
          <a:noFill/>
        </p:spPr>
        <p:txBody>
          <a:bodyPr wrap="square" anchor="t">
            <a:spAutoFit/>
          </a:bodyPr>
          <a:lstStyle/>
          <a:p>
            <a:pPr algn="l">
              <a:spcAft>
                <a:spcPts val="0"/>
              </a:spcAft>
            </a:pPr>
            <a:r>
              <a:rPr sz="1019" b="0">
                <a:solidFill>
                  <a:srgbClr val="555555"/>
                </a:solidFill>
                <a:latin typeface="Microsoft YaHei"/>
              </a:rPr>
              <a:t>2. AI 结合目标客群自动生成营销文本、图像素材和页面内容建议</a:t>
            </a:r>
          </a:p>
        </p:txBody>
      </p:sp>
      <p:sp>
        <p:nvSpPr>
          <p:cNvPr id="19" name="Right Arrow 18"/>
          <p:cNvSpPr/>
          <p:nvPr/>
        </p:nvSpPr>
        <p:spPr>
          <a:xfrm>
            <a:off x="4968849" y="3886200"/>
            <a:ext cx="219456" cy="201168"/>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88305" y="3401568"/>
            <a:ext cx="1739188" cy="1536192"/>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316321" y="3511296"/>
            <a:ext cx="493776" cy="310896"/>
          </a:xfrm>
          <a:prstGeom prst="roundRect">
            <a:avLst>
              <a:gd name="adj" fmla="val 5000"/>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80329"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03</a:t>
            </a:r>
          </a:p>
        </p:txBody>
      </p:sp>
      <p:sp>
        <p:nvSpPr>
          <p:cNvPr id="23" name="TextBox 22"/>
          <p:cNvSpPr txBox="1"/>
          <p:nvPr/>
        </p:nvSpPr>
        <p:spPr>
          <a:xfrm>
            <a:off x="5334609" y="3931920"/>
            <a:ext cx="1483156" cy="841248"/>
          </a:xfrm>
          <a:prstGeom prst="rect">
            <a:avLst/>
          </a:prstGeom>
          <a:noFill/>
        </p:spPr>
        <p:txBody>
          <a:bodyPr wrap="square" anchor="t">
            <a:spAutoFit/>
          </a:bodyPr>
          <a:lstStyle/>
          <a:p>
            <a:pPr algn="l">
              <a:spcAft>
                <a:spcPts val="0"/>
              </a:spcAft>
            </a:pPr>
            <a:r>
              <a:rPr sz="1019" b="0">
                <a:solidFill>
                  <a:srgbClr val="555555"/>
                </a:solidFill>
                <a:latin typeface="Microsoft YaHei"/>
              </a:rPr>
              <a:t>3. 团队在工作台中查看并调整活动方案，快速完成内容编排和发布准备</a:t>
            </a:r>
          </a:p>
        </p:txBody>
      </p:sp>
      <p:sp>
        <p:nvSpPr>
          <p:cNvPr id="24" name="Right Arrow 23"/>
          <p:cNvSpPr/>
          <p:nvPr/>
        </p:nvSpPr>
        <p:spPr>
          <a:xfrm>
            <a:off x="7037222" y="3886200"/>
            <a:ext cx="219456" cy="201168"/>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56678" y="3401568"/>
            <a:ext cx="1739188" cy="1536192"/>
          </a:xfrm>
          <a:prstGeom prst="roundRect">
            <a:avLst>
              <a:gd name="adj" fmla="val 10000"/>
            </a:avLst>
          </a:prstGeom>
          <a:solidFill>
            <a:srgbClr val="FFFFFF"/>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84694" y="3511296"/>
            <a:ext cx="493776" cy="310896"/>
          </a:xfrm>
          <a:prstGeom prst="roundRect">
            <a:avLst>
              <a:gd name="adj" fmla="val 5000"/>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48702"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04</a:t>
            </a:r>
          </a:p>
        </p:txBody>
      </p:sp>
      <p:sp>
        <p:nvSpPr>
          <p:cNvPr id="28" name="TextBox 27"/>
          <p:cNvSpPr txBox="1"/>
          <p:nvPr/>
        </p:nvSpPr>
        <p:spPr>
          <a:xfrm>
            <a:off x="7402982" y="3931920"/>
            <a:ext cx="1483156" cy="841248"/>
          </a:xfrm>
          <a:prstGeom prst="rect">
            <a:avLst/>
          </a:prstGeom>
          <a:noFill/>
        </p:spPr>
        <p:txBody>
          <a:bodyPr wrap="square" anchor="t">
            <a:spAutoFit/>
          </a:bodyPr>
          <a:lstStyle/>
          <a:p>
            <a:pPr algn="l">
              <a:spcAft>
                <a:spcPts val="0"/>
              </a:spcAft>
            </a:pPr>
            <a:r>
              <a:rPr sz="1019" b="0">
                <a:solidFill>
                  <a:srgbClr val="555555"/>
                </a:solidFill>
                <a:latin typeface="Microsoft YaHei"/>
              </a:rPr>
              <a:t>4. 系统自动汇总活动表现并输出数据分析结果与优化建议</a:t>
            </a:r>
          </a:p>
        </p:txBody>
      </p:sp>
      <p:sp>
        <p:nvSpPr>
          <p:cNvPr id="29" name="Right Arrow 28"/>
          <p:cNvSpPr/>
          <p:nvPr/>
        </p:nvSpPr>
        <p:spPr>
          <a:xfrm>
            <a:off x="9105595" y="3886200"/>
            <a:ext cx="219456" cy="201168"/>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325051" y="3401568"/>
            <a:ext cx="1739188" cy="1536192"/>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453067" y="3511296"/>
            <a:ext cx="493776" cy="310896"/>
          </a:xfrm>
          <a:prstGeom prst="roundRect">
            <a:avLst>
              <a:gd name="adj" fmla="val 5000"/>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17075"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05</a:t>
            </a:r>
          </a:p>
        </p:txBody>
      </p:sp>
      <p:sp>
        <p:nvSpPr>
          <p:cNvPr id="33" name="TextBox 32"/>
          <p:cNvSpPr txBox="1"/>
          <p:nvPr/>
        </p:nvSpPr>
        <p:spPr>
          <a:xfrm>
            <a:off x="9471355" y="3931920"/>
            <a:ext cx="1483156" cy="841248"/>
          </a:xfrm>
          <a:prstGeom prst="rect">
            <a:avLst/>
          </a:prstGeom>
          <a:noFill/>
        </p:spPr>
        <p:txBody>
          <a:bodyPr wrap="square" anchor="t">
            <a:spAutoFit/>
          </a:bodyPr>
          <a:lstStyle/>
          <a:p>
            <a:pPr algn="l">
              <a:spcAft>
                <a:spcPts val="0"/>
              </a:spcAft>
            </a:pPr>
            <a:r>
              <a:rPr sz="1019" b="0">
                <a:solidFill>
                  <a:srgbClr val="555555"/>
                </a:solidFill>
                <a:latin typeface="Microsoft YaHei"/>
              </a:rPr>
              <a:t>5. 对高风险客户触发保留跟进建议，形成下一轮运营动作</a:t>
            </a:r>
          </a:p>
        </p:txBody>
      </p:sp>
      <p:sp>
        <p:nvSpPr>
          <p:cNvPr id="34" name="Rounded Rectangle 33"/>
          <p:cNvSpPr/>
          <p:nvPr/>
        </p:nvSpPr>
        <p:spPr>
          <a:xfrm>
            <a:off x="822960" y="5596128"/>
            <a:ext cx="10469880" cy="658368"/>
          </a:xfrm>
          <a:prstGeom prst="roundRect">
            <a:avLst>
              <a:gd name="adj" fmla="val 10000"/>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742432"/>
            <a:ext cx="1463040" cy="274320"/>
          </a:xfrm>
          <a:prstGeom prst="rect">
            <a:avLst/>
          </a:prstGeom>
          <a:noFill/>
        </p:spPr>
        <p:txBody>
          <a:bodyPr wrap="square" anchor="t">
            <a:spAutoFit/>
          </a:bodyPr>
          <a:lstStyle/>
          <a:p>
            <a:pPr algn="l">
              <a:spcAft>
                <a:spcPts val="0"/>
              </a:spcAft>
            </a:pPr>
            <a:r>
              <a:rPr sz="1650" b="1">
                <a:solidFill>
                  <a:srgbClr val="FFFFFF"/>
                </a:solidFill>
                <a:latin typeface="Microsoft YaHei"/>
              </a:rPr>
              <a:t>闭环结果</a:t>
            </a:r>
          </a:p>
        </p:txBody>
      </p:sp>
      <p:sp>
        <p:nvSpPr>
          <p:cNvPr id="36" name="TextBox 35"/>
          <p:cNvSpPr txBox="1"/>
          <p:nvPr/>
        </p:nvSpPr>
        <p:spPr>
          <a:xfrm>
            <a:off x="2240280" y="5715000"/>
            <a:ext cx="8183879" cy="201168"/>
          </a:xfrm>
          <a:prstGeom prst="rect">
            <a:avLst/>
          </a:prstGeom>
          <a:noFill/>
        </p:spPr>
        <p:txBody>
          <a:bodyPr wrap="square" anchor="ctr">
            <a:spAutoFit/>
          </a:bodyPr>
          <a:lstStyle/>
          <a:p>
            <a:pPr algn="l">
              <a:spcAft>
                <a:spcPts val="0"/>
              </a:spcAft>
            </a:pPr>
            <a:r>
              <a:rPr sz="1360" b="1">
                <a:solidFill>
                  <a:srgbClr val="FFFFFF"/>
                </a:solidFill>
                <a:latin typeface="Microsoft YaHei"/>
              </a:rPr>
              <a:t>形成从客户洞察、内容生成、页面承载、活动分析到流失预警的客户运营闭环</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解决方案架构</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7406640" cy="470916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38528"/>
            <a:ext cx="6583680" cy="274320"/>
          </a:xfrm>
          <a:prstGeom prst="rect">
            <a:avLst/>
          </a:prstGeom>
          <a:noFill/>
        </p:spPr>
        <p:txBody>
          <a:bodyPr wrap="square" anchor="t">
            <a:spAutoFit/>
          </a:bodyPr>
          <a:lstStyle/>
          <a:p>
            <a:pPr algn="l">
              <a:spcAft>
                <a:spcPts val="0"/>
              </a:spcAft>
            </a:pPr>
            <a:r>
              <a:rPr sz="1650" b="1">
                <a:solidFill>
                  <a:srgbClr val="C62828"/>
                </a:solidFill>
                <a:latin typeface="Microsoft YaHei"/>
              </a:rPr>
              <a:t>客户洞察驱动的客户运营与内容生成闭环</a:t>
            </a:r>
          </a:p>
        </p:txBody>
      </p:sp>
      <p:sp>
        <p:nvSpPr>
          <p:cNvPr id="7" name="Rounded Rectangle 6"/>
          <p:cNvSpPr/>
          <p:nvPr/>
        </p:nvSpPr>
        <p:spPr>
          <a:xfrm>
            <a:off x="1115568" y="2304288"/>
            <a:ext cx="1481328" cy="512064"/>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2404872"/>
            <a:ext cx="1225296" cy="237744"/>
          </a:xfrm>
          <a:prstGeom prst="rect">
            <a:avLst/>
          </a:prstGeom>
          <a:noFill/>
        </p:spPr>
        <p:txBody>
          <a:bodyPr wrap="square" anchor="ctr">
            <a:spAutoFit/>
          </a:bodyPr>
          <a:lstStyle/>
          <a:p>
            <a:pPr algn="ctr">
              <a:spcAft>
                <a:spcPts val="0"/>
              </a:spcAft>
            </a:pPr>
            <a:r>
              <a:rPr sz="1140" b="1">
                <a:solidFill>
                  <a:srgbClr val="FFFFFF"/>
                </a:solidFill>
                <a:latin typeface="Microsoft YaHei"/>
              </a:rPr>
              <a:t>1. 展示层</a:t>
            </a:r>
          </a:p>
        </p:txBody>
      </p:sp>
      <p:sp>
        <p:nvSpPr>
          <p:cNvPr id="9" name="Rounded Rectangle 8"/>
          <p:cNvSpPr/>
          <p:nvPr/>
        </p:nvSpPr>
        <p:spPr>
          <a:xfrm>
            <a:off x="2788920" y="2304288"/>
            <a:ext cx="5074920" cy="512064"/>
          </a:xfrm>
          <a:prstGeom prst="roundRect">
            <a:avLst>
              <a:gd name="adj" fmla="val 10000"/>
            </a:avLst>
          </a:prstGeom>
          <a:solidFill>
            <a:srgbClr val="FFFFFF"/>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2395728"/>
            <a:ext cx="4709160" cy="256032"/>
          </a:xfrm>
          <a:prstGeom prst="rect">
            <a:avLst/>
          </a:prstGeom>
          <a:noFill/>
        </p:spPr>
        <p:txBody>
          <a:bodyPr wrap="square" anchor="ctr">
            <a:spAutoFit/>
          </a:bodyPr>
          <a:lstStyle/>
          <a:p>
            <a:pPr algn="l">
              <a:spcAft>
                <a:spcPts val="0"/>
              </a:spcAft>
            </a:pPr>
            <a:r>
              <a:rPr sz="1210" b="0">
                <a:solidFill>
                  <a:srgbClr val="555555"/>
                </a:solidFill>
                <a:latin typeface="Microsoft YaHei"/>
              </a:rPr>
              <a:t>页面壳子、看板卡片、列表表格、详情抽屉</a:t>
            </a:r>
          </a:p>
        </p:txBody>
      </p:sp>
      <p:sp>
        <p:nvSpPr>
          <p:cNvPr id="11" name="Down Arrow 10"/>
          <p:cNvSpPr/>
          <p:nvPr/>
        </p:nvSpPr>
        <p:spPr>
          <a:xfrm>
            <a:off x="4251960" y="2807208"/>
            <a:ext cx="384048" cy="201168"/>
          </a:xfrm>
          <a:prstGeom prst="down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115568" y="3136392"/>
            <a:ext cx="1481328" cy="512064"/>
          </a:xfrm>
          <a:prstGeom prst="roundRect">
            <a:avLst>
              <a:gd name="adj" fmla="val 10000"/>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43584" y="3236976"/>
            <a:ext cx="1225296" cy="237744"/>
          </a:xfrm>
          <a:prstGeom prst="rect">
            <a:avLst/>
          </a:prstGeom>
          <a:noFill/>
        </p:spPr>
        <p:txBody>
          <a:bodyPr wrap="square" anchor="ctr">
            <a:spAutoFit/>
          </a:bodyPr>
          <a:lstStyle/>
          <a:p>
            <a:pPr algn="ctr">
              <a:spcAft>
                <a:spcPts val="0"/>
              </a:spcAft>
            </a:pPr>
            <a:r>
              <a:rPr sz="1140" b="1">
                <a:solidFill>
                  <a:srgbClr val="FFFFFF"/>
                </a:solidFill>
                <a:latin typeface="Microsoft YaHei"/>
              </a:rPr>
              <a:t>2. 交互层</a:t>
            </a:r>
          </a:p>
        </p:txBody>
      </p:sp>
      <p:sp>
        <p:nvSpPr>
          <p:cNvPr id="14" name="Rounded Rectangle 13"/>
          <p:cNvSpPr/>
          <p:nvPr/>
        </p:nvSpPr>
        <p:spPr>
          <a:xfrm>
            <a:off x="2788920" y="3136392"/>
            <a:ext cx="5074920" cy="512064"/>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71800" y="3227832"/>
            <a:ext cx="4709160" cy="256032"/>
          </a:xfrm>
          <a:prstGeom prst="rect">
            <a:avLst/>
          </a:prstGeom>
          <a:noFill/>
        </p:spPr>
        <p:txBody>
          <a:bodyPr wrap="square" anchor="ctr">
            <a:spAutoFit/>
          </a:bodyPr>
          <a:lstStyle/>
          <a:p>
            <a:pPr algn="l">
              <a:spcAft>
                <a:spcPts val="0"/>
              </a:spcAft>
            </a:pPr>
            <a:r>
              <a:rPr sz="1210" b="0">
                <a:solidFill>
                  <a:srgbClr val="555555"/>
                </a:solidFill>
                <a:latin typeface="Microsoft YaHei"/>
              </a:rPr>
              <a:t>筛选切换、建议查看、动作触发、结果回看</a:t>
            </a:r>
          </a:p>
        </p:txBody>
      </p:sp>
      <p:sp>
        <p:nvSpPr>
          <p:cNvPr id="16" name="Down Arrow 15"/>
          <p:cNvSpPr/>
          <p:nvPr/>
        </p:nvSpPr>
        <p:spPr>
          <a:xfrm>
            <a:off x="4251960" y="3639312"/>
            <a:ext cx="384048" cy="201168"/>
          </a:xfrm>
          <a:prstGeom prst="down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115568" y="3968496"/>
            <a:ext cx="1481328" cy="512064"/>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43584" y="4069080"/>
            <a:ext cx="1225296" cy="237744"/>
          </a:xfrm>
          <a:prstGeom prst="rect">
            <a:avLst/>
          </a:prstGeom>
          <a:noFill/>
        </p:spPr>
        <p:txBody>
          <a:bodyPr wrap="square" anchor="ctr">
            <a:spAutoFit/>
          </a:bodyPr>
          <a:lstStyle/>
          <a:p>
            <a:pPr algn="ctr">
              <a:spcAft>
                <a:spcPts val="0"/>
              </a:spcAft>
            </a:pPr>
            <a:r>
              <a:rPr sz="1140" b="1">
                <a:solidFill>
                  <a:srgbClr val="FFFFFF"/>
                </a:solidFill>
                <a:latin typeface="Microsoft YaHei"/>
              </a:rPr>
              <a:t>3. 数据层</a:t>
            </a:r>
          </a:p>
        </p:txBody>
      </p:sp>
      <p:sp>
        <p:nvSpPr>
          <p:cNvPr id="19" name="Rounded Rectangle 18"/>
          <p:cNvSpPr/>
          <p:nvPr/>
        </p:nvSpPr>
        <p:spPr>
          <a:xfrm>
            <a:off x="2788920" y="3968496"/>
            <a:ext cx="5074920" cy="512064"/>
          </a:xfrm>
          <a:prstGeom prst="roundRect">
            <a:avLst>
              <a:gd name="adj" fmla="val 10000"/>
            </a:avLst>
          </a:prstGeom>
          <a:solidFill>
            <a:srgbClr val="FFFFFF"/>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4059935"/>
            <a:ext cx="4709160" cy="256032"/>
          </a:xfrm>
          <a:prstGeom prst="rect">
            <a:avLst/>
          </a:prstGeom>
          <a:noFill/>
        </p:spPr>
        <p:txBody>
          <a:bodyPr wrap="square" anchor="ctr">
            <a:spAutoFit/>
          </a:bodyPr>
          <a:lstStyle/>
          <a:p>
            <a:pPr algn="l">
              <a:spcAft>
                <a:spcPts val="0"/>
              </a:spcAft>
            </a:pPr>
            <a:r>
              <a:rPr sz="1210" b="0">
                <a:solidFill>
                  <a:srgbClr val="555555"/>
                </a:solidFill>
                <a:latin typeface="Microsoft YaHei"/>
              </a:rPr>
              <a:t>样例数据、页面状态配置、Mock 接口返回</a:t>
            </a:r>
          </a:p>
        </p:txBody>
      </p:sp>
      <p:sp>
        <p:nvSpPr>
          <p:cNvPr id="21" name="Rounded Rectangle 20"/>
          <p:cNvSpPr/>
          <p:nvPr/>
        </p:nvSpPr>
        <p:spPr>
          <a:xfrm>
            <a:off x="8412480" y="1737360"/>
            <a:ext cx="2880360" cy="214884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41080" y="1956816"/>
            <a:ext cx="2377440" cy="274320"/>
          </a:xfrm>
          <a:prstGeom prst="rect">
            <a:avLst/>
          </a:prstGeom>
          <a:noFill/>
        </p:spPr>
        <p:txBody>
          <a:bodyPr wrap="square" anchor="t">
            <a:spAutoFit/>
          </a:bodyPr>
          <a:lstStyle/>
          <a:p>
            <a:pPr algn="l">
              <a:spcAft>
                <a:spcPts val="0"/>
              </a:spcAft>
            </a:pPr>
            <a:r>
              <a:rPr sz="1650" b="1">
                <a:solidFill>
                  <a:srgbClr val="C62828"/>
                </a:solidFill>
                <a:latin typeface="Microsoft YaHei"/>
              </a:rPr>
              <a:t>推荐产品栈</a:t>
            </a:r>
          </a:p>
        </p:txBody>
      </p:sp>
      <p:sp>
        <p:nvSpPr>
          <p:cNvPr id="23" name="TextBox 22"/>
          <p:cNvSpPr txBox="1"/>
          <p:nvPr/>
        </p:nvSpPr>
        <p:spPr>
          <a:xfrm>
            <a:off x="8641080" y="2359152"/>
            <a:ext cx="2286000" cy="1051560"/>
          </a:xfrm>
          <a:prstGeom prst="rect">
            <a:avLst/>
          </a:prstGeom>
          <a:noFill/>
        </p:spPr>
        <p:txBody>
          <a:bodyPr wrap="square" anchor="t">
            <a:spAutoFit/>
          </a:bodyPr>
          <a:lstStyle/>
          <a:p>
            <a:pPr algn="l">
              <a:spcAft>
                <a:spcPts val="600"/>
              </a:spcAft>
            </a:pPr>
            <a:r>
              <a:rPr sz="1280" b="0">
                <a:solidFill>
                  <a:srgbClr val="555555"/>
                </a:solidFill>
                <a:latin typeface="Microsoft YaHei"/>
              </a:rPr>
              <a:t>优先产品栈：Dynamics 365 Customer Insights / Microsoft Fabric / Azure Machine Learning / Azure AI Foundry</a:t>
            </a:r>
          </a:p>
        </p:txBody>
      </p:sp>
      <p:sp>
        <p:nvSpPr>
          <p:cNvPr id="24" name="Rounded Rectangle 23"/>
          <p:cNvSpPr/>
          <p:nvPr/>
        </p:nvSpPr>
        <p:spPr>
          <a:xfrm>
            <a:off x="8412480" y="4160520"/>
            <a:ext cx="2880360" cy="228600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41080" y="4389120"/>
            <a:ext cx="2377440" cy="274320"/>
          </a:xfrm>
          <a:prstGeom prst="rect">
            <a:avLst/>
          </a:prstGeom>
          <a:noFill/>
        </p:spPr>
        <p:txBody>
          <a:bodyPr wrap="square" anchor="t">
            <a:spAutoFit/>
          </a:bodyPr>
          <a:lstStyle/>
          <a:p>
            <a:pPr algn="l">
              <a:spcAft>
                <a:spcPts val="0"/>
              </a:spcAft>
            </a:pPr>
            <a:r>
              <a:rPr sz="1650" b="1">
                <a:solidFill>
                  <a:srgbClr val="C62828"/>
                </a:solidFill>
                <a:latin typeface="Microsoft YaHei"/>
              </a:rPr>
              <a:t>架构原则</a:t>
            </a:r>
          </a:p>
        </p:txBody>
      </p:sp>
      <p:sp>
        <p:nvSpPr>
          <p:cNvPr id="26" name="TextBox 25"/>
          <p:cNvSpPr txBox="1"/>
          <p:nvPr/>
        </p:nvSpPr>
        <p:spPr>
          <a:xfrm>
            <a:off x="8641080" y="4754880"/>
            <a:ext cx="2286000" cy="1097280"/>
          </a:xfrm>
          <a:prstGeom prst="rect">
            <a:avLst/>
          </a:prstGeom>
          <a:noFill/>
        </p:spPr>
        <p:txBody>
          <a:bodyPr wrap="square" anchor="t">
            <a:spAutoFit/>
          </a:bodyPr>
          <a:lstStyle/>
          <a:p>
            <a:pPr algn="l">
              <a:spcAft>
                <a:spcPts val="600"/>
              </a:spcAft>
            </a:pPr>
            <a:r>
              <a:rPr sz="1220" b="0">
                <a:solidFill>
                  <a:srgbClr val="555555"/>
                </a:solidFill>
                <a:latin typeface="Microsoft YaHei"/>
              </a:rPr>
              <a:t>1. 页面壳子优先，先保证关键业务路径可演示</a:t>
            </a:r>
          </a:p>
          <a:p>
            <a:pPr algn="l">
              <a:spcAft>
                <a:spcPts val="600"/>
              </a:spcAft>
            </a:pPr>
            <a:r>
              <a:rPr sz="1220" b="0">
                <a:solidFill>
                  <a:srgbClr val="555555"/>
                </a:solidFill>
                <a:latin typeface="Microsoft YaHei"/>
              </a:rPr>
              <a:t>2. 模块分层组织，页面、组件、样例数据分开维护</a:t>
            </a:r>
          </a:p>
          <a:p>
            <a:pPr algn="l">
              <a:spcAft>
                <a:spcPts val="600"/>
              </a:spcAft>
            </a:pPr>
            <a:r>
              <a:rPr sz="1220" b="0">
                <a:solidFill>
                  <a:srgbClr val="555555"/>
                </a:solidFill>
                <a:latin typeface="Microsoft YaHei"/>
              </a:rPr>
              <a:t>3. Mock 数据驱动，先不接真实系统接口</a:t>
            </a:r>
          </a:p>
        </p:txBody>
      </p:sp>
      <p:sp>
        <p:nvSpPr>
          <p:cNvPr id="27" name="Rounded Rectangle 26"/>
          <p:cNvSpPr/>
          <p:nvPr/>
        </p:nvSpPr>
        <p:spPr>
          <a:xfrm>
            <a:off x="822960" y="6537960"/>
            <a:ext cx="10469880" cy="329184"/>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 y="6592824"/>
            <a:ext cx="9966960" cy="164592"/>
          </a:xfrm>
          <a:prstGeom prst="rect">
            <a:avLst/>
          </a:prstGeom>
          <a:noFill/>
        </p:spPr>
        <p:txBody>
          <a:bodyPr wrap="square" anchor="ctr">
            <a:spAutoFit/>
          </a:bodyPr>
          <a:lstStyle/>
          <a:p>
            <a:pPr algn="l">
              <a:spcAft>
                <a:spcPts val="0"/>
              </a:spcAft>
            </a:pPr>
            <a:r>
              <a:rPr sz="1200" b="1">
                <a:solidFill>
                  <a:srgbClr val="FFFFFF"/>
                </a:solidFill>
                <a:latin typeface="Microsoft YaHei"/>
              </a:rPr>
              <a:t>闭环目标：形成从客户洞察、内容生成、页面承载、活动分析到流失预警的客户运营闭环</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能力映射与交付物</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6812280" cy="448056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65960"/>
            <a:ext cx="6263640" cy="274320"/>
          </a:xfrm>
          <a:prstGeom prst="rect">
            <a:avLst/>
          </a:prstGeom>
          <a:noFill/>
        </p:spPr>
        <p:txBody>
          <a:bodyPr wrap="square" anchor="t">
            <a:spAutoFit/>
          </a:bodyPr>
          <a:lstStyle/>
          <a:p>
            <a:pPr algn="l">
              <a:spcAft>
                <a:spcPts val="0"/>
              </a:spcAft>
            </a:pPr>
            <a:r>
              <a:rPr sz="1650" b="1">
                <a:solidFill>
                  <a:srgbClr val="C62828"/>
                </a:solidFill>
                <a:latin typeface="Microsoft YaHei"/>
              </a:rPr>
              <a:t>能力卡与产品映射</a:t>
            </a:r>
          </a:p>
        </p:txBody>
      </p:sp>
      <p:sp>
        <p:nvSpPr>
          <p:cNvPr id="7" name="TextBox 6"/>
          <p:cNvSpPr txBox="1"/>
          <p:nvPr/>
        </p:nvSpPr>
        <p:spPr>
          <a:xfrm>
            <a:off x="1051560" y="2487168"/>
            <a:ext cx="6355080" cy="3154680"/>
          </a:xfrm>
          <a:prstGeom prst="rect">
            <a:avLst/>
          </a:prstGeom>
          <a:noFill/>
        </p:spPr>
        <p:txBody>
          <a:bodyPr wrap="square" anchor="t">
            <a:spAutoFit/>
          </a:bodyPr>
          <a:lstStyle/>
          <a:p>
            <a:pPr algn="l">
              <a:spcAft>
                <a:spcPts val="800"/>
              </a:spcAft>
            </a:pPr>
            <a:r>
              <a:rPr sz="1380" b="0">
                <a:solidFill>
                  <a:srgbClr val="555555"/>
                </a:solidFill>
                <a:latin typeface="Microsoft YaHei"/>
              </a:rPr>
              <a:t>客户洞察与客户分层 -&gt; Dynamics 365 Customer Insights, Microsoft Fabric, Azure Machine Learning, Azure AI Foundry | 交付：客户画像整合、分群分析与运营机会识别</a:t>
            </a:r>
          </a:p>
          <a:p>
            <a:pPr algn="l">
              <a:spcAft>
                <a:spcPts val="800"/>
              </a:spcAft>
            </a:pPr>
            <a:r>
              <a:rPr sz="1380" b="0">
                <a:solidFill>
                  <a:srgbClr val="555555"/>
                </a:solidFill>
                <a:latin typeface="Microsoft YaHei"/>
              </a:rPr>
              <a:t>个性化营销策略生成 -&gt; Dynamics 365 Customer Insights, Azure Machine Learning, Azure AI Search | 交付：面向目标客群的营销策略和触达建议</a:t>
            </a:r>
          </a:p>
          <a:p>
            <a:pPr algn="l">
              <a:spcAft>
                <a:spcPts val="800"/>
              </a:spcAft>
            </a:pPr>
            <a:r>
              <a:rPr sz="1380" b="0">
                <a:solidFill>
                  <a:srgbClr val="555555"/>
                </a:solidFill>
                <a:latin typeface="Microsoft YaHei"/>
              </a:rPr>
              <a:t>营销文本生成与增强 -&gt; Azure AI Foundry, Azure AI Language, Microsoft 365 Copilot | 交付：营销文案、活动说明和内容草稿生成</a:t>
            </a:r>
          </a:p>
          <a:p>
            <a:pPr algn="l">
              <a:spcAft>
                <a:spcPts val="800"/>
              </a:spcAft>
            </a:pPr>
            <a:r>
              <a:rPr sz="1380" b="0">
                <a:solidFill>
                  <a:srgbClr val="555555"/>
                </a:solidFill>
                <a:latin typeface="Microsoft YaHei"/>
              </a:rPr>
              <a:t>营销配图生成 -&gt; Azure AI Foundry, Microsoft Designer, Azure AI Content Understanding | 交付：活动视觉素材和创意配图生成</a:t>
            </a:r>
          </a:p>
          <a:p>
            <a:pPr algn="l">
              <a:spcAft>
                <a:spcPts val="800"/>
              </a:spcAft>
            </a:pPr>
            <a:r>
              <a:rPr sz="1380" b="0">
                <a:solidFill>
                  <a:srgbClr val="555555"/>
                </a:solidFill>
                <a:latin typeface="Microsoft YaHei"/>
              </a:rPr>
              <a:t>活动页面快速生成 -&gt; Power Pages, Azure AI Language, GitHub Copilot | 交付：动态活动页面原型与表单内容生成</a:t>
            </a:r>
          </a:p>
          <a:p>
            <a:pPr algn="l">
              <a:spcAft>
                <a:spcPts val="800"/>
              </a:spcAft>
            </a:pPr>
            <a:r>
              <a:rPr sz="1380" b="0">
                <a:solidFill>
                  <a:srgbClr val="555555"/>
                </a:solidFill>
                <a:latin typeface="Microsoft YaHei"/>
              </a:rPr>
              <a:t>活动分析与经营复盘 -&gt; Microsoft Fabric, Power BI, Azure AI Foundry | 交付：活动效果分析、自然语言洞察与复盘看板</a:t>
            </a:r>
          </a:p>
          <a:p>
            <a:pPr algn="l">
              <a:spcAft>
                <a:spcPts val="800"/>
              </a:spcAft>
            </a:pPr>
            <a:r>
              <a:rPr sz="1380" b="0">
                <a:solidFill>
                  <a:srgbClr val="555555"/>
                </a:solidFill>
                <a:latin typeface="Microsoft YaHei"/>
              </a:rPr>
              <a:t>客户流失预测与保留建议 -&gt; Azure Machine Learning, Microsoft Fabric, Dynamics 365 Customer Insights | 交付：高风险客户识别与保留动作建议</a:t>
            </a:r>
          </a:p>
        </p:txBody>
      </p:sp>
      <p:sp>
        <p:nvSpPr>
          <p:cNvPr id="8" name="Rounded Rectangle 7"/>
          <p:cNvSpPr/>
          <p:nvPr/>
        </p:nvSpPr>
        <p:spPr>
          <a:xfrm>
            <a:off x="7955279" y="1737360"/>
            <a:ext cx="3337560" cy="192024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56816"/>
            <a:ext cx="2788920" cy="274320"/>
          </a:xfrm>
          <a:prstGeom prst="rect">
            <a:avLst/>
          </a:prstGeom>
          <a:noFill/>
        </p:spPr>
        <p:txBody>
          <a:bodyPr wrap="square" anchor="t">
            <a:spAutoFit/>
          </a:bodyPr>
          <a:lstStyle/>
          <a:p>
            <a:pPr algn="l">
              <a:spcAft>
                <a:spcPts val="0"/>
              </a:spcAft>
            </a:pPr>
            <a:r>
              <a:rPr sz="1650" b="1">
                <a:solidFill>
                  <a:srgbClr val="C62828"/>
                </a:solidFill>
                <a:latin typeface="Microsoft YaHei"/>
              </a:rPr>
              <a:t>推荐产品栈</a:t>
            </a:r>
          </a:p>
        </p:txBody>
      </p:sp>
      <p:sp>
        <p:nvSpPr>
          <p:cNvPr id="10" name="TextBox 9"/>
          <p:cNvSpPr txBox="1"/>
          <p:nvPr/>
        </p:nvSpPr>
        <p:spPr>
          <a:xfrm>
            <a:off x="8229600" y="2359152"/>
            <a:ext cx="2788920" cy="932688"/>
          </a:xfrm>
          <a:prstGeom prst="rect">
            <a:avLst/>
          </a:prstGeom>
          <a:noFill/>
        </p:spPr>
        <p:txBody>
          <a:bodyPr wrap="square" anchor="t">
            <a:spAutoFit/>
          </a:bodyPr>
          <a:lstStyle/>
          <a:p>
            <a:pPr algn="l">
              <a:spcAft>
                <a:spcPts val="0"/>
              </a:spcAft>
            </a:pPr>
            <a:r>
              <a:rPr sz="1350" b="0">
                <a:solidFill>
                  <a:srgbClr val="555555"/>
                </a:solidFill>
                <a:latin typeface="Microsoft YaHei"/>
              </a:rPr>
              <a:t>优先产品栈：Dynamics 365 Customer Insights / Microsoft Fabric / Azure Machine Learning / Azure AI Foundry</a:t>
            </a:r>
          </a:p>
        </p:txBody>
      </p:sp>
      <p:sp>
        <p:nvSpPr>
          <p:cNvPr id="11" name="Rounded Rectangle 10"/>
          <p:cNvSpPr/>
          <p:nvPr/>
        </p:nvSpPr>
        <p:spPr>
          <a:xfrm>
            <a:off x="7955279" y="3977639"/>
            <a:ext cx="3337560" cy="2240280"/>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4224528"/>
            <a:ext cx="2788920" cy="274320"/>
          </a:xfrm>
          <a:prstGeom prst="rect">
            <a:avLst/>
          </a:prstGeom>
          <a:noFill/>
        </p:spPr>
        <p:txBody>
          <a:bodyPr wrap="square" anchor="t">
            <a:spAutoFit/>
          </a:bodyPr>
          <a:lstStyle/>
          <a:p>
            <a:pPr algn="l">
              <a:spcAft>
                <a:spcPts val="0"/>
              </a:spcAft>
            </a:pPr>
            <a:r>
              <a:rPr sz="1650" b="1">
                <a:solidFill>
                  <a:srgbClr val="FFFFFF"/>
                </a:solidFill>
                <a:latin typeface="Microsoft YaHei"/>
              </a:rPr>
              <a:t>现场交付物</a:t>
            </a:r>
          </a:p>
        </p:txBody>
      </p:sp>
      <p:sp>
        <p:nvSpPr>
          <p:cNvPr id="13" name="TextBox 12"/>
          <p:cNvSpPr txBox="1"/>
          <p:nvPr/>
        </p:nvSpPr>
        <p:spPr>
          <a:xfrm>
            <a:off x="8229600" y="4590288"/>
            <a:ext cx="2788920" cy="1188720"/>
          </a:xfrm>
          <a:prstGeom prst="rect">
            <a:avLst/>
          </a:prstGeom>
          <a:noFill/>
        </p:spPr>
        <p:txBody>
          <a:bodyPr wrap="square" anchor="t">
            <a:spAutoFit/>
          </a:bodyPr>
          <a:lstStyle/>
          <a:p>
            <a:pPr algn="l">
              <a:spcAft>
                <a:spcPts val="0"/>
              </a:spcAft>
            </a:pPr>
            <a:r>
              <a:rPr sz="1350" b="0">
                <a:solidFill>
                  <a:srgbClr val="FFFFFF"/>
                </a:solidFill>
                <a:latin typeface="Microsoft YaHei"/>
              </a:rPr>
              <a:t>现场交付物：方案 PPT / 客户运营与内容生成工作台原型建议 / POC 验证范围与里程碑建议</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业务价值与验证假设</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3246120" cy="448056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93392"/>
            <a:ext cx="2834640" cy="274320"/>
          </a:xfrm>
          <a:prstGeom prst="rect">
            <a:avLst/>
          </a:prstGeom>
          <a:noFill/>
        </p:spPr>
        <p:txBody>
          <a:bodyPr wrap="square" anchor="t">
            <a:spAutoFit/>
          </a:bodyPr>
          <a:lstStyle/>
          <a:p>
            <a:pPr algn="l">
              <a:spcAft>
                <a:spcPts val="0"/>
              </a:spcAft>
            </a:pPr>
            <a:r>
              <a:rPr sz="1650" b="1">
                <a:solidFill>
                  <a:srgbClr val="C62828"/>
                </a:solidFill>
                <a:latin typeface="Microsoft YaHei"/>
              </a:rPr>
              <a:t>业务价值</a:t>
            </a:r>
          </a:p>
        </p:txBody>
      </p:sp>
      <p:sp>
        <p:nvSpPr>
          <p:cNvPr id="7" name="TextBox 6"/>
          <p:cNvSpPr txBox="1"/>
          <p:nvPr/>
        </p:nvSpPr>
        <p:spPr>
          <a:xfrm>
            <a:off x="1024128" y="2468880"/>
            <a:ext cx="2834640" cy="3246120"/>
          </a:xfrm>
          <a:prstGeom prst="rect">
            <a:avLst/>
          </a:prstGeom>
          <a:noFill/>
        </p:spPr>
        <p:txBody>
          <a:bodyPr wrap="square" anchor="t">
            <a:spAutoFit/>
          </a:bodyPr>
          <a:lstStyle/>
          <a:p>
            <a:pPr algn="l">
              <a:spcAft>
                <a:spcPts val="800"/>
              </a:spcAft>
            </a:pPr>
            <a:r>
              <a:rPr sz="1400" b="0">
                <a:solidFill>
                  <a:srgbClr val="555555"/>
                </a:solidFill>
                <a:latin typeface="Microsoft YaHei"/>
              </a:rPr>
              <a:t>把客户洞察、内容生成和客户运营动作整合到一个可讲解的 AI 工作流中</a:t>
            </a:r>
          </a:p>
          <a:p>
            <a:pPr algn="l">
              <a:spcAft>
                <a:spcPts val="800"/>
              </a:spcAft>
            </a:pPr>
            <a:r>
              <a:rPr sz="1400" b="0">
                <a:solidFill>
                  <a:srgbClr val="555555"/>
                </a:solidFill>
                <a:latin typeface="Microsoft YaHei"/>
              </a:rPr>
              <a:t>缩短从客群分析到内容准备和页面生成的周期</a:t>
            </a:r>
          </a:p>
          <a:p>
            <a:pPr algn="l">
              <a:spcAft>
                <a:spcPts val="800"/>
              </a:spcAft>
            </a:pPr>
            <a:r>
              <a:rPr sz="1400" b="0">
                <a:solidFill>
                  <a:srgbClr val="555555"/>
                </a:solidFill>
                <a:latin typeface="Microsoft YaHei"/>
              </a:rPr>
              <a:t>让活动分析结果更快回流到下一轮运营和客户保留动作</a:t>
            </a:r>
          </a:p>
        </p:txBody>
      </p:sp>
      <p:sp>
        <p:nvSpPr>
          <p:cNvPr id="8" name="Rounded Rectangle 7"/>
          <p:cNvSpPr/>
          <p:nvPr/>
        </p:nvSpPr>
        <p:spPr>
          <a:xfrm>
            <a:off x="4462272" y="1783080"/>
            <a:ext cx="3246120" cy="448056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993392"/>
            <a:ext cx="2834640" cy="274320"/>
          </a:xfrm>
          <a:prstGeom prst="rect">
            <a:avLst/>
          </a:prstGeom>
          <a:noFill/>
        </p:spPr>
        <p:txBody>
          <a:bodyPr wrap="square" anchor="t">
            <a:spAutoFit/>
          </a:bodyPr>
          <a:lstStyle/>
          <a:p>
            <a:pPr algn="l">
              <a:spcAft>
                <a:spcPts val="0"/>
              </a:spcAft>
            </a:pPr>
            <a:r>
              <a:rPr sz="1650" b="1">
                <a:solidFill>
                  <a:srgbClr val="C62828"/>
                </a:solidFill>
                <a:latin typeface="Microsoft YaHei"/>
              </a:rPr>
              <a:t>关键指标</a:t>
            </a:r>
          </a:p>
        </p:txBody>
      </p:sp>
      <p:sp>
        <p:nvSpPr>
          <p:cNvPr id="10" name="TextBox 9"/>
          <p:cNvSpPr txBox="1"/>
          <p:nvPr/>
        </p:nvSpPr>
        <p:spPr>
          <a:xfrm>
            <a:off x="4663440" y="2468880"/>
            <a:ext cx="2834640" cy="3246120"/>
          </a:xfrm>
          <a:prstGeom prst="rect">
            <a:avLst/>
          </a:prstGeom>
          <a:noFill/>
        </p:spPr>
        <p:txBody>
          <a:bodyPr wrap="square" anchor="t">
            <a:spAutoFit/>
          </a:bodyPr>
          <a:lstStyle/>
          <a:p>
            <a:pPr algn="l">
              <a:spcAft>
                <a:spcPts val="800"/>
              </a:spcAft>
            </a:pPr>
            <a:r>
              <a:rPr sz="1400" b="0">
                <a:solidFill>
                  <a:srgbClr val="555555"/>
                </a:solidFill>
                <a:latin typeface="Microsoft YaHei"/>
              </a:rPr>
              <a:t>营销内容准备周期缩短 40%</a:t>
            </a:r>
          </a:p>
          <a:p>
            <a:pPr algn="l">
              <a:spcAft>
                <a:spcPts val="800"/>
              </a:spcAft>
            </a:pPr>
            <a:r>
              <a:rPr sz="1400" b="0">
                <a:solidFill>
                  <a:srgbClr val="555555"/>
                </a:solidFill>
                <a:latin typeface="Microsoft YaHei"/>
              </a:rPr>
              <a:t>内容与页面协同效率提升 50%</a:t>
            </a:r>
          </a:p>
          <a:p>
            <a:pPr algn="l">
              <a:spcAft>
                <a:spcPts val="800"/>
              </a:spcAft>
            </a:pPr>
            <a:r>
              <a:rPr sz="1400" b="0">
                <a:solidFill>
                  <a:srgbClr val="555555"/>
                </a:solidFill>
                <a:latin typeface="Microsoft YaHei"/>
              </a:rPr>
              <a:t>活动复盘输出时间缩短 60%</a:t>
            </a:r>
          </a:p>
          <a:p>
            <a:pPr algn="l">
              <a:spcAft>
                <a:spcPts val="800"/>
              </a:spcAft>
            </a:pPr>
            <a:r>
              <a:rPr sz="1400" b="0">
                <a:solidFill>
                  <a:srgbClr val="555555"/>
                </a:solidFill>
                <a:latin typeface="Microsoft YaHei"/>
              </a:rPr>
              <a:t>高流失风险客户识别准确率达到 80%</a:t>
            </a:r>
          </a:p>
        </p:txBody>
      </p:sp>
      <p:sp>
        <p:nvSpPr>
          <p:cNvPr id="11" name="Rounded Rectangle 10"/>
          <p:cNvSpPr/>
          <p:nvPr/>
        </p:nvSpPr>
        <p:spPr>
          <a:xfrm>
            <a:off x="8101583" y="1783080"/>
            <a:ext cx="3246120" cy="448056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1993392"/>
            <a:ext cx="2834640" cy="274320"/>
          </a:xfrm>
          <a:prstGeom prst="rect">
            <a:avLst/>
          </a:prstGeom>
          <a:noFill/>
        </p:spPr>
        <p:txBody>
          <a:bodyPr wrap="square" anchor="t">
            <a:spAutoFit/>
          </a:bodyPr>
          <a:lstStyle/>
          <a:p>
            <a:pPr algn="l">
              <a:spcAft>
                <a:spcPts val="0"/>
              </a:spcAft>
            </a:pPr>
            <a:r>
              <a:rPr sz="1650" b="1">
                <a:solidFill>
                  <a:srgbClr val="C62828"/>
                </a:solidFill>
                <a:latin typeface="Microsoft YaHei"/>
              </a:rPr>
              <a:t>POC 验证点</a:t>
            </a:r>
          </a:p>
        </p:txBody>
      </p:sp>
      <p:sp>
        <p:nvSpPr>
          <p:cNvPr id="13" name="TextBox 12"/>
          <p:cNvSpPr txBox="1"/>
          <p:nvPr/>
        </p:nvSpPr>
        <p:spPr>
          <a:xfrm>
            <a:off x="8302752" y="2468880"/>
            <a:ext cx="2834640" cy="3246120"/>
          </a:xfrm>
          <a:prstGeom prst="rect">
            <a:avLst/>
          </a:prstGeom>
          <a:noFill/>
        </p:spPr>
        <p:txBody>
          <a:bodyPr wrap="square" anchor="t">
            <a:spAutoFit/>
          </a:bodyPr>
          <a:lstStyle/>
          <a:p>
            <a:pPr algn="l">
              <a:spcAft>
                <a:spcPts val="800"/>
              </a:spcAft>
            </a:pPr>
            <a:r>
              <a:rPr sz="1400" b="0">
                <a:solidFill>
                  <a:srgbClr val="555555"/>
                </a:solidFill>
                <a:latin typeface="Microsoft YaHei"/>
              </a:rPr>
              <a:t>1. 客户分层和运营洞察是否具备业务可解释性</a:t>
            </a:r>
          </a:p>
          <a:p>
            <a:pPr algn="l">
              <a:spcAft>
                <a:spcPts val="800"/>
              </a:spcAft>
            </a:pPr>
            <a:r>
              <a:rPr sz="1400" b="0">
                <a:solidFill>
                  <a:srgbClr val="555555"/>
                </a:solidFill>
                <a:latin typeface="Microsoft YaHei"/>
              </a:rPr>
              <a:t>2. 文本、图片和页面生成结果是否足以支撑业务讲解与评审</a:t>
            </a:r>
          </a:p>
          <a:p>
            <a:pPr algn="l">
              <a:spcAft>
                <a:spcPts val="800"/>
              </a:spcAft>
            </a:pPr>
            <a:r>
              <a:rPr sz="1400" b="0">
                <a:solidFill>
                  <a:srgbClr val="555555"/>
                </a:solidFill>
                <a:latin typeface="Microsoft YaHei"/>
              </a:rPr>
              <a:t>3. 活动分析与流失预警是否能对下一轮运营动作形成明确指导</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原型与 MVP 设计</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7909560" cy="169164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75104"/>
            <a:ext cx="7223760" cy="274320"/>
          </a:xfrm>
          <a:prstGeom prst="rect">
            <a:avLst/>
          </a:prstGeom>
          <a:noFill/>
        </p:spPr>
        <p:txBody>
          <a:bodyPr wrap="square" anchor="t">
            <a:spAutoFit/>
          </a:bodyPr>
          <a:lstStyle/>
          <a:p>
            <a:pPr algn="l">
              <a:spcAft>
                <a:spcPts val="0"/>
              </a:spcAft>
            </a:pPr>
            <a:r>
              <a:rPr sz="1650" b="1">
                <a:solidFill>
                  <a:srgbClr val="C62828"/>
                </a:solidFill>
                <a:latin typeface="Microsoft YaHei"/>
              </a:rPr>
              <a:t>原型摘要</a:t>
            </a:r>
          </a:p>
        </p:txBody>
      </p:sp>
      <p:sp>
        <p:nvSpPr>
          <p:cNvPr id="7" name="TextBox 6"/>
          <p:cNvSpPr txBox="1"/>
          <p:nvPr/>
        </p:nvSpPr>
        <p:spPr>
          <a:xfrm>
            <a:off x="1097280" y="2359152"/>
            <a:ext cx="7269480" cy="896112"/>
          </a:xfrm>
          <a:prstGeom prst="rect">
            <a:avLst/>
          </a:prstGeom>
          <a:noFill/>
        </p:spPr>
        <p:txBody>
          <a:bodyPr wrap="square" anchor="t">
            <a:spAutoFit/>
          </a:bodyPr>
          <a:lstStyle/>
          <a:p>
            <a:pPr algn="l">
              <a:spcAft>
                <a:spcPts val="600"/>
              </a:spcAft>
            </a:pPr>
            <a:r>
              <a:rPr sz="1220" b="0">
                <a:solidFill>
                  <a:srgbClr val="555555"/>
                </a:solidFill>
                <a:latin typeface="Microsoft YaHei"/>
              </a:rPr>
              <a:t>客户运营与内容生成工作台；目标用户：业务与数字化负责人</a:t>
            </a:r>
          </a:p>
          <a:p>
            <a:pPr algn="l">
              <a:spcAft>
                <a:spcPts val="600"/>
              </a:spcAft>
            </a:pPr>
            <a:r>
              <a:rPr sz="1220" b="0">
                <a:solidFill>
                  <a:srgbClr val="555555"/>
                </a:solidFill>
                <a:latin typeface="Microsoft YaHei"/>
              </a:rPr>
              <a:t>客户运营与内容生成工作台；目标：把客户洞察、营销内容生成、页面承载、活动复盘和流失预警集中到一个工作台中进行演示和协同</a:t>
            </a:r>
          </a:p>
          <a:p>
            <a:pPr algn="l">
              <a:spcAft>
                <a:spcPts val="600"/>
              </a:spcAft>
            </a:pPr>
            <a:r>
              <a:rPr sz="1220" b="0">
                <a:solidFill>
                  <a:srgbClr val="555555"/>
                </a:solidFill>
                <a:latin typeface="Microsoft YaHei"/>
              </a:rPr>
              <a:t>前端壳子优先；核心任务：查看客户洞察并联动营销与内容生成动作；技术栈：Next.js + Tailwind CSS</a:t>
            </a:r>
          </a:p>
        </p:txBody>
      </p:sp>
      <p:sp>
        <p:nvSpPr>
          <p:cNvPr id="8" name="Rounded Rectangle 7"/>
          <p:cNvSpPr/>
          <p:nvPr/>
        </p:nvSpPr>
        <p:spPr>
          <a:xfrm>
            <a:off x="822960" y="3767328"/>
            <a:ext cx="3822191" cy="233172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995928"/>
            <a:ext cx="3291840" cy="274320"/>
          </a:xfrm>
          <a:prstGeom prst="rect">
            <a:avLst/>
          </a:prstGeom>
          <a:noFill/>
        </p:spPr>
        <p:txBody>
          <a:bodyPr wrap="square" anchor="t">
            <a:spAutoFit/>
          </a:bodyPr>
          <a:lstStyle/>
          <a:p>
            <a:pPr algn="l">
              <a:spcAft>
                <a:spcPts val="0"/>
              </a:spcAft>
            </a:pPr>
            <a:r>
              <a:rPr sz="1650" b="1">
                <a:solidFill>
                  <a:srgbClr val="C62828"/>
                </a:solidFill>
                <a:latin typeface="Microsoft YaHei"/>
              </a:rPr>
              <a:t>MVP 页面范围</a:t>
            </a:r>
          </a:p>
        </p:txBody>
      </p:sp>
      <p:sp>
        <p:nvSpPr>
          <p:cNvPr id="10" name="TextBox 9"/>
          <p:cNvSpPr txBox="1"/>
          <p:nvPr/>
        </p:nvSpPr>
        <p:spPr>
          <a:xfrm>
            <a:off x="1051560" y="4389120"/>
            <a:ext cx="3291840" cy="1417320"/>
          </a:xfrm>
          <a:prstGeom prst="rect">
            <a:avLst/>
          </a:prstGeom>
          <a:noFill/>
        </p:spPr>
        <p:txBody>
          <a:bodyPr wrap="square" anchor="t">
            <a:spAutoFit/>
          </a:bodyPr>
          <a:lstStyle/>
          <a:p>
            <a:pPr algn="l">
              <a:spcAft>
                <a:spcPts val="600"/>
              </a:spcAft>
            </a:pPr>
            <a:r>
              <a:rPr sz="1290" b="0">
                <a:solidFill>
                  <a:srgbClr val="555555"/>
                </a:solidFill>
                <a:latin typeface="Microsoft YaHei"/>
              </a:rPr>
              <a:t>1. 客户洞察与客群分层总览</a:t>
            </a:r>
          </a:p>
          <a:p>
            <a:pPr algn="l">
              <a:spcAft>
                <a:spcPts val="600"/>
              </a:spcAft>
            </a:pPr>
            <a:r>
              <a:rPr sz="1290" b="0">
                <a:solidFill>
                  <a:srgbClr val="555555"/>
                </a:solidFill>
                <a:latin typeface="Microsoft YaHei"/>
              </a:rPr>
              <a:t>2. 营销文本与图片生成页</a:t>
            </a:r>
          </a:p>
          <a:p>
            <a:pPr algn="l">
              <a:spcAft>
                <a:spcPts val="600"/>
              </a:spcAft>
            </a:pPr>
            <a:r>
              <a:rPr sz="1290" b="0">
                <a:solidFill>
                  <a:srgbClr val="555555"/>
                </a:solidFill>
                <a:latin typeface="Microsoft YaHei"/>
              </a:rPr>
              <a:t>3. 动态页面编排页</a:t>
            </a:r>
          </a:p>
          <a:p>
            <a:pPr algn="l">
              <a:spcAft>
                <a:spcPts val="600"/>
              </a:spcAft>
            </a:pPr>
            <a:r>
              <a:rPr sz="1290" b="0">
                <a:solidFill>
                  <a:srgbClr val="555555"/>
                </a:solidFill>
                <a:latin typeface="Microsoft YaHei"/>
              </a:rPr>
              <a:t>4. 活动分析与流失预警页</a:t>
            </a:r>
          </a:p>
        </p:txBody>
      </p:sp>
      <p:sp>
        <p:nvSpPr>
          <p:cNvPr id="11" name="Rounded Rectangle 10"/>
          <p:cNvSpPr/>
          <p:nvPr/>
        </p:nvSpPr>
        <p:spPr>
          <a:xfrm>
            <a:off x="4910328" y="3767328"/>
            <a:ext cx="3822191" cy="233172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38928" y="3995928"/>
            <a:ext cx="3291840" cy="274320"/>
          </a:xfrm>
          <a:prstGeom prst="rect">
            <a:avLst/>
          </a:prstGeom>
          <a:noFill/>
        </p:spPr>
        <p:txBody>
          <a:bodyPr wrap="square" anchor="t">
            <a:spAutoFit/>
          </a:bodyPr>
          <a:lstStyle/>
          <a:p>
            <a:pPr algn="l">
              <a:spcAft>
                <a:spcPts val="0"/>
              </a:spcAft>
            </a:pPr>
            <a:r>
              <a:rPr sz="1650" b="1">
                <a:solidFill>
                  <a:srgbClr val="C62828"/>
                </a:solidFill>
                <a:latin typeface="Microsoft YaHei"/>
              </a:rPr>
              <a:t>快速开发路径</a:t>
            </a:r>
          </a:p>
        </p:txBody>
      </p:sp>
      <p:sp>
        <p:nvSpPr>
          <p:cNvPr id="13" name="TextBox 12"/>
          <p:cNvSpPr txBox="1"/>
          <p:nvPr/>
        </p:nvSpPr>
        <p:spPr>
          <a:xfrm>
            <a:off x="5138928" y="4389120"/>
            <a:ext cx="3291840" cy="1417320"/>
          </a:xfrm>
          <a:prstGeom prst="rect">
            <a:avLst/>
          </a:prstGeom>
          <a:noFill/>
        </p:spPr>
        <p:txBody>
          <a:bodyPr wrap="square" anchor="t">
            <a:spAutoFit/>
          </a:bodyPr>
          <a:lstStyle/>
          <a:p>
            <a:pPr algn="l">
              <a:spcAft>
                <a:spcPts val="600"/>
              </a:spcAft>
            </a:pPr>
            <a:r>
              <a:rPr sz="1290" b="0">
                <a:solidFill>
                  <a:srgbClr val="555555"/>
                </a:solidFill>
                <a:latin typeface="Microsoft YaHei"/>
              </a:rPr>
              <a:t>1. 确认一个重点客群和一类典型活动作为试点</a:t>
            </a:r>
          </a:p>
          <a:p>
            <a:pPr algn="l">
              <a:spcAft>
                <a:spcPts val="600"/>
              </a:spcAft>
            </a:pPr>
            <a:r>
              <a:rPr sz="1290" b="0">
                <a:solidFill>
                  <a:srgbClr val="555555"/>
                </a:solidFill>
                <a:latin typeface="Microsoft YaHei"/>
              </a:rPr>
              <a:t>2. 准备客户画像、活动结果和流失样本数据</a:t>
            </a:r>
          </a:p>
          <a:p>
            <a:pPr algn="l">
              <a:spcAft>
                <a:spcPts val="600"/>
              </a:spcAft>
            </a:pPr>
            <a:r>
              <a:rPr sz="1290" b="0">
                <a:solidFill>
                  <a:srgbClr val="555555"/>
                </a:solidFill>
                <a:latin typeface="Microsoft YaHei"/>
              </a:rPr>
              <a:t>3. 两周内完成工作台原型与主流程演示</a:t>
            </a:r>
          </a:p>
          <a:p>
            <a:pPr algn="l">
              <a:spcAft>
                <a:spcPts val="600"/>
              </a:spcAft>
            </a:pPr>
            <a:r>
              <a:rPr sz="1290" b="0">
                <a:solidFill>
                  <a:srgbClr val="555555"/>
                </a:solidFill>
                <a:latin typeface="Microsoft YaHei"/>
              </a:rPr>
              <a:t>4. 基于方案设计文档快速搭建静态页面和样例数据</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POC 与下一步</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10469880" cy="731520"/>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83664"/>
            <a:ext cx="1234440" cy="274320"/>
          </a:xfrm>
          <a:prstGeom prst="rect">
            <a:avLst/>
          </a:prstGeom>
          <a:noFill/>
        </p:spPr>
        <p:txBody>
          <a:bodyPr wrap="square" anchor="t">
            <a:spAutoFit/>
          </a:bodyPr>
          <a:lstStyle/>
          <a:p>
            <a:pPr algn="l">
              <a:spcAft>
                <a:spcPts val="0"/>
              </a:spcAft>
            </a:pPr>
            <a:r>
              <a:rPr sz="1650" b="1">
                <a:solidFill>
                  <a:srgbClr val="FFFFFF"/>
                </a:solidFill>
                <a:latin typeface="Microsoft YaHei"/>
              </a:rPr>
              <a:t>POC 范围</a:t>
            </a:r>
          </a:p>
        </p:txBody>
      </p:sp>
      <p:sp>
        <p:nvSpPr>
          <p:cNvPr id="7" name="TextBox 6"/>
          <p:cNvSpPr txBox="1"/>
          <p:nvPr/>
        </p:nvSpPr>
        <p:spPr>
          <a:xfrm>
            <a:off x="2103120" y="1874519"/>
            <a:ext cx="8138160" cy="384048"/>
          </a:xfrm>
          <a:prstGeom prst="rect">
            <a:avLst/>
          </a:prstGeom>
          <a:noFill/>
        </p:spPr>
        <p:txBody>
          <a:bodyPr wrap="square" anchor="ctr">
            <a:spAutoFit/>
          </a:bodyPr>
          <a:lstStyle/>
          <a:p>
            <a:pPr algn="l">
              <a:spcAft>
                <a:spcPts val="0"/>
              </a:spcAft>
            </a:pPr>
            <a:r>
              <a:rPr sz="1520" b="1">
                <a:solidFill>
                  <a:srgbClr val="FFFFFF"/>
                </a:solidFill>
                <a:latin typeface="Microsoft YaHei"/>
              </a:rPr>
              <a:t>优先验证客户洞察、营销内容生成、动态页面原型和客户流失预警四段闭环</a:t>
            </a:r>
          </a:p>
        </p:txBody>
      </p:sp>
      <p:sp>
        <p:nvSpPr>
          <p:cNvPr id="8" name="Rounded Rectangle 7"/>
          <p:cNvSpPr/>
          <p:nvPr/>
        </p:nvSpPr>
        <p:spPr>
          <a:xfrm>
            <a:off x="822960" y="2743200"/>
            <a:ext cx="3886200" cy="338328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71800"/>
            <a:ext cx="3337560" cy="274320"/>
          </a:xfrm>
          <a:prstGeom prst="rect">
            <a:avLst/>
          </a:prstGeom>
          <a:noFill/>
        </p:spPr>
        <p:txBody>
          <a:bodyPr wrap="square" anchor="t">
            <a:spAutoFit/>
          </a:bodyPr>
          <a:lstStyle/>
          <a:p>
            <a:pPr algn="l">
              <a:spcAft>
                <a:spcPts val="0"/>
              </a:spcAft>
            </a:pPr>
            <a:r>
              <a:rPr sz="1650" b="1">
                <a:solidFill>
                  <a:srgbClr val="C62828"/>
                </a:solidFill>
                <a:latin typeface="Microsoft YaHei"/>
              </a:rPr>
              <a:t>关键角色</a:t>
            </a:r>
          </a:p>
        </p:txBody>
      </p:sp>
      <p:sp>
        <p:nvSpPr>
          <p:cNvPr id="10" name="TextBox 9"/>
          <p:cNvSpPr txBox="1"/>
          <p:nvPr/>
        </p:nvSpPr>
        <p:spPr>
          <a:xfrm>
            <a:off x="1097280" y="3474720"/>
            <a:ext cx="3337560" cy="2148840"/>
          </a:xfrm>
          <a:prstGeom prst="rect">
            <a:avLst/>
          </a:prstGeom>
          <a:noFill/>
        </p:spPr>
        <p:txBody>
          <a:bodyPr wrap="square" anchor="t">
            <a:spAutoFit/>
          </a:bodyPr>
          <a:lstStyle/>
          <a:p>
            <a:pPr algn="l">
              <a:spcAft>
                <a:spcPts val="800"/>
              </a:spcAft>
            </a:pPr>
            <a:r>
              <a:rPr sz="1350" b="0">
                <a:solidFill>
                  <a:srgbClr val="555555"/>
                </a:solidFill>
                <a:latin typeface="Microsoft YaHei"/>
              </a:rPr>
              <a:t>业务与数字化负责人</a:t>
            </a:r>
          </a:p>
          <a:p>
            <a:pPr algn="l">
              <a:spcAft>
                <a:spcPts val="800"/>
              </a:spcAft>
            </a:pPr>
            <a:r>
              <a:rPr sz="1350" b="0">
                <a:solidFill>
                  <a:srgbClr val="555555"/>
                </a:solidFill>
                <a:latin typeface="Microsoft YaHei"/>
              </a:rPr>
              <a:t>营销负责人</a:t>
            </a:r>
          </a:p>
          <a:p>
            <a:pPr algn="l">
              <a:spcAft>
                <a:spcPts val="800"/>
              </a:spcAft>
            </a:pPr>
            <a:r>
              <a:rPr sz="1350" b="0">
                <a:solidFill>
                  <a:srgbClr val="555555"/>
                </a:solidFill>
                <a:latin typeface="Microsoft YaHei"/>
              </a:rPr>
              <a:t>客户运营负责人</a:t>
            </a:r>
          </a:p>
          <a:p>
            <a:pPr algn="l">
              <a:spcAft>
                <a:spcPts val="800"/>
              </a:spcAft>
            </a:pPr>
            <a:r>
              <a:rPr sz="1350" b="0">
                <a:solidFill>
                  <a:srgbClr val="555555"/>
                </a:solidFill>
                <a:latin typeface="Microsoft YaHei"/>
              </a:rPr>
              <a:t>数据 / 数字化团队</a:t>
            </a:r>
          </a:p>
        </p:txBody>
      </p:sp>
      <p:sp>
        <p:nvSpPr>
          <p:cNvPr id="11" name="Rounded Rectangle 10"/>
          <p:cNvSpPr/>
          <p:nvPr/>
        </p:nvSpPr>
        <p:spPr>
          <a:xfrm>
            <a:off x="4937760" y="2743200"/>
            <a:ext cx="3886200" cy="338328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971800"/>
            <a:ext cx="3337560" cy="274320"/>
          </a:xfrm>
          <a:prstGeom prst="rect">
            <a:avLst/>
          </a:prstGeom>
          <a:noFill/>
        </p:spPr>
        <p:txBody>
          <a:bodyPr wrap="square" anchor="t">
            <a:spAutoFit/>
          </a:bodyPr>
          <a:lstStyle/>
          <a:p>
            <a:pPr algn="l">
              <a:spcAft>
                <a:spcPts val="0"/>
              </a:spcAft>
            </a:pPr>
            <a:r>
              <a:rPr sz="1650" b="1">
                <a:solidFill>
                  <a:srgbClr val="C62828"/>
                </a:solidFill>
                <a:latin typeface="Microsoft YaHei"/>
              </a:rPr>
              <a:t>后续动作</a:t>
            </a:r>
          </a:p>
        </p:txBody>
      </p:sp>
      <p:sp>
        <p:nvSpPr>
          <p:cNvPr id="13" name="TextBox 12"/>
          <p:cNvSpPr txBox="1"/>
          <p:nvPr/>
        </p:nvSpPr>
        <p:spPr>
          <a:xfrm>
            <a:off x="5212080" y="3474720"/>
            <a:ext cx="3337560" cy="2148840"/>
          </a:xfrm>
          <a:prstGeom prst="rect">
            <a:avLst/>
          </a:prstGeom>
          <a:noFill/>
        </p:spPr>
        <p:txBody>
          <a:bodyPr wrap="square" anchor="t">
            <a:spAutoFit/>
          </a:bodyPr>
          <a:lstStyle/>
          <a:p>
            <a:pPr algn="l">
              <a:spcAft>
                <a:spcPts val="800"/>
              </a:spcAft>
            </a:pPr>
            <a:r>
              <a:rPr sz="1350" b="0">
                <a:solidFill>
                  <a:srgbClr val="555555"/>
                </a:solidFill>
                <a:latin typeface="Microsoft YaHei"/>
              </a:rPr>
              <a:t>1. 确认一个重点客群和一类典型活动作为试点</a:t>
            </a:r>
          </a:p>
          <a:p>
            <a:pPr algn="l">
              <a:spcAft>
                <a:spcPts val="800"/>
              </a:spcAft>
            </a:pPr>
            <a:r>
              <a:rPr sz="1350" b="0">
                <a:solidFill>
                  <a:srgbClr val="555555"/>
                </a:solidFill>
                <a:latin typeface="Microsoft YaHei"/>
              </a:rPr>
              <a:t>2. 准备客户画像、活动结果和流失样本数据</a:t>
            </a:r>
          </a:p>
          <a:p>
            <a:pPr algn="l">
              <a:spcAft>
                <a:spcPts val="800"/>
              </a:spcAft>
            </a:pPr>
            <a:r>
              <a:rPr sz="1350" b="0">
                <a:solidFill>
                  <a:srgbClr val="555555"/>
                </a:solidFill>
                <a:latin typeface="Microsoft YaHei"/>
              </a:rPr>
              <a:t>3. 两周内完成工作台原型与主流程演示</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